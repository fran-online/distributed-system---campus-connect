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7" r:id="rId2"/>
  </p:sldMasterIdLst>
  <p:notesMasterIdLst>
    <p:notesMasterId r:id="rId76"/>
  </p:notesMasterIdLst>
  <p:sldIdLst>
    <p:sldId id="256" r:id="rId3"/>
    <p:sldId id="257" r:id="rId4"/>
    <p:sldId id="296" r:id="rId5"/>
    <p:sldId id="258" r:id="rId6"/>
    <p:sldId id="263" r:id="rId7"/>
    <p:sldId id="343" r:id="rId8"/>
    <p:sldId id="344" r:id="rId9"/>
    <p:sldId id="261" r:id="rId10"/>
    <p:sldId id="264" r:id="rId11"/>
    <p:sldId id="320" r:id="rId12"/>
    <p:sldId id="297" r:id="rId13"/>
    <p:sldId id="298" r:id="rId14"/>
    <p:sldId id="321" r:id="rId15"/>
    <p:sldId id="265" r:id="rId16"/>
    <p:sldId id="300" r:id="rId17"/>
    <p:sldId id="301" r:id="rId18"/>
    <p:sldId id="262" r:id="rId19"/>
    <p:sldId id="302" r:id="rId20"/>
    <p:sldId id="268" r:id="rId21"/>
    <p:sldId id="315" r:id="rId22"/>
    <p:sldId id="316" r:id="rId23"/>
    <p:sldId id="317" r:id="rId24"/>
    <p:sldId id="303" r:id="rId25"/>
    <p:sldId id="345" r:id="rId26"/>
    <p:sldId id="346" r:id="rId27"/>
    <p:sldId id="347" r:id="rId28"/>
    <p:sldId id="348" r:id="rId29"/>
    <p:sldId id="349" r:id="rId30"/>
    <p:sldId id="350" r:id="rId31"/>
    <p:sldId id="355" r:id="rId32"/>
    <p:sldId id="351" r:id="rId33"/>
    <p:sldId id="353" r:id="rId34"/>
    <p:sldId id="354" r:id="rId35"/>
    <p:sldId id="352" r:id="rId36"/>
    <p:sldId id="356" r:id="rId37"/>
    <p:sldId id="357" r:id="rId38"/>
    <p:sldId id="358" r:id="rId39"/>
    <p:sldId id="269" r:id="rId40"/>
    <p:sldId id="333" r:id="rId41"/>
    <p:sldId id="267" r:id="rId42"/>
    <p:sldId id="304" r:id="rId43"/>
    <p:sldId id="305" r:id="rId44"/>
    <p:sldId id="318" r:id="rId45"/>
    <p:sldId id="295" r:id="rId46"/>
    <p:sldId id="326" r:id="rId47"/>
    <p:sldId id="308" r:id="rId48"/>
    <p:sldId id="322" r:id="rId49"/>
    <p:sldId id="323" r:id="rId50"/>
    <p:sldId id="324" r:id="rId51"/>
    <p:sldId id="325" r:id="rId52"/>
    <p:sldId id="327" r:id="rId53"/>
    <p:sldId id="328" r:id="rId54"/>
    <p:sldId id="329" r:id="rId55"/>
    <p:sldId id="330" r:id="rId56"/>
    <p:sldId id="331" r:id="rId57"/>
    <p:sldId id="332" r:id="rId58"/>
    <p:sldId id="336" r:id="rId59"/>
    <p:sldId id="338" r:id="rId60"/>
    <p:sldId id="337" r:id="rId61"/>
    <p:sldId id="340" r:id="rId62"/>
    <p:sldId id="341" r:id="rId63"/>
    <p:sldId id="342" r:id="rId64"/>
    <p:sldId id="309" r:id="rId65"/>
    <p:sldId id="311" r:id="rId66"/>
    <p:sldId id="312" r:id="rId67"/>
    <p:sldId id="314" r:id="rId68"/>
    <p:sldId id="359" r:id="rId69"/>
    <p:sldId id="360" r:id="rId70"/>
    <p:sldId id="361" r:id="rId71"/>
    <p:sldId id="362" r:id="rId72"/>
    <p:sldId id="363" r:id="rId73"/>
    <p:sldId id="313" r:id="rId74"/>
    <p:sldId id="294" r:id="rId75"/>
  </p:sldIdLst>
  <p:sldSz cx="12192000" cy="6858000"/>
  <p:notesSz cx="6858000" cy="9144000"/>
  <p:embeddedFontLst>
    <p:embeddedFont>
      <p:font typeface="Calibri" panose="020F0502020204030204" pitchFamily="34" charset="0"/>
      <p:regular r:id="rId77"/>
      <p:bold r:id="rId78"/>
      <p:italic r:id="rId79"/>
      <p:boldItalic r:id="rId80"/>
    </p:embeddedFont>
    <p:embeddedFont>
      <p:font typeface="Garamond" panose="02020404030301010803" pitchFamily="18" charset="0"/>
      <p:regular r:id="rId81"/>
      <p:bold r:id="rId82"/>
      <p:italic r:id="rId83"/>
      <p:boldItalic r:id="rId84"/>
    </p:embeddedFont>
    <p:embeddedFont>
      <p:font typeface="Lato Light" panose="020F0502020204030203" pitchFamily="34" charset="0"/>
      <p:regular r:id="rId85"/>
      <p:bold r:id="rId86"/>
      <p:italic r:id="rId87"/>
      <p:boldItalic r:id="rId88"/>
    </p:embeddedFont>
    <p:embeddedFont>
      <p:font typeface="League Spartan" panose="020B0604020202020204" charset="0"/>
      <p:regular r:id="rId89"/>
      <p:bold r:id="rId90"/>
    </p:embeddedFont>
    <p:embeddedFont>
      <p:font typeface="Poppins" panose="00000500000000000000" pitchFamily="2" charset="0"/>
      <p:regular r:id="rId91"/>
      <p:bold r:id="rId92"/>
      <p:italic r:id="rId93"/>
      <p:boldItalic r:id="rId9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5" roundtripDataSignature="AMtx7mhFFjL5XT1/EmcXDRgePWArF4CH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44B228-9AEF-4E9D-8CFB-2299D45FFF75}">
  <a:tblStyle styleId="{1C44B228-9AEF-4E9D-8CFB-2299D45FFF7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3" d="100"/>
          <a:sy n="113" d="100"/>
        </p:scale>
        <p:origin x="4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3.fntdata"/><Relationship Id="rId5" Type="http://schemas.openxmlformats.org/officeDocument/2006/relationships/slide" Target="slides/slide3.xml"/><Relationship Id="rId90" Type="http://schemas.openxmlformats.org/officeDocument/2006/relationships/font" Target="fonts/font14.fntdata"/><Relationship Id="rId95" Type="http://customschemas.google.com/relationships/presentationmetadata" Target="metadata"/><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font" Target="fonts/font18.fntdata"/><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6.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11.fntdata"/><Relationship Id="rId61" Type="http://schemas.openxmlformats.org/officeDocument/2006/relationships/slide" Target="slides/slide59.xml"/><Relationship Id="rId82" Type="http://schemas.openxmlformats.org/officeDocument/2006/relationships/font" Target="fonts/font6.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font" Target="fonts/font1.fntdata"/><Relationship Id="rId100"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font" Target="fonts/font17.fntdata"/><Relationship Id="rId9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ky Acidera" userId="30e22916d9872218" providerId="LiveId" clId="{6F781B4A-6B57-46C8-98E7-ECD737A441BC}"/>
    <pc:docChg chg="custSel modSld">
      <pc:chgData name="Lucky Acidera" userId="30e22916d9872218" providerId="LiveId" clId="{6F781B4A-6B57-46C8-98E7-ECD737A441BC}" dt="2026-04-22T22:33:07.320" v="48" actId="123"/>
      <pc:docMkLst>
        <pc:docMk/>
      </pc:docMkLst>
      <pc:sldChg chg="addSp modSp">
        <pc:chgData name="Lucky Acidera" userId="30e22916d9872218" providerId="LiveId" clId="{6F781B4A-6B57-46C8-98E7-ECD737A441BC}" dt="2026-04-22T21:01:51.902" v="0" actId="164"/>
        <pc:sldMkLst>
          <pc:docMk/>
          <pc:sldMk cId="0" sldId="265"/>
        </pc:sldMkLst>
        <pc:spChg chg="mod">
          <ac:chgData name="Lucky Acidera" userId="30e22916d9872218" providerId="LiveId" clId="{6F781B4A-6B57-46C8-98E7-ECD737A441BC}" dt="2026-04-22T21:01:51.902" v="0" actId="164"/>
          <ac:spMkLst>
            <pc:docMk/>
            <pc:sldMk cId="0" sldId="265"/>
            <ac:spMk id="44" creationId="{CCF0F31F-A181-43DA-834B-C78F21F7FE49}"/>
          </ac:spMkLst>
        </pc:spChg>
        <pc:grpChg chg="add mod">
          <ac:chgData name="Lucky Acidera" userId="30e22916d9872218" providerId="LiveId" clId="{6F781B4A-6B57-46C8-98E7-ECD737A441BC}" dt="2026-04-22T21:01:51.902" v="0" actId="164"/>
          <ac:grpSpMkLst>
            <pc:docMk/>
            <pc:sldMk cId="0" sldId="265"/>
            <ac:grpSpMk id="3" creationId="{30687094-55BA-4194-9578-68D74E39C390}"/>
          </ac:grpSpMkLst>
        </pc:grpChg>
        <pc:grpChg chg="mod">
          <ac:chgData name="Lucky Acidera" userId="30e22916d9872218" providerId="LiveId" clId="{6F781B4A-6B57-46C8-98E7-ECD737A441BC}" dt="2026-04-22T21:01:51.902" v="0" actId="164"/>
          <ac:grpSpMkLst>
            <pc:docMk/>
            <pc:sldMk cId="0" sldId="265"/>
            <ac:grpSpMk id="32" creationId="{63BE314A-AAB4-40CC-9BA1-113682D8BD1C}"/>
          </ac:grpSpMkLst>
        </pc:grpChg>
      </pc:sldChg>
      <pc:sldChg chg="addSp delSp modSp mod">
        <pc:chgData name="Lucky Acidera" userId="30e22916d9872218" providerId="LiveId" clId="{6F781B4A-6B57-46C8-98E7-ECD737A441BC}" dt="2026-04-22T22:33:07.320" v="48" actId="123"/>
        <pc:sldMkLst>
          <pc:docMk/>
          <pc:sldMk cId="2507450939" sldId="311"/>
        </pc:sldMkLst>
        <pc:spChg chg="add del">
          <ac:chgData name="Lucky Acidera" userId="30e22916d9872218" providerId="LiveId" clId="{6F781B4A-6B57-46C8-98E7-ECD737A441BC}" dt="2026-04-22T22:32:40.449" v="37"/>
          <ac:spMkLst>
            <pc:docMk/>
            <pc:sldMk cId="2507450939" sldId="311"/>
            <ac:spMk id="2" creationId="{E0C8F888-5F28-4157-9F54-31655AADA9B6}"/>
          </ac:spMkLst>
        </pc:spChg>
        <pc:spChg chg="add mod">
          <ac:chgData name="Lucky Acidera" userId="30e22916d9872218" providerId="LiveId" clId="{6F781B4A-6B57-46C8-98E7-ECD737A441BC}" dt="2026-04-22T22:33:07.320" v="48" actId="123"/>
          <ac:spMkLst>
            <pc:docMk/>
            <pc:sldMk cId="2507450939" sldId="311"/>
            <ac:spMk id="4" creationId="{0C96C43D-7B40-432D-8FC3-0AF4F6F7202B}"/>
          </ac:spMkLst>
        </pc:spChg>
      </pc:sldChg>
      <pc:sldChg chg="addSp delSp modSp mod">
        <pc:chgData name="Lucky Acidera" userId="30e22916d9872218" providerId="LiveId" clId="{6F781B4A-6B57-46C8-98E7-ECD737A441BC}" dt="2026-04-22T22:27:52.594" v="34" actId="1076"/>
        <pc:sldMkLst>
          <pc:docMk/>
          <pc:sldMk cId="2983671359" sldId="312"/>
        </pc:sldMkLst>
        <pc:spChg chg="add del">
          <ac:chgData name="Lucky Acidera" userId="30e22916d9872218" providerId="LiveId" clId="{6F781B4A-6B57-46C8-98E7-ECD737A441BC}" dt="2026-04-22T22:26:27.730" v="3"/>
          <ac:spMkLst>
            <pc:docMk/>
            <pc:sldMk cId="2983671359" sldId="312"/>
            <ac:spMk id="2" creationId="{CEC7A1BD-60D8-4CD1-9E16-9613E1EA962B}"/>
          </ac:spMkLst>
        </pc:spChg>
        <pc:spChg chg="add del mod">
          <ac:chgData name="Lucky Acidera" userId="30e22916d9872218" providerId="LiveId" clId="{6F781B4A-6B57-46C8-98E7-ECD737A441BC}" dt="2026-04-22T22:26:33.581" v="4" actId="478"/>
          <ac:spMkLst>
            <pc:docMk/>
            <pc:sldMk cId="2983671359" sldId="312"/>
            <ac:spMk id="4" creationId="{F9CCC73E-6A50-4D13-9E80-A8D30E257FC9}"/>
          </ac:spMkLst>
        </pc:spChg>
        <pc:spChg chg="add del mod">
          <ac:chgData name="Lucky Acidera" userId="30e22916d9872218" providerId="LiveId" clId="{6F781B4A-6B57-46C8-98E7-ECD737A441BC}" dt="2026-04-22T22:26:41" v="11"/>
          <ac:spMkLst>
            <pc:docMk/>
            <pc:sldMk cId="2983671359" sldId="312"/>
            <ac:spMk id="5" creationId="{99ACF8B1-FB55-47BB-A04C-079F6407CA63}"/>
          </ac:spMkLst>
        </pc:spChg>
        <pc:spChg chg="add del mod">
          <ac:chgData name="Lucky Acidera" userId="30e22916d9872218" providerId="LiveId" clId="{6F781B4A-6B57-46C8-98E7-ECD737A441BC}" dt="2026-04-22T22:26:39.433" v="9"/>
          <ac:spMkLst>
            <pc:docMk/>
            <pc:sldMk cId="2983671359" sldId="312"/>
            <ac:spMk id="6" creationId="{D4A9312A-4016-435D-8CBF-57CC01396028}"/>
          </ac:spMkLst>
        </pc:spChg>
        <pc:spChg chg="add mod">
          <ac:chgData name="Lucky Acidera" userId="30e22916d9872218" providerId="LiveId" clId="{6F781B4A-6B57-46C8-98E7-ECD737A441BC}" dt="2026-04-22T22:27:52.594" v="34" actId="1076"/>
          <ac:spMkLst>
            <pc:docMk/>
            <pc:sldMk cId="2983671359" sldId="312"/>
            <ac:spMk id="7" creationId="{49DE057A-BA36-40A7-8117-876E4E4F00C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3" name="Google Shape;33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latin typeface="Arial" panose="020B0604020202020204" pitchFamily="34" charset="0"/>
                <a:cs typeface="Arial" panose="020B0604020202020204" pitchFamily="34" charset="0"/>
              </a:rPr>
              <a:t>Every day, campuses struggle with a problem that should have been solved long ago—proper waste disposal. Even with labeled bins and clear guidelines, students still mix plastics, paper, food waste, and other materials in a single container. This leads to overflowing bins, unpleasant surroundings, and missed opportunities for recycling. But what if waste management didn’t have to depend entirely on manual sorting or consistent student behavior? What if technology could make the process smarter, safer, and more efficient? That’s where our solution comes in—BINOVA, an IoT-powered waste management system designed to transform how campuses handle waste.</a:t>
            </a: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531F0908-BA9F-0E13-5673-C65BF3E21A04}"/>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F77DAB4F-A95F-3F37-1847-0BBCAE4C24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latin typeface="Arial" panose="020B0604020202020204" pitchFamily="34" charset="0"/>
                <a:cs typeface="Arial" panose="020B0604020202020204" pitchFamily="34" charset="0"/>
              </a:rPr>
              <a:t>Every day, campuses struggle with a problem that should have been solved long ago—proper waste disposal. Even with labeled bins and clear guidelines, students still mix plastics, paper, food waste, and other materials in a single container. This leads to overflowing bins, unpleasant surroundings, and missed opportunities for recycling. But what if waste management didn’t have to depend entirely on manual sorting or consistent student behavior? What if technology could make the process smarter, safer, and more efficient? That’s where our solution comes in—BINOVA, an IoT-powered waste management system designed to transform how campuses handle waste.</a:t>
            </a: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1F4C17B9-DB62-A357-3867-B42E6F6129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8513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latin typeface="Arial" panose="020B0604020202020204" pitchFamily="34" charset="0"/>
                <a:cs typeface="Arial" panose="020B0604020202020204" pitchFamily="34" charset="0"/>
              </a:rPr>
              <a:t>Improper waste segregation and overflowing bins continue to be major issues in many institutions. Manual sorting at the end of the day is slow, tiring, and prone to errors. When waste gets mixed together, recycling facilities struggle to process it, reducing efficiency and increasing costs. Worse, workers handling mixed waste are exposed to harmful materials, putting their health at risk. These problems create a chain reaction—poor segregation leads to poor disposal, which leads to poor environmental outcomes.</a:t>
            </a:r>
            <a:endParaRPr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100"/>
              <a:buNone/>
            </a:pPr>
            <a:endParaRPr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100"/>
              <a:buNone/>
            </a:pPr>
            <a:r>
              <a:rPr lang="en-US" dirty="0">
                <a:latin typeface="Arial" panose="020B0604020202020204" pitchFamily="34" charset="0"/>
                <a:cs typeface="Arial" panose="020B0604020202020204" pitchFamily="34" charset="0"/>
              </a:rPr>
              <a:t>On campuses, the issue is even more visible. Despite having labeled bins, many students still do not dispose of waste properly. Whether due to habit, convenience, or lack of awareness, this leads to campus waste piling up with little order. As a result, the campus loses its cleanliness, and sustainability programs fail to make real progress. We saw this problem firsthand—and realized that something smarter and more systematic had to be done.</a:t>
            </a:r>
            <a:endParaRPr dirty="0">
              <a:latin typeface="Arial" panose="020B0604020202020204" pitchFamily="34" charset="0"/>
              <a:cs typeface="Arial" panose="020B0604020202020204" pitchFamily="34" charset="0"/>
            </a:endParaRPr>
          </a:p>
          <a:p>
            <a:pPr marL="0" lvl="0" indent="0" algn="l" rtl="0">
              <a:lnSpc>
                <a:spcPct val="115000"/>
              </a:lnSpc>
              <a:spcBef>
                <a:spcPts val="1200"/>
              </a:spcBef>
              <a:spcAft>
                <a:spcPts val="0"/>
              </a:spcAft>
              <a:buClr>
                <a:schemeClr val="dk1"/>
              </a:buClr>
              <a:buSzPts val="1100"/>
              <a:buFont typeface="Arial"/>
              <a:buNone/>
            </a:pPr>
            <a:r>
              <a:rPr lang="en-US" dirty="0">
                <a:solidFill>
                  <a:schemeClr val="dk1"/>
                </a:solidFill>
                <a:latin typeface="Arial" panose="020B0604020202020204" pitchFamily="34" charset="0"/>
                <a:cs typeface="Arial" panose="020B0604020202020204" pitchFamily="34" charset="0"/>
              </a:rPr>
              <a:t>BINOVA is our answer—an intelligent, IoT-powered waste management system designed to automate sorting and improve efficiency. With built-in sensors and automated mechanisms, BINOVA classifies waste into the correct categories, reducing the need for manual sorting and keeping users safe from potential hazards.</a:t>
            </a:r>
            <a:endParaRPr dirty="0">
              <a:solidFill>
                <a:schemeClr val="dk1"/>
              </a:solidFill>
              <a:latin typeface="Arial" panose="020B0604020202020204" pitchFamily="34" charset="0"/>
              <a:cs typeface="Arial" panose="020B0604020202020204" pitchFamily="34" charset="0"/>
            </a:endParaRPr>
          </a:p>
          <a:p>
            <a:pPr marL="0" lvl="0" indent="0" algn="l" rtl="0">
              <a:lnSpc>
                <a:spcPct val="115000"/>
              </a:lnSpc>
              <a:spcBef>
                <a:spcPts val="1200"/>
              </a:spcBef>
              <a:spcAft>
                <a:spcPts val="0"/>
              </a:spcAft>
              <a:buSzPts val="1100"/>
              <a:buNone/>
            </a:pPr>
            <a:r>
              <a:rPr lang="en-US" dirty="0">
                <a:solidFill>
                  <a:schemeClr val="dk1"/>
                </a:solidFill>
                <a:latin typeface="Arial" panose="020B0604020202020204" pitchFamily="34" charset="0"/>
                <a:cs typeface="Arial" panose="020B0604020202020204" pitchFamily="34" charset="0"/>
              </a:rPr>
              <a:t>The system constantly monitors bin status in real time, sending data that helps staff optimize collection schedules and prevent overflow before it happens. This doesn’t just make waste management easier—it makes it more sustainable. </a:t>
            </a:r>
            <a:endParaRPr dirty="0">
              <a:solidFill>
                <a:schemeClr val="dk1"/>
              </a:solidFill>
              <a:latin typeface="Arial" panose="020B0604020202020204" pitchFamily="34" charset="0"/>
              <a:cs typeface="Arial" panose="020B0604020202020204" pitchFamily="34" charset="0"/>
            </a:endParaRPr>
          </a:p>
          <a:p>
            <a:pPr marL="0" lvl="0" indent="0" algn="l" rtl="0">
              <a:lnSpc>
                <a:spcPct val="115000"/>
              </a:lnSpc>
              <a:spcBef>
                <a:spcPts val="1200"/>
              </a:spcBef>
              <a:spcAft>
                <a:spcPts val="0"/>
              </a:spcAft>
              <a:buClr>
                <a:schemeClr val="dk1"/>
              </a:buClr>
              <a:buSzPts val="1100"/>
              <a:buFont typeface="Arial"/>
              <a:buNone/>
            </a:pPr>
            <a:r>
              <a:rPr lang="en-US" dirty="0">
                <a:solidFill>
                  <a:schemeClr val="dk1"/>
                </a:solidFill>
                <a:latin typeface="Arial" panose="020B0604020202020204" pitchFamily="34" charset="0"/>
                <a:cs typeface="Arial" panose="020B0604020202020204" pitchFamily="34" charset="0"/>
              </a:rPr>
              <a:t>BINOVA supports the campus’s environmental goals by reducing human exposure, improving recycling rates, and raising awareness among students. Through smart technology, we aim to promote cleaner habits today and build a more sustainable campus for the future.</a:t>
            </a:r>
            <a:endParaRPr dirty="0">
              <a:solidFill>
                <a:schemeClr val="dk1"/>
              </a:solidFill>
              <a:latin typeface="Arial" panose="020B0604020202020204" pitchFamily="34" charset="0"/>
              <a:cs typeface="Arial" panose="020B0604020202020204" pitchFamily="34" charset="0"/>
            </a:endParaRPr>
          </a:p>
          <a:p>
            <a:pPr marL="0" lvl="0" indent="0" algn="l" rtl="0">
              <a:lnSpc>
                <a:spcPct val="100000"/>
              </a:lnSpc>
              <a:spcBef>
                <a:spcPts val="1200"/>
              </a:spcBef>
              <a:spcAft>
                <a:spcPts val="0"/>
              </a:spcAft>
              <a:buSzPts val="1100"/>
              <a:buNone/>
            </a:pPr>
            <a:endParaRPr dirty="0">
              <a:latin typeface="Arial" panose="020B0604020202020204" pitchFamily="34" charset="0"/>
              <a:cs typeface="Arial" panose="020B0604020202020204" pitchFamily="34" charset="0"/>
            </a:endParaRPr>
          </a:p>
        </p:txBody>
      </p:sp>
      <p:sp>
        <p:nvSpPr>
          <p:cNvPr id="343" name="Google Shape;3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a97d36dee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err="1">
                <a:latin typeface="Arial" panose="020B0604020202020204" pitchFamily="34" charset="0"/>
                <a:cs typeface="Arial" panose="020B0604020202020204" pitchFamily="34" charset="0"/>
              </a:rPr>
              <a:t>reina</a:t>
            </a: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74" name="Google Shape;374;g3a97d36de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a97d36dee9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err="1">
                <a:latin typeface="Arial" panose="020B0604020202020204" pitchFamily="34" charset="0"/>
                <a:cs typeface="Arial" panose="020B0604020202020204" pitchFamily="34" charset="0"/>
              </a:rPr>
              <a:t>karl</a:t>
            </a: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49" name="Google Shape;349;g3a97d36dee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2449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a97d36dee9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err="1">
                <a:latin typeface="Arial" panose="020B0604020202020204" pitchFamily="34" charset="0"/>
                <a:cs typeface="Arial" panose="020B0604020202020204" pitchFamily="34" charset="0"/>
              </a:rPr>
              <a:t>karl</a:t>
            </a: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49" name="Google Shape;349;g3a97d36dee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7811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a97d36dee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err="1">
                <a:latin typeface="Arial" panose="020B0604020202020204" pitchFamily="34" charset="0"/>
                <a:cs typeface="Arial" panose="020B0604020202020204" pitchFamily="34" charset="0"/>
              </a:rPr>
              <a:t>reina</a:t>
            </a: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61" name="Google Shape;361;g3a97d36dee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Focuses on BINOVA design and development. {Lowell}</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Integrates IoT sensors and automation. </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Sorts wet, dry, and metallic waste. { Reina}</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Implemented in CCIS. </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Includes hardware and software components. {Karl}</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Tests accuracy, efficiency, and reliability.</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 </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Provides real-time monitoring and alerts. {Fiona}</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Limited to campus waste management. </a:t>
            </a:r>
            <a:endParaRPr dirty="0">
              <a:latin typeface="Arial" panose="020B0604020202020204" pitchFamily="34" charset="0"/>
              <a:cs typeface="Arial" panose="020B0604020202020204" pitchFamily="34" charset="0"/>
            </a:endParaRPr>
          </a:p>
        </p:txBody>
      </p:sp>
      <p:sp>
        <p:nvSpPr>
          <p:cNvPr id="380" name="Google Shape;38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Focuses on BINOVA design and development. {Lowell}</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Integrates IoT sensors and automation. </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Sorts wet, dry, and metallic waste. { Reina}</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Implemented in CCIS. </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Includes hardware and software components. {Karl}</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Tests accuracy, efficiency, and reliability.</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 </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Provides real-time monitoring and alerts. {Fiona}</a:t>
            </a:r>
            <a:endParaRPr sz="3000" dirty="0">
              <a:solidFill>
                <a:schemeClr val="dk1"/>
              </a:solidFill>
              <a:highlight>
                <a:schemeClr val="lt1"/>
              </a:highlight>
              <a:latin typeface="Arial" panose="020B0604020202020204" pitchFamily="34" charset="0"/>
              <a:cs typeface="Arial" panose="020B0604020202020204" pitchFamily="34" charset="0"/>
            </a:endParaRPr>
          </a:p>
          <a:p>
            <a:pPr marL="457200" lvl="0" indent="-419100" algn="just" rtl="0">
              <a:spcBef>
                <a:spcPts val="0"/>
              </a:spcBef>
              <a:spcAft>
                <a:spcPts val="0"/>
              </a:spcAft>
              <a:buClr>
                <a:schemeClr val="dk1"/>
              </a:buClr>
              <a:buSzPts val="3000"/>
              <a:buChar char="●"/>
            </a:pPr>
            <a:r>
              <a:rPr lang="en-US" sz="3000" dirty="0">
                <a:solidFill>
                  <a:schemeClr val="dk1"/>
                </a:solidFill>
                <a:highlight>
                  <a:schemeClr val="lt1"/>
                </a:highlight>
                <a:latin typeface="Arial" panose="020B0604020202020204" pitchFamily="34" charset="0"/>
                <a:cs typeface="Arial" panose="020B0604020202020204" pitchFamily="34" charset="0"/>
              </a:rPr>
              <a:t>Limited to campus waste management. </a:t>
            </a:r>
            <a:endParaRPr dirty="0">
              <a:latin typeface="Arial" panose="020B0604020202020204" pitchFamily="34" charset="0"/>
              <a:cs typeface="Arial" panose="020B0604020202020204" pitchFamily="34" charset="0"/>
            </a:endParaRPr>
          </a:p>
        </p:txBody>
      </p:sp>
      <p:sp>
        <p:nvSpPr>
          <p:cNvPr id="380" name="Google Shape;38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7701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442BA052-EE36-0F97-5F6A-C506A3FA6391}"/>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F3FFBCEF-386F-F00B-6925-EE9179427D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latin typeface="Arial" panose="020B0604020202020204" pitchFamily="34" charset="0"/>
                <a:cs typeface="Arial" panose="020B0604020202020204" pitchFamily="34" charset="0"/>
              </a:rPr>
              <a:t>Every day, campuses struggle with a problem that should have been solved long ago—proper waste disposal. Even with labeled bins and clear guidelines, students still mix plastics, paper, food waste, and other materials in a single container. This leads to overflowing bins, unpleasant surroundings, and missed opportunities for recycling. But what if waste management didn’t have to depend entirely on manual sorting or consistent student behavior? What if technology could make the process smarter, safer, and more efficient? That’s where our solution comes in—BINOVA, an IoT-powered waste management system designed to transform how campuses handle waste.</a:t>
            </a: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4C99E90A-EAC3-742B-E709-AB69E8CB32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3115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a:extLst>
            <a:ext uri="{FF2B5EF4-FFF2-40B4-BE49-F238E27FC236}">
              <a16:creationId xmlns:a16="http://schemas.microsoft.com/office/drawing/2014/main" id="{8CD9D5A3-C0AB-2644-7A13-919F0708F0DD}"/>
            </a:ext>
          </a:extLst>
        </p:cNvPr>
        <p:cNvGrpSpPr/>
        <p:nvPr/>
      </p:nvGrpSpPr>
      <p:grpSpPr>
        <a:xfrm>
          <a:off x="0" y="0"/>
          <a:ext cx="0" cy="0"/>
          <a:chOff x="0" y="0"/>
          <a:chExt cx="0" cy="0"/>
        </a:xfrm>
      </p:grpSpPr>
      <p:sp>
        <p:nvSpPr>
          <p:cNvPr id="385" name="Google Shape;385;g3a981422744_3_4:notes">
            <a:extLst>
              <a:ext uri="{FF2B5EF4-FFF2-40B4-BE49-F238E27FC236}">
                <a16:creationId xmlns:a16="http://schemas.microsoft.com/office/drawing/2014/main" id="{8B34ED88-79D4-8F87-64CF-A71C22E852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a981422744_3_4:notes">
            <a:extLst>
              <a:ext uri="{FF2B5EF4-FFF2-40B4-BE49-F238E27FC236}">
                <a16:creationId xmlns:a16="http://schemas.microsoft.com/office/drawing/2014/main" id="{0FA1F4F7-122B-2BCC-4625-75BCB48A8D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44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a:extLst>
            <a:ext uri="{FF2B5EF4-FFF2-40B4-BE49-F238E27FC236}">
              <a16:creationId xmlns:a16="http://schemas.microsoft.com/office/drawing/2014/main" id="{8CD9D5A3-C0AB-2644-7A13-919F0708F0DD}"/>
            </a:ext>
          </a:extLst>
        </p:cNvPr>
        <p:cNvGrpSpPr/>
        <p:nvPr/>
      </p:nvGrpSpPr>
      <p:grpSpPr>
        <a:xfrm>
          <a:off x="0" y="0"/>
          <a:ext cx="0" cy="0"/>
          <a:chOff x="0" y="0"/>
          <a:chExt cx="0" cy="0"/>
        </a:xfrm>
      </p:grpSpPr>
      <p:sp>
        <p:nvSpPr>
          <p:cNvPr id="385" name="Google Shape;385;g3a981422744_3_4:notes">
            <a:extLst>
              <a:ext uri="{FF2B5EF4-FFF2-40B4-BE49-F238E27FC236}">
                <a16:creationId xmlns:a16="http://schemas.microsoft.com/office/drawing/2014/main" id="{8B34ED88-79D4-8F87-64CF-A71C22E852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a981422744_3_4:notes">
            <a:extLst>
              <a:ext uri="{FF2B5EF4-FFF2-40B4-BE49-F238E27FC236}">
                <a16:creationId xmlns:a16="http://schemas.microsoft.com/office/drawing/2014/main" id="{0FA1F4F7-122B-2BCC-4625-75BCB48A8D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5529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a981422744_3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a981422744_3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51E4240E-D650-99BC-AA0B-70677DDDC11B}"/>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86A849E6-7FE2-2DA5-2C40-37633DBA83F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53930633-7E99-FA6A-01F9-7B9BB69B41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31599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a:extLst>
            <a:ext uri="{FF2B5EF4-FFF2-40B4-BE49-F238E27FC236}">
              <a16:creationId xmlns:a16="http://schemas.microsoft.com/office/drawing/2014/main" id="{8CDDC5CF-082C-E69D-AAF2-D26622AA614A}"/>
            </a:ext>
          </a:extLst>
        </p:cNvPr>
        <p:cNvGrpSpPr/>
        <p:nvPr/>
      </p:nvGrpSpPr>
      <p:grpSpPr>
        <a:xfrm>
          <a:off x="0" y="0"/>
          <a:ext cx="0" cy="0"/>
          <a:chOff x="0" y="0"/>
          <a:chExt cx="0" cy="0"/>
        </a:xfrm>
      </p:grpSpPr>
      <p:sp>
        <p:nvSpPr>
          <p:cNvPr id="366" name="Google Shape;366;p5:notes">
            <a:extLst>
              <a:ext uri="{FF2B5EF4-FFF2-40B4-BE49-F238E27FC236}">
                <a16:creationId xmlns:a16="http://schemas.microsoft.com/office/drawing/2014/main" id="{5D50B68D-F25C-6AAA-6BE7-D8668DC151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457200" algn="just" rtl="0">
              <a:lnSpc>
                <a:spcPct val="200000"/>
              </a:lnSpc>
              <a:spcBef>
                <a:spcPts val="1200"/>
              </a:spcBef>
              <a:spcAft>
                <a:spcPts val="0"/>
              </a:spcAft>
              <a:buClr>
                <a:schemeClr val="dk1"/>
              </a:buClr>
              <a:buSzPts val="1100"/>
              <a:buFont typeface="Arial"/>
              <a:buNone/>
            </a:pPr>
            <a:endParaRPr sz="1200" dirty="0">
              <a:solidFill>
                <a:schemeClr val="dk1"/>
              </a:solidFill>
              <a:latin typeface="Times New Roman"/>
              <a:ea typeface="Times New Roman"/>
              <a:cs typeface="Times New Roman"/>
              <a:sym typeface="Times New Roman"/>
            </a:endParaRPr>
          </a:p>
        </p:txBody>
      </p:sp>
      <p:sp>
        <p:nvSpPr>
          <p:cNvPr id="367" name="Google Shape;367;p5:notes">
            <a:extLst>
              <a:ext uri="{FF2B5EF4-FFF2-40B4-BE49-F238E27FC236}">
                <a16:creationId xmlns:a16="http://schemas.microsoft.com/office/drawing/2014/main" id="{C39F165E-3AF3-FB05-7C71-BE6C608EB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0188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457200" algn="just" rtl="0">
              <a:lnSpc>
                <a:spcPct val="200000"/>
              </a:lnSpc>
              <a:spcBef>
                <a:spcPts val="1200"/>
              </a:spcBef>
              <a:spcAft>
                <a:spcPts val="0"/>
              </a:spcAft>
              <a:buClr>
                <a:schemeClr val="dk1"/>
              </a:buClr>
              <a:buSzPts val="1100"/>
              <a:buFont typeface="Arial"/>
              <a:buNone/>
            </a:pPr>
            <a:endParaRPr sz="1200" dirty="0">
              <a:solidFill>
                <a:schemeClr val="dk1"/>
              </a:solidFill>
              <a:latin typeface="Times New Roman"/>
              <a:ea typeface="Times New Roman"/>
              <a:cs typeface="Times New Roman"/>
              <a:sym typeface="Times New Roman"/>
            </a:endParaRPr>
          </a:p>
        </p:txBody>
      </p:sp>
      <p:sp>
        <p:nvSpPr>
          <p:cNvPr id="367" name="Google Shape;36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F236BAB0-70EE-0D4E-4AEE-5D3800C611DB}"/>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2C720B92-BF86-DEC3-FE8D-D672080FE3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2C9E8807-062E-AECB-01D7-9083FDBE42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0404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404" name="Google Shape;40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404" name="Google Shape;40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26792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404" name="Google Shape;40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13401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404" name="Google Shape;40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80790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80025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261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37911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9867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23598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88490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4080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35113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8503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97191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35496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62826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30203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48383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FA757922-8F05-4666-85C0-FC610DAED653}"/>
            </a:ext>
          </a:extLst>
        </p:cNvPr>
        <p:cNvGrpSpPr/>
        <p:nvPr/>
      </p:nvGrpSpPr>
      <p:grpSpPr>
        <a:xfrm>
          <a:off x="0" y="0"/>
          <a:ext cx="0" cy="0"/>
          <a:chOff x="0" y="0"/>
          <a:chExt cx="0" cy="0"/>
        </a:xfrm>
      </p:grpSpPr>
      <p:sp>
        <p:nvSpPr>
          <p:cNvPr id="427" name="Google Shape;427;g3a981422744_2_179:notes">
            <a:extLst>
              <a:ext uri="{FF2B5EF4-FFF2-40B4-BE49-F238E27FC236}">
                <a16:creationId xmlns:a16="http://schemas.microsoft.com/office/drawing/2014/main" id="{AE995340-52CE-6D10-B60C-DD6E4CAF7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428" name="Google Shape;428;g3a981422744_2_179:notes">
            <a:extLst>
              <a:ext uri="{FF2B5EF4-FFF2-40B4-BE49-F238E27FC236}">
                <a16:creationId xmlns:a16="http://schemas.microsoft.com/office/drawing/2014/main" id="{02FE67C1-623A-C606-DB21-A4DCB4D68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12737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a981422744_2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g3a981422744_2_1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9a138d6f87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9a138d6f87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13205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9a138d6f87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9a138d6f87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a:extLst>
            <a:ext uri="{FF2B5EF4-FFF2-40B4-BE49-F238E27FC236}">
              <a16:creationId xmlns:a16="http://schemas.microsoft.com/office/drawing/2014/main" id="{A7C5D901-8276-829C-9500-7A08B896C02D}"/>
            </a:ext>
          </a:extLst>
        </p:cNvPr>
        <p:cNvGrpSpPr/>
        <p:nvPr/>
      </p:nvGrpSpPr>
      <p:grpSpPr>
        <a:xfrm>
          <a:off x="0" y="0"/>
          <a:ext cx="0" cy="0"/>
          <a:chOff x="0" y="0"/>
          <a:chExt cx="0" cy="0"/>
        </a:xfrm>
      </p:grpSpPr>
      <p:sp>
        <p:nvSpPr>
          <p:cNvPr id="409" name="Google Shape;409;g3a981422744_2_163:notes">
            <a:extLst>
              <a:ext uri="{FF2B5EF4-FFF2-40B4-BE49-F238E27FC236}">
                <a16:creationId xmlns:a16="http://schemas.microsoft.com/office/drawing/2014/main" id="{E6CD4973-F21C-5590-AA02-41E1FC7198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g3a981422744_2_163:notes">
            <a:extLst>
              <a:ext uri="{FF2B5EF4-FFF2-40B4-BE49-F238E27FC236}">
                <a16:creationId xmlns:a16="http://schemas.microsoft.com/office/drawing/2014/main" id="{AD912A98-ABFB-EA67-B419-FD775A08D7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19049329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a:extLst>
            <a:ext uri="{FF2B5EF4-FFF2-40B4-BE49-F238E27FC236}">
              <a16:creationId xmlns:a16="http://schemas.microsoft.com/office/drawing/2014/main" id="{E97E0D80-7C31-4466-AFD1-3728839D0C7E}"/>
            </a:ext>
          </a:extLst>
        </p:cNvPr>
        <p:cNvGrpSpPr/>
        <p:nvPr/>
      </p:nvGrpSpPr>
      <p:grpSpPr>
        <a:xfrm>
          <a:off x="0" y="0"/>
          <a:ext cx="0" cy="0"/>
          <a:chOff x="0" y="0"/>
          <a:chExt cx="0" cy="0"/>
        </a:xfrm>
      </p:grpSpPr>
      <p:sp>
        <p:nvSpPr>
          <p:cNvPr id="409" name="Google Shape;409;g3a981422744_2_163:notes">
            <a:extLst>
              <a:ext uri="{FF2B5EF4-FFF2-40B4-BE49-F238E27FC236}">
                <a16:creationId xmlns:a16="http://schemas.microsoft.com/office/drawing/2014/main" id="{D153D60E-56FC-5D5F-4F61-32213C6AFE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g3a981422744_2_163:notes">
            <a:extLst>
              <a:ext uri="{FF2B5EF4-FFF2-40B4-BE49-F238E27FC236}">
                <a16:creationId xmlns:a16="http://schemas.microsoft.com/office/drawing/2014/main" id="{844B9695-B59F-5AAF-E165-D0774C2DC8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25921019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a:extLst>
            <a:ext uri="{FF2B5EF4-FFF2-40B4-BE49-F238E27FC236}">
              <a16:creationId xmlns:a16="http://schemas.microsoft.com/office/drawing/2014/main" id="{E97E0D80-7C31-4466-AFD1-3728839D0C7E}"/>
            </a:ext>
          </a:extLst>
        </p:cNvPr>
        <p:cNvGrpSpPr/>
        <p:nvPr/>
      </p:nvGrpSpPr>
      <p:grpSpPr>
        <a:xfrm>
          <a:off x="0" y="0"/>
          <a:ext cx="0" cy="0"/>
          <a:chOff x="0" y="0"/>
          <a:chExt cx="0" cy="0"/>
        </a:xfrm>
      </p:grpSpPr>
      <p:sp>
        <p:nvSpPr>
          <p:cNvPr id="409" name="Google Shape;409;g3a981422744_2_163:notes">
            <a:extLst>
              <a:ext uri="{FF2B5EF4-FFF2-40B4-BE49-F238E27FC236}">
                <a16:creationId xmlns:a16="http://schemas.microsoft.com/office/drawing/2014/main" id="{D153D60E-56FC-5D5F-4F61-32213C6AFE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g3a981422744_2_163:notes">
            <a:extLst>
              <a:ext uri="{FF2B5EF4-FFF2-40B4-BE49-F238E27FC236}">
                <a16:creationId xmlns:a16="http://schemas.microsoft.com/office/drawing/2014/main" id="{844B9695-B59F-5AAF-E165-D0774C2DC8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31158924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a981422744_2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g3a981422744_2_1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0FC17992-FE37-FF0A-4399-34F240B1FBFF}"/>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041A8F16-FD4A-A056-1D7F-C7F405BE29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C61BDBA3-3895-1EA6-13E4-2E68CBD524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7174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2C1C35EC-EE77-8700-FE5A-91AACF32CFCA}"/>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43EAB204-A6F4-F88C-5AD8-7545F80239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9F254086-D698-94A9-4286-479282658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96864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2C1C35EC-EE77-8700-FE5A-91AACF32CFCA}"/>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43EAB204-A6F4-F88C-5AD8-7545F80239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9F254086-D698-94A9-4286-479282658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39412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2C1C35EC-EE77-8700-FE5A-91AACF32CFCA}"/>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43EAB204-A6F4-F88C-5AD8-7545F80239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9F254086-D698-94A9-4286-479282658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19082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2C1C35EC-EE77-8700-FE5A-91AACF32CFCA}"/>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43EAB204-A6F4-F88C-5AD8-7545F80239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9F254086-D698-94A9-4286-479282658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75040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2C1C35EC-EE77-8700-FE5A-91AACF32CFCA}"/>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43EAB204-A6F4-F88C-5AD8-7545F80239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9F254086-D698-94A9-4286-479282658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54447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2C1C35EC-EE77-8700-FE5A-91AACF32CFCA}"/>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43EAB204-A6F4-F88C-5AD8-7545F80239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9F254086-D698-94A9-4286-479282658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31052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1326C579-0FD8-0814-CA79-83DD69FBF595}"/>
            </a:ext>
          </a:extLst>
        </p:cNvPr>
        <p:cNvGrpSpPr/>
        <p:nvPr/>
      </p:nvGrpSpPr>
      <p:grpSpPr>
        <a:xfrm>
          <a:off x="0" y="0"/>
          <a:ext cx="0" cy="0"/>
          <a:chOff x="0" y="0"/>
          <a:chExt cx="0" cy="0"/>
        </a:xfrm>
      </p:grpSpPr>
      <p:sp>
        <p:nvSpPr>
          <p:cNvPr id="336" name="Google Shape;336;p2:notes">
            <a:extLst>
              <a:ext uri="{FF2B5EF4-FFF2-40B4-BE49-F238E27FC236}">
                <a16:creationId xmlns:a16="http://schemas.microsoft.com/office/drawing/2014/main" id="{6F0A187A-A0A1-F482-602B-9E3BB47E77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337" name="Google Shape;337;p2:notes">
            <a:extLst>
              <a:ext uri="{FF2B5EF4-FFF2-40B4-BE49-F238E27FC236}">
                <a16:creationId xmlns:a16="http://schemas.microsoft.com/office/drawing/2014/main" id="{DBAF858C-8E9D-6723-F086-C33727FD8B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925459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dirty="0">
              <a:solidFill>
                <a:srgbClr val="000000"/>
              </a:solidFill>
              <a:latin typeface="Arial" panose="020B0604020202020204" pitchFamily="34" charset="0"/>
              <a:cs typeface="Arial" panose="020B0604020202020204" pitchFamily="34" charset="0"/>
              <a:sym typeface="Arial"/>
            </a:endParaRPr>
          </a:p>
        </p:txBody>
      </p:sp>
      <p:sp>
        <p:nvSpPr>
          <p:cNvPr id="576" name="Google Shape;57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5.png"/><Relationship Id="rId7" Type="http://schemas.openxmlformats.org/officeDocument/2006/relationships/image" Target="../media/image8.png"/><Relationship Id="rId12"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7.jpg"/><Relationship Id="rId5" Type="http://schemas.openxmlformats.org/officeDocument/2006/relationships/image" Target="../media/image17.png"/><Relationship Id="rId10" Type="http://schemas.openxmlformats.org/officeDocument/2006/relationships/image" Target="../media/image6.jpg"/><Relationship Id="rId4" Type="http://schemas.openxmlformats.org/officeDocument/2006/relationships/image" Target="../media/image16.png"/><Relationship Id="rId9"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7.png"/><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Master" Target="../slideMasters/slideMaster1.xml"/><Relationship Id="rId5" Type="http://schemas.openxmlformats.org/officeDocument/2006/relationships/image" Target="../media/image22.png"/><Relationship Id="rId4" Type="http://schemas.openxmlformats.org/officeDocument/2006/relationships/image" Target="../media/image21.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jp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5.png"/><Relationship Id="rId7" Type="http://schemas.openxmlformats.org/officeDocument/2006/relationships/image" Target="../media/image8.png"/><Relationship Id="rId12"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10.png"/><Relationship Id="rId11" Type="http://schemas.openxmlformats.org/officeDocument/2006/relationships/image" Target="../media/image7.jpg"/><Relationship Id="rId5" Type="http://schemas.openxmlformats.org/officeDocument/2006/relationships/image" Target="../media/image17.png"/><Relationship Id="rId10" Type="http://schemas.openxmlformats.org/officeDocument/2006/relationships/image" Target="../media/image6.jpg"/><Relationship Id="rId4" Type="http://schemas.openxmlformats.org/officeDocument/2006/relationships/image" Target="../media/image16.png"/><Relationship Id="rId9"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17.png"/><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Master" Target="../slideMasters/slideMaster2.xml"/><Relationship Id="rId5" Type="http://schemas.openxmlformats.org/officeDocument/2006/relationships/image" Target="../media/image22.png"/><Relationship Id="rId4" Type="http://schemas.openxmlformats.org/officeDocument/2006/relationships/image" Target="../media/image21.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7.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nsitutional Identity">
  <p:cSld name="Insitutional Identity">
    <p:spTree>
      <p:nvGrpSpPr>
        <p:cNvPr id="1" name="Shape 11"/>
        <p:cNvGrpSpPr/>
        <p:nvPr/>
      </p:nvGrpSpPr>
      <p:grpSpPr>
        <a:xfrm>
          <a:off x="0" y="0"/>
          <a:ext cx="0" cy="0"/>
          <a:chOff x="0" y="0"/>
          <a:chExt cx="0" cy="0"/>
        </a:xfrm>
      </p:grpSpPr>
      <p:pic>
        <p:nvPicPr>
          <p:cNvPr id="12" name="Google Shape;12;p11"/>
          <p:cNvPicPr preferRelativeResize="0"/>
          <p:nvPr/>
        </p:nvPicPr>
        <p:blipFill rotWithShape="1">
          <a:blip r:embed="rId2">
            <a:alphaModFix/>
          </a:blip>
          <a:srcRect/>
          <a:stretch/>
        </p:blipFill>
        <p:spPr>
          <a:xfrm>
            <a:off x="-1" y="0"/>
            <a:ext cx="12200307" cy="6858000"/>
          </a:xfrm>
          <a:prstGeom prst="rect">
            <a:avLst/>
          </a:prstGeom>
          <a:noFill/>
          <a:ln>
            <a:noFill/>
          </a:ln>
        </p:spPr>
      </p:pic>
      <p:sp>
        <p:nvSpPr>
          <p:cNvPr id="13" name="Google Shape;13;p11"/>
          <p:cNvSpPr/>
          <p:nvPr/>
        </p:nvSpPr>
        <p:spPr>
          <a:xfrm>
            <a:off x="0" y="0"/>
            <a:ext cx="12192000" cy="6858000"/>
          </a:xfrm>
          <a:prstGeom prst="rect">
            <a:avLst/>
          </a:prstGeom>
          <a:solidFill>
            <a:srgbClr val="084801">
              <a:alpha val="5725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11"/>
          <p:cNvSpPr/>
          <p:nvPr/>
        </p:nvSpPr>
        <p:spPr>
          <a:xfrm>
            <a:off x="178020" y="1049193"/>
            <a:ext cx="11887200" cy="49456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 name="Google Shape;15;p11"/>
          <p:cNvPicPr preferRelativeResize="0"/>
          <p:nvPr/>
        </p:nvPicPr>
        <p:blipFill rotWithShape="1">
          <a:blip r:embed="rId3">
            <a:alphaModFix/>
          </a:blip>
          <a:srcRect/>
          <a:stretch/>
        </p:blipFill>
        <p:spPr>
          <a:xfrm>
            <a:off x="612808" y="1461492"/>
            <a:ext cx="7480284" cy="1728000"/>
          </a:xfrm>
          <a:prstGeom prst="rect">
            <a:avLst/>
          </a:prstGeom>
          <a:noFill/>
          <a:ln>
            <a:noFill/>
          </a:ln>
        </p:spPr>
      </p:pic>
      <p:sp>
        <p:nvSpPr>
          <p:cNvPr id="16" name="Google Shape;16;p11"/>
          <p:cNvSpPr/>
          <p:nvPr/>
        </p:nvSpPr>
        <p:spPr>
          <a:xfrm>
            <a:off x="170613" y="1033272"/>
            <a:ext cx="11887200" cy="146304"/>
          </a:xfrm>
          <a:prstGeom prst="rect">
            <a:avLst/>
          </a:prstGeom>
          <a:solidFill>
            <a:srgbClr val="ECBD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 name="Google Shape;17;p11"/>
          <p:cNvSpPr/>
          <p:nvPr/>
        </p:nvSpPr>
        <p:spPr>
          <a:xfrm>
            <a:off x="176284" y="5984788"/>
            <a:ext cx="11887200" cy="195324"/>
          </a:xfrm>
          <a:prstGeom prst="rect">
            <a:avLst/>
          </a:prstGeom>
          <a:solidFill>
            <a:srgbClr val="08480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8" name="Google Shape;18;p11"/>
          <p:cNvPicPr preferRelativeResize="0"/>
          <p:nvPr/>
        </p:nvPicPr>
        <p:blipFill rotWithShape="1">
          <a:blip r:embed="rId4">
            <a:alphaModFix/>
          </a:blip>
          <a:srcRect l="22167" r="58194"/>
          <a:stretch/>
        </p:blipFill>
        <p:spPr>
          <a:xfrm>
            <a:off x="3608912" y="4207422"/>
            <a:ext cx="1481314" cy="1012055"/>
          </a:xfrm>
          <a:prstGeom prst="rect">
            <a:avLst/>
          </a:prstGeom>
          <a:noFill/>
          <a:ln>
            <a:noFill/>
          </a:ln>
        </p:spPr>
      </p:pic>
      <p:pic>
        <p:nvPicPr>
          <p:cNvPr id="19" name="Google Shape;19;p11"/>
          <p:cNvPicPr preferRelativeResize="0"/>
          <p:nvPr/>
        </p:nvPicPr>
        <p:blipFill rotWithShape="1">
          <a:blip r:embed="rId5">
            <a:alphaModFix/>
          </a:blip>
          <a:srcRect l="16496" r="20981"/>
          <a:stretch/>
        </p:blipFill>
        <p:spPr>
          <a:xfrm>
            <a:off x="1792420" y="4976675"/>
            <a:ext cx="8230000" cy="1146796"/>
          </a:xfrm>
          <a:prstGeom prst="rect">
            <a:avLst/>
          </a:prstGeom>
          <a:noFill/>
          <a:ln>
            <a:noFill/>
          </a:ln>
        </p:spPr>
      </p:pic>
      <p:pic>
        <p:nvPicPr>
          <p:cNvPr id="20" name="Google Shape;20;p11"/>
          <p:cNvPicPr preferRelativeResize="0"/>
          <p:nvPr/>
        </p:nvPicPr>
        <p:blipFill rotWithShape="1">
          <a:blip r:embed="rId6">
            <a:alphaModFix/>
          </a:blip>
          <a:srcRect/>
          <a:stretch/>
        </p:blipFill>
        <p:spPr>
          <a:xfrm>
            <a:off x="9808471" y="1540362"/>
            <a:ext cx="1653957" cy="1548000"/>
          </a:xfrm>
          <a:prstGeom prst="rect">
            <a:avLst/>
          </a:prstGeom>
          <a:noFill/>
          <a:ln>
            <a:noFill/>
          </a:ln>
        </p:spPr>
      </p:pic>
      <p:grpSp>
        <p:nvGrpSpPr>
          <p:cNvPr id="21" name="Google Shape;21;p11"/>
          <p:cNvGrpSpPr/>
          <p:nvPr/>
        </p:nvGrpSpPr>
        <p:grpSpPr>
          <a:xfrm>
            <a:off x="5284408" y="4140717"/>
            <a:ext cx="2862850" cy="1146796"/>
            <a:chOff x="6544299" y="3910580"/>
            <a:chExt cx="2862850" cy="1146796"/>
          </a:xfrm>
        </p:grpSpPr>
        <p:pic>
          <p:nvPicPr>
            <p:cNvPr id="22" name="Google Shape;22;p11"/>
            <p:cNvPicPr preferRelativeResize="0"/>
            <p:nvPr/>
          </p:nvPicPr>
          <p:blipFill rotWithShape="1">
            <a:blip r:embed="rId5">
              <a:alphaModFix/>
            </a:blip>
            <a:srcRect l="78412"/>
            <a:stretch/>
          </p:blipFill>
          <p:spPr>
            <a:xfrm>
              <a:off x="6544299" y="3910580"/>
              <a:ext cx="2841376" cy="1146796"/>
            </a:xfrm>
            <a:prstGeom prst="rect">
              <a:avLst/>
            </a:prstGeom>
            <a:noFill/>
            <a:ln>
              <a:noFill/>
            </a:ln>
          </p:spPr>
        </p:pic>
        <p:grpSp>
          <p:nvGrpSpPr>
            <p:cNvPr id="23" name="Google Shape;23;p11"/>
            <p:cNvGrpSpPr/>
            <p:nvPr/>
          </p:nvGrpSpPr>
          <p:grpSpPr>
            <a:xfrm>
              <a:off x="7681907" y="4302004"/>
              <a:ext cx="1725242" cy="577751"/>
              <a:chOff x="7681907" y="4302004"/>
              <a:chExt cx="1725242" cy="577751"/>
            </a:xfrm>
          </p:grpSpPr>
          <p:pic>
            <p:nvPicPr>
              <p:cNvPr id="24" name="Google Shape;24;p11"/>
              <p:cNvPicPr preferRelativeResize="0"/>
              <p:nvPr/>
            </p:nvPicPr>
            <p:blipFill rotWithShape="1">
              <a:blip r:embed="rId7">
                <a:alphaModFix/>
              </a:blip>
              <a:srcRect/>
              <a:stretch/>
            </p:blipFill>
            <p:spPr>
              <a:xfrm>
                <a:off x="7683644" y="4475202"/>
                <a:ext cx="1723505" cy="404553"/>
              </a:xfrm>
              <a:prstGeom prst="rect">
                <a:avLst/>
              </a:prstGeom>
              <a:noFill/>
              <a:ln>
                <a:noFill/>
              </a:ln>
            </p:spPr>
          </p:pic>
          <p:pic>
            <p:nvPicPr>
              <p:cNvPr id="25" name="Google Shape;25;p11"/>
              <p:cNvPicPr preferRelativeResize="0"/>
              <p:nvPr/>
            </p:nvPicPr>
            <p:blipFill rotWithShape="1">
              <a:blip r:embed="rId8">
                <a:alphaModFix/>
              </a:blip>
              <a:srcRect b="31992"/>
              <a:stretch/>
            </p:blipFill>
            <p:spPr>
              <a:xfrm>
                <a:off x="7681907" y="4302004"/>
                <a:ext cx="795251" cy="256273"/>
              </a:xfrm>
              <a:prstGeom prst="rect">
                <a:avLst/>
              </a:prstGeom>
              <a:noFill/>
              <a:ln>
                <a:noFill/>
              </a:ln>
            </p:spPr>
          </p:pic>
        </p:grpSp>
      </p:grpSp>
      <p:grpSp>
        <p:nvGrpSpPr>
          <p:cNvPr id="26" name="Google Shape;26;p11"/>
          <p:cNvGrpSpPr/>
          <p:nvPr/>
        </p:nvGrpSpPr>
        <p:grpSpPr>
          <a:xfrm>
            <a:off x="8252274" y="4422811"/>
            <a:ext cx="2264961" cy="696636"/>
            <a:chOff x="0" y="0"/>
            <a:chExt cx="1342390" cy="497840"/>
          </a:xfrm>
        </p:grpSpPr>
        <p:pic>
          <p:nvPicPr>
            <p:cNvPr id="27" name="Google Shape;27;p11"/>
            <p:cNvPicPr preferRelativeResize="0"/>
            <p:nvPr/>
          </p:nvPicPr>
          <p:blipFill rotWithShape="1">
            <a:blip r:embed="rId9">
              <a:alphaModFix/>
            </a:blip>
            <a:srcRect t="1" b="25891"/>
            <a:stretch/>
          </p:blipFill>
          <p:spPr>
            <a:xfrm>
              <a:off x="161925" y="0"/>
              <a:ext cx="1032510" cy="190500"/>
            </a:xfrm>
            <a:prstGeom prst="rect">
              <a:avLst/>
            </a:prstGeom>
            <a:noFill/>
            <a:ln>
              <a:noFill/>
            </a:ln>
          </p:spPr>
        </p:pic>
        <p:pic>
          <p:nvPicPr>
            <p:cNvPr id="28" name="Google Shape;28;p11"/>
            <p:cNvPicPr preferRelativeResize="0"/>
            <p:nvPr/>
          </p:nvPicPr>
          <p:blipFill rotWithShape="1">
            <a:blip r:embed="rId10">
              <a:alphaModFix/>
            </a:blip>
            <a:srcRect/>
            <a:stretch/>
          </p:blipFill>
          <p:spPr>
            <a:xfrm>
              <a:off x="0" y="57150"/>
              <a:ext cx="1342390" cy="440690"/>
            </a:xfrm>
            <a:prstGeom prst="rect">
              <a:avLst/>
            </a:prstGeom>
            <a:noFill/>
            <a:ln>
              <a:noFill/>
            </a:ln>
          </p:spPr>
        </p:pic>
      </p:grpSp>
      <p:pic>
        <p:nvPicPr>
          <p:cNvPr id="29" name="Google Shape;29;p11"/>
          <p:cNvPicPr preferRelativeResize="0"/>
          <p:nvPr/>
        </p:nvPicPr>
        <p:blipFill rotWithShape="1">
          <a:blip r:embed="rId11">
            <a:alphaModFix/>
          </a:blip>
          <a:srcRect/>
          <a:stretch/>
        </p:blipFill>
        <p:spPr>
          <a:xfrm>
            <a:off x="1712737" y="4428637"/>
            <a:ext cx="1541525" cy="611375"/>
          </a:xfrm>
          <a:prstGeom prst="rect">
            <a:avLst/>
          </a:prstGeom>
          <a:noFill/>
          <a:ln>
            <a:noFill/>
          </a:ln>
        </p:spPr>
      </p:pic>
      <p:cxnSp>
        <p:nvCxnSpPr>
          <p:cNvPr id="30" name="Google Shape;30;p11"/>
          <p:cNvCxnSpPr/>
          <p:nvPr/>
        </p:nvCxnSpPr>
        <p:spPr>
          <a:xfrm>
            <a:off x="1702577" y="4170197"/>
            <a:ext cx="8700597" cy="0"/>
          </a:xfrm>
          <a:prstGeom prst="straightConnector1">
            <a:avLst/>
          </a:prstGeom>
          <a:noFill/>
          <a:ln w="28575" cap="flat" cmpd="sng">
            <a:solidFill>
              <a:srgbClr val="0C4B05"/>
            </a:solidFill>
            <a:prstDash val="solid"/>
            <a:round/>
            <a:headEnd type="none" w="sm" len="sm"/>
            <a:tailEnd type="none" w="sm" len="sm"/>
          </a:ln>
        </p:spPr>
      </p:cxnSp>
      <p:pic>
        <p:nvPicPr>
          <p:cNvPr id="31" name="Google Shape;31;p11"/>
          <p:cNvPicPr preferRelativeResize="0"/>
          <p:nvPr/>
        </p:nvPicPr>
        <p:blipFill rotWithShape="1">
          <a:blip r:embed="rId12">
            <a:alphaModFix/>
          </a:blip>
          <a:srcRect/>
          <a:stretch/>
        </p:blipFill>
        <p:spPr>
          <a:xfrm>
            <a:off x="2654320" y="3486924"/>
            <a:ext cx="6934599" cy="560512"/>
          </a:xfrm>
          <a:prstGeom prst="rect">
            <a:avLst/>
          </a:prstGeom>
          <a:noFill/>
          <a:ln>
            <a:noFill/>
          </a:ln>
        </p:spPr>
      </p:pic>
      <p:pic>
        <p:nvPicPr>
          <p:cNvPr id="32" name="Google Shape;32;p11"/>
          <p:cNvPicPr preferRelativeResize="0"/>
          <p:nvPr/>
        </p:nvPicPr>
        <p:blipFill rotWithShape="1">
          <a:blip r:embed="rId13">
            <a:alphaModFix/>
          </a:blip>
          <a:srcRect/>
          <a:stretch/>
        </p:blipFill>
        <p:spPr>
          <a:xfrm>
            <a:off x="6653362" y="5203800"/>
            <a:ext cx="3670036" cy="696650"/>
          </a:xfrm>
          <a:prstGeom prst="rect">
            <a:avLst/>
          </a:prstGeom>
          <a:noFill/>
          <a:ln>
            <a:noFill/>
          </a:ln>
        </p:spPr>
      </p:pic>
      <p:pic>
        <p:nvPicPr>
          <p:cNvPr id="33" name="Google Shape;33;p11"/>
          <p:cNvPicPr preferRelativeResize="0"/>
          <p:nvPr/>
        </p:nvPicPr>
        <p:blipFill rotWithShape="1">
          <a:blip r:embed="rId14">
            <a:alphaModFix/>
          </a:blip>
          <a:srcRect/>
          <a:stretch/>
        </p:blipFill>
        <p:spPr>
          <a:xfrm>
            <a:off x="0" y="0"/>
            <a:ext cx="12192000" cy="685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gment title">
  <p:cSld name="Segment title">
    <p:spTree>
      <p:nvGrpSpPr>
        <p:cNvPr id="1" name="Shape 34"/>
        <p:cNvGrpSpPr/>
        <p:nvPr/>
      </p:nvGrpSpPr>
      <p:grpSpPr>
        <a:xfrm>
          <a:off x="0" y="0"/>
          <a:ext cx="0" cy="0"/>
          <a:chOff x="0" y="0"/>
          <a:chExt cx="0" cy="0"/>
        </a:xfrm>
      </p:grpSpPr>
      <p:sp>
        <p:nvSpPr>
          <p:cNvPr id="35" name="Google Shape;35;p12"/>
          <p:cNvSpPr txBox="1">
            <a:spLocks noGrp="1"/>
          </p:cNvSpPr>
          <p:nvPr>
            <p:ph type="ctrTitle"/>
          </p:nvPr>
        </p:nvSpPr>
        <p:spPr>
          <a:xfrm>
            <a:off x="463982" y="845485"/>
            <a:ext cx="8515895"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C4B05"/>
              </a:buClr>
              <a:buSzPts val="6000"/>
              <a:buFont typeface="League Spartan"/>
              <a:buNone/>
              <a:defRPr sz="6000">
                <a:solidFill>
                  <a:srgbClr val="0C4B05"/>
                </a:solidFill>
                <a:latin typeface="League Spartan"/>
                <a:ea typeface="League Spartan"/>
                <a:cs typeface="League Spartan"/>
                <a:sym typeface="League Spart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2"/>
          <p:cNvSpPr txBox="1">
            <a:spLocks noGrp="1"/>
          </p:cNvSpPr>
          <p:nvPr>
            <p:ph type="subTitle" idx="1"/>
          </p:nvPr>
        </p:nvSpPr>
        <p:spPr>
          <a:xfrm>
            <a:off x="463982" y="3429070"/>
            <a:ext cx="8515895"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dk1"/>
              </a:buClr>
              <a:buSzPts val="2800"/>
              <a:buNone/>
              <a:defRPr sz="2800" b="0">
                <a:latin typeface="Garamond"/>
                <a:ea typeface="Garamond"/>
                <a:cs typeface="Garamond"/>
                <a:sym typeface="Garamon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12"/>
          <p:cNvSpPr/>
          <p:nvPr/>
        </p:nvSpPr>
        <p:spPr>
          <a:xfrm>
            <a:off x="10329863" y="0"/>
            <a:ext cx="1862100"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 name="Google Shape;38;p12"/>
          <p:cNvSpPr/>
          <p:nvPr/>
        </p:nvSpPr>
        <p:spPr>
          <a:xfrm flipH="1">
            <a:off x="9736525" y="0"/>
            <a:ext cx="593338"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9" name="Google Shape;39;p12"/>
          <p:cNvPicPr preferRelativeResize="0"/>
          <p:nvPr/>
        </p:nvPicPr>
        <p:blipFill rotWithShape="1">
          <a:blip r:embed="rId2">
            <a:alphaModFix/>
          </a:blip>
          <a:srcRect/>
          <a:stretch/>
        </p:blipFill>
        <p:spPr>
          <a:xfrm>
            <a:off x="10461687" y="21425"/>
            <a:ext cx="1598474" cy="1598474"/>
          </a:xfrm>
          <a:prstGeom prst="rect">
            <a:avLst/>
          </a:prstGeom>
          <a:noFill/>
          <a:ln>
            <a:noFill/>
          </a:ln>
        </p:spPr>
      </p:pic>
      <p:grpSp>
        <p:nvGrpSpPr>
          <p:cNvPr id="40" name="Google Shape;40;p12"/>
          <p:cNvGrpSpPr/>
          <p:nvPr/>
        </p:nvGrpSpPr>
        <p:grpSpPr>
          <a:xfrm>
            <a:off x="1376675" y="5681399"/>
            <a:ext cx="6927617" cy="1176613"/>
            <a:chOff x="1071875" y="5681399"/>
            <a:chExt cx="6927617" cy="1176613"/>
          </a:xfrm>
        </p:grpSpPr>
        <p:pic>
          <p:nvPicPr>
            <p:cNvPr id="41" name="Google Shape;41;p12"/>
            <p:cNvPicPr preferRelativeResize="0"/>
            <p:nvPr/>
          </p:nvPicPr>
          <p:blipFill rotWithShape="1">
            <a:blip r:embed="rId3">
              <a:alphaModFix/>
            </a:blip>
            <a:srcRect/>
            <a:stretch/>
          </p:blipFill>
          <p:spPr>
            <a:xfrm>
              <a:off x="1071875" y="5681399"/>
              <a:ext cx="2092300" cy="1176600"/>
            </a:xfrm>
            <a:prstGeom prst="rect">
              <a:avLst/>
            </a:prstGeom>
            <a:noFill/>
            <a:ln>
              <a:noFill/>
            </a:ln>
          </p:spPr>
        </p:pic>
        <p:grpSp>
          <p:nvGrpSpPr>
            <p:cNvPr id="42" name="Google Shape;42;p12"/>
            <p:cNvGrpSpPr/>
            <p:nvPr/>
          </p:nvGrpSpPr>
          <p:grpSpPr>
            <a:xfrm>
              <a:off x="3430163" y="5852725"/>
              <a:ext cx="4191001" cy="561250"/>
              <a:chOff x="522350" y="4836300"/>
              <a:chExt cx="4191001" cy="561250"/>
            </a:xfrm>
          </p:grpSpPr>
          <p:pic>
            <p:nvPicPr>
              <p:cNvPr id="43" name="Google Shape;43;p12"/>
              <p:cNvPicPr preferRelativeResize="0"/>
              <p:nvPr/>
            </p:nvPicPr>
            <p:blipFill rotWithShape="1">
              <a:blip r:embed="rId4">
                <a:alphaModFix/>
              </a:blip>
              <a:srcRect l="22166" r="58194"/>
              <a:stretch/>
            </p:blipFill>
            <p:spPr>
              <a:xfrm>
                <a:off x="1553661" y="4837560"/>
                <a:ext cx="808351" cy="552289"/>
              </a:xfrm>
              <a:prstGeom prst="rect">
                <a:avLst/>
              </a:prstGeom>
              <a:noFill/>
              <a:ln>
                <a:noFill/>
              </a:ln>
            </p:spPr>
          </p:pic>
          <p:pic>
            <p:nvPicPr>
              <p:cNvPr id="44" name="Google Shape;44;p12"/>
              <p:cNvPicPr preferRelativeResize="0"/>
              <p:nvPr/>
            </p:nvPicPr>
            <p:blipFill rotWithShape="1">
              <a:blip r:embed="rId5">
                <a:alphaModFix/>
              </a:blip>
              <a:srcRect l="17096" r="48259"/>
              <a:stretch/>
            </p:blipFill>
            <p:spPr>
              <a:xfrm>
                <a:off x="2481613" y="4836300"/>
                <a:ext cx="2231738" cy="561250"/>
              </a:xfrm>
              <a:prstGeom prst="rect">
                <a:avLst/>
              </a:prstGeom>
              <a:noFill/>
              <a:ln>
                <a:noFill/>
              </a:ln>
            </p:spPr>
          </p:pic>
          <p:pic>
            <p:nvPicPr>
              <p:cNvPr id="45" name="Google Shape;45;p12"/>
              <p:cNvPicPr preferRelativeResize="0"/>
              <p:nvPr/>
            </p:nvPicPr>
            <p:blipFill rotWithShape="1">
              <a:blip r:embed="rId6">
                <a:alphaModFix/>
              </a:blip>
              <a:srcRect/>
              <a:stretch/>
            </p:blipFill>
            <p:spPr>
              <a:xfrm>
                <a:off x="522350" y="4927950"/>
                <a:ext cx="936704" cy="371500"/>
              </a:xfrm>
              <a:prstGeom prst="rect">
                <a:avLst/>
              </a:prstGeom>
              <a:noFill/>
              <a:ln>
                <a:noFill/>
              </a:ln>
            </p:spPr>
          </p:pic>
        </p:grpSp>
        <p:grpSp>
          <p:nvGrpSpPr>
            <p:cNvPr id="46" name="Google Shape;46;p12"/>
            <p:cNvGrpSpPr/>
            <p:nvPr/>
          </p:nvGrpSpPr>
          <p:grpSpPr>
            <a:xfrm>
              <a:off x="3356662" y="6263512"/>
              <a:ext cx="4642830" cy="594500"/>
              <a:chOff x="4814475" y="4203487"/>
              <a:chExt cx="4642830" cy="594500"/>
            </a:xfrm>
          </p:grpSpPr>
          <p:grpSp>
            <p:nvGrpSpPr>
              <p:cNvPr id="47" name="Google Shape;47;p12"/>
              <p:cNvGrpSpPr/>
              <p:nvPr/>
            </p:nvGrpSpPr>
            <p:grpSpPr>
              <a:xfrm>
                <a:off x="8249556" y="4380991"/>
                <a:ext cx="1207749" cy="371488"/>
                <a:chOff x="-84695" y="0"/>
                <a:chExt cx="1342391" cy="497840"/>
              </a:xfrm>
            </p:grpSpPr>
            <p:pic>
              <p:nvPicPr>
                <p:cNvPr id="48" name="Google Shape;48;p12"/>
                <p:cNvPicPr preferRelativeResize="0"/>
                <p:nvPr/>
              </p:nvPicPr>
              <p:blipFill rotWithShape="1">
                <a:blip r:embed="rId7">
                  <a:alphaModFix/>
                </a:blip>
                <a:srcRect b="25892"/>
                <a:stretch/>
              </p:blipFill>
              <p:spPr>
                <a:xfrm>
                  <a:off x="77230" y="0"/>
                  <a:ext cx="1032510" cy="190500"/>
                </a:xfrm>
                <a:prstGeom prst="rect">
                  <a:avLst/>
                </a:prstGeom>
                <a:noFill/>
                <a:ln>
                  <a:noFill/>
                </a:ln>
              </p:spPr>
            </p:pic>
            <p:pic>
              <p:nvPicPr>
                <p:cNvPr id="49" name="Google Shape;49;p12"/>
                <p:cNvPicPr preferRelativeResize="0"/>
                <p:nvPr/>
              </p:nvPicPr>
              <p:blipFill rotWithShape="1">
                <a:blip r:embed="rId8">
                  <a:alphaModFix/>
                </a:blip>
                <a:srcRect/>
                <a:stretch/>
              </p:blipFill>
              <p:spPr>
                <a:xfrm>
                  <a:off x="-84695" y="57150"/>
                  <a:ext cx="1342391" cy="440690"/>
                </a:xfrm>
                <a:prstGeom prst="rect">
                  <a:avLst/>
                </a:prstGeom>
                <a:noFill/>
                <a:ln>
                  <a:noFill/>
                </a:ln>
              </p:spPr>
            </p:pic>
          </p:grpSp>
          <p:grpSp>
            <p:nvGrpSpPr>
              <p:cNvPr id="50" name="Google Shape;50;p12"/>
              <p:cNvGrpSpPr/>
              <p:nvPr/>
            </p:nvGrpSpPr>
            <p:grpSpPr>
              <a:xfrm>
                <a:off x="6836376" y="4203487"/>
                <a:ext cx="1404390" cy="594500"/>
                <a:chOff x="6748602" y="3910582"/>
                <a:chExt cx="2709086" cy="1146798"/>
              </a:xfrm>
            </p:grpSpPr>
            <p:pic>
              <p:nvPicPr>
                <p:cNvPr id="51" name="Google Shape;51;p12"/>
                <p:cNvPicPr preferRelativeResize="0"/>
                <p:nvPr/>
              </p:nvPicPr>
              <p:blipFill rotWithShape="1">
                <a:blip r:embed="rId9">
                  <a:alphaModFix/>
                </a:blip>
                <a:srcRect l="79579"/>
                <a:stretch/>
              </p:blipFill>
              <p:spPr>
                <a:xfrm>
                  <a:off x="6748602" y="3910582"/>
                  <a:ext cx="2687594" cy="1146798"/>
                </a:xfrm>
                <a:prstGeom prst="rect">
                  <a:avLst/>
                </a:prstGeom>
                <a:noFill/>
                <a:ln>
                  <a:noFill/>
                </a:ln>
              </p:spPr>
            </p:pic>
            <p:grpSp>
              <p:nvGrpSpPr>
                <p:cNvPr id="52" name="Google Shape;52;p12"/>
                <p:cNvGrpSpPr/>
                <p:nvPr/>
              </p:nvGrpSpPr>
              <p:grpSpPr>
                <a:xfrm>
                  <a:off x="7732447" y="4302004"/>
                  <a:ext cx="1725241" cy="577751"/>
                  <a:chOff x="7732447" y="4302004"/>
                  <a:chExt cx="1725241" cy="577751"/>
                </a:xfrm>
              </p:grpSpPr>
              <p:pic>
                <p:nvPicPr>
                  <p:cNvPr id="53" name="Google Shape;53;p12"/>
                  <p:cNvPicPr preferRelativeResize="0"/>
                  <p:nvPr/>
                </p:nvPicPr>
                <p:blipFill rotWithShape="1">
                  <a:blip r:embed="rId10">
                    <a:alphaModFix/>
                  </a:blip>
                  <a:srcRect/>
                  <a:stretch/>
                </p:blipFill>
                <p:spPr>
                  <a:xfrm>
                    <a:off x="7734184" y="4475202"/>
                    <a:ext cx="1723504" cy="404553"/>
                  </a:xfrm>
                  <a:prstGeom prst="rect">
                    <a:avLst/>
                  </a:prstGeom>
                  <a:noFill/>
                  <a:ln>
                    <a:noFill/>
                  </a:ln>
                </p:spPr>
              </p:pic>
              <p:pic>
                <p:nvPicPr>
                  <p:cNvPr id="54" name="Google Shape;54;p12"/>
                  <p:cNvPicPr preferRelativeResize="0"/>
                  <p:nvPr/>
                </p:nvPicPr>
                <p:blipFill rotWithShape="1">
                  <a:blip r:embed="rId11">
                    <a:alphaModFix/>
                  </a:blip>
                  <a:srcRect b="31991"/>
                  <a:stretch/>
                </p:blipFill>
                <p:spPr>
                  <a:xfrm>
                    <a:off x="7732447" y="4302004"/>
                    <a:ext cx="795251" cy="256273"/>
                  </a:xfrm>
                  <a:prstGeom prst="rect">
                    <a:avLst/>
                  </a:prstGeom>
                  <a:noFill/>
                  <a:ln>
                    <a:noFill/>
                  </a:ln>
                </p:spPr>
              </p:pic>
            </p:grpSp>
          </p:grpSp>
          <p:pic>
            <p:nvPicPr>
              <p:cNvPr id="55" name="Google Shape;55;p12"/>
              <p:cNvPicPr preferRelativeResize="0"/>
              <p:nvPr/>
            </p:nvPicPr>
            <p:blipFill rotWithShape="1">
              <a:blip r:embed="rId12">
                <a:alphaModFix/>
              </a:blip>
              <a:srcRect/>
              <a:stretch/>
            </p:blipFill>
            <p:spPr>
              <a:xfrm>
                <a:off x="4814475" y="4336200"/>
                <a:ext cx="1920776" cy="329075"/>
              </a:xfrm>
              <a:prstGeom prst="rect">
                <a:avLst/>
              </a:prstGeom>
              <a:noFill/>
              <a:ln>
                <a:noFill/>
              </a:ln>
            </p:spPr>
          </p:pic>
        </p:grpSp>
      </p:grpSp>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6"/>
        <p:cNvGrpSpPr/>
        <p:nvPr/>
      </p:nvGrpSpPr>
      <p:grpSpPr>
        <a:xfrm>
          <a:off x="0" y="0"/>
          <a:ext cx="0" cy="0"/>
          <a:chOff x="0" y="0"/>
          <a:chExt cx="0" cy="0"/>
        </a:xfrm>
      </p:grpSpPr>
      <p:sp>
        <p:nvSpPr>
          <p:cNvPr id="57" name="Google Shape;57;p13"/>
          <p:cNvSpPr/>
          <p:nvPr/>
        </p:nvSpPr>
        <p:spPr>
          <a:xfrm rot="5400000" flipH="1">
            <a:off x="6023261" y="-6023263"/>
            <a:ext cx="145473" cy="12191999"/>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 name="Google Shape;58;p13"/>
          <p:cNvSpPr/>
          <p:nvPr/>
        </p:nvSpPr>
        <p:spPr>
          <a:xfrm rot="5400000" flipH="1">
            <a:off x="5486071" y="26586"/>
            <a:ext cx="437943" cy="13450996"/>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C6740"/>
              </a:solidFill>
              <a:latin typeface="Calibri"/>
              <a:ea typeface="Calibri"/>
              <a:cs typeface="Calibri"/>
              <a:sym typeface="Calibri"/>
            </a:endParaRPr>
          </a:p>
        </p:txBody>
      </p:sp>
      <p:sp>
        <p:nvSpPr>
          <p:cNvPr id="59" name="Google Shape;59;p13"/>
          <p:cNvSpPr/>
          <p:nvPr/>
        </p:nvSpPr>
        <p:spPr>
          <a:xfrm rot="5400000" flipH="1">
            <a:off x="6168060" y="476770"/>
            <a:ext cx="76723" cy="12047356"/>
          </a:xfrm>
          <a:prstGeom prst="rect">
            <a:avLst/>
          </a:prstGeom>
          <a:solidFill>
            <a:srgbClr val="0182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 name="Google Shape;60;p13"/>
          <p:cNvSpPr/>
          <p:nvPr/>
        </p:nvSpPr>
        <p:spPr>
          <a:xfrm rot="10800000" flipH="1">
            <a:off x="-4786619" y="5986650"/>
            <a:ext cx="7775980" cy="908677"/>
          </a:xfrm>
          <a:custGeom>
            <a:avLst/>
            <a:gdLst/>
            <a:ahLst/>
            <a:cxnLst/>
            <a:rect l="l" t="t" r="r" b="b"/>
            <a:pathLst>
              <a:path w="4605868" h="464927" extrusionOk="0">
                <a:moveTo>
                  <a:pt x="0" y="0"/>
                </a:moveTo>
                <a:lnTo>
                  <a:pt x="4233334" y="0"/>
                </a:lnTo>
                <a:lnTo>
                  <a:pt x="4233334" y="17347"/>
                </a:lnTo>
                <a:lnTo>
                  <a:pt x="4605868" y="17347"/>
                </a:lnTo>
                <a:lnTo>
                  <a:pt x="4294295" y="464927"/>
                </a:lnTo>
                <a:lnTo>
                  <a:pt x="4233334" y="464927"/>
                </a:lnTo>
                <a:lnTo>
                  <a:pt x="3048000" y="464927"/>
                </a:lnTo>
                <a:lnTo>
                  <a:pt x="0" y="464927"/>
                </a:lnTo>
                <a:close/>
              </a:path>
            </a:pathLst>
          </a:cu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1" name="Google Shape;61;p13"/>
          <p:cNvPicPr preferRelativeResize="0"/>
          <p:nvPr/>
        </p:nvPicPr>
        <p:blipFill rotWithShape="1">
          <a:blip r:embed="rId2">
            <a:alphaModFix/>
          </a:blip>
          <a:srcRect/>
          <a:stretch/>
        </p:blipFill>
        <p:spPr>
          <a:xfrm>
            <a:off x="314055" y="5858833"/>
            <a:ext cx="1984360" cy="1115911"/>
          </a:xfrm>
          <a:prstGeom prst="rect">
            <a:avLst/>
          </a:prstGeom>
          <a:noFill/>
          <a:ln>
            <a:noFill/>
          </a:ln>
        </p:spPr>
      </p:pic>
      <p:sp>
        <p:nvSpPr>
          <p:cNvPr id="62" name="Google Shape;62;p13"/>
          <p:cNvSpPr txBox="1"/>
          <p:nvPr/>
        </p:nvSpPr>
        <p:spPr>
          <a:xfrm>
            <a:off x="1704539" y="6550848"/>
            <a:ext cx="7712838" cy="41861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chemeClr val="lt1"/>
              </a:buClr>
              <a:buSzPts val="1400"/>
              <a:buFont typeface="Arial"/>
              <a:buNone/>
            </a:pPr>
            <a:r>
              <a:rPr lang="en-US" sz="1400" b="1" i="0" u="none" strike="noStrike" cap="none">
                <a:solidFill>
                  <a:schemeClr val="lt1"/>
                </a:solidFill>
                <a:latin typeface="Garamond"/>
                <a:ea typeface="Garamond"/>
                <a:cs typeface="Garamond"/>
                <a:sym typeface="Garamond"/>
              </a:rPr>
              <a:t>COLLEGE OF COMPUTING AND INFORMATION SCIENCES</a:t>
            </a:r>
            <a:endParaRPr sz="1400" b="1" i="0" u="none" strike="noStrike" cap="none">
              <a:solidFill>
                <a:schemeClr val="lt1"/>
              </a:solidFill>
              <a:latin typeface="Garamond"/>
              <a:ea typeface="Garamond"/>
              <a:cs typeface="Garamond"/>
              <a:sym typeface="Garamond"/>
            </a:endParaRPr>
          </a:p>
        </p:txBody>
      </p:sp>
      <p:sp>
        <p:nvSpPr>
          <p:cNvPr id="63" name="Google Shape;63;p13"/>
          <p:cNvSpPr txBox="1"/>
          <p:nvPr/>
        </p:nvSpPr>
        <p:spPr>
          <a:xfrm>
            <a:off x="7812197" y="6550848"/>
            <a:ext cx="5519251" cy="41861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FFB800"/>
              </a:buClr>
              <a:buSzPts val="1400"/>
              <a:buFont typeface="Arial"/>
              <a:buNone/>
            </a:pPr>
            <a:r>
              <a:rPr lang="en-US" sz="1400" b="1" i="1" u="none" strike="noStrike" cap="none">
                <a:solidFill>
                  <a:srgbClr val="FFB800"/>
                </a:solidFill>
                <a:latin typeface="Garamond"/>
                <a:ea typeface="Garamond"/>
                <a:cs typeface="Garamond"/>
                <a:sym typeface="Garamond"/>
              </a:rPr>
              <a:t>Department of Computer Science</a:t>
            </a:r>
            <a:endParaRPr sz="1400" b="1" i="1" u="none" strike="noStrike" cap="none">
              <a:solidFill>
                <a:srgbClr val="FFB800"/>
              </a:solidFill>
              <a:latin typeface="Garamond"/>
              <a:ea typeface="Garamond"/>
              <a:cs typeface="Garamond"/>
              <a:sym typeface="Garamond"/>
            </a:endParaRPr>
          </a:p>
        </p:txBody>
      </p:sp>
      <p:grpSp>
        <p:nvGrpSpPr>
          <p:cNvPr id="64" name="Google Shape;64;p13"/>
          <p:cNvGrpSpPr/>
          <p:nvPr/>
        </p:nvGrpSpPr>
        <p:grpSpPr>
          <a:xfrm>
            <a:off x="3008875" y="5931725"/>
            <a:ext cx="8934955" cy="594500"/>
            <a:chOff x="3008875" y="5931725"/>
            <a:chExt cx="8934955" cy="594500"/>
          </a:xfrm>
        </p:grpSpPr>
        <p:pic>
          <p:nvPicPr>
            <p:cNvPr id="65" name="Google Shape;65;p13"/>
            <p:cNvPicPr preferRelativeResize="0"/>
            <p:nvPr/>
          </p:nvPicPr>
          <p:blipFill rotWithShape="1">
            <a:blip r:embed="rId3">
              <a:alphaModFix/>
            </a:blip>
            <a:srcRect l="22167" r="58194"/>
            <a:stretch/>
          </p:blipFill>
          <p:spPr>
            <a:xfrm>
              <a:off x="4040186" y="5949610"/>
              <a:ext cx="808351" cy="552289"/>
            </a:xfrm>
            <a:prstGeom prst="rect">
              <a:avLst/>
            </a:prstGeom>
            <a:noFill/>
            <a:ln>
              <a:noFill/>
            </a:ln>
          </p:spPr>
        </p:pic>
        <p:grpSp>
          <p:nvGrpSpPr>
            <p:cNvPr id="66" name="Google Shape;66;p13"/>
            <p:cNvGrpSpPr/>
            <p:nvPr/>
          </p:nvGrpSpPr>
          <p:grpSpPr>
            <a:xfrm>
              <a:off x="10736081" y="6109229"/>
              <a:ext cx="1207749" cy="371488"/>
              <a:chOff x="-84695" y="0"/>
              <a:chExt cx="1342391" cy="497840"/>
            </a:xfrm>
          </p:grpSpPr>
          <p:pic>
            <p:nvPicPr>
              <p:cNvPr id="67" name="Google Shape;67;p13"/>
              <p:cNvPicPr preferRelativeResize="0"/>
              <p:nvPr/>
            </p:nvPicPr>
            <p:blipFill rotWithShape="1">
              <a:blip r:embed="rId4">
                <a:alphaModFix/>
              </a:blip>
              <a:srcRect t="1" b="25891"/>
              <a:stretch/>
            </p:blipFill>
            <p:spPr>
              <a:xfrm>
                <a:off x="77230" y="0"/>
                <a:ext cx="1032510" cy="190500"/>
              </a:xfrm>
              <a:prstGeom prst="rect">
                <a:avLst/>
              </a:prstGeom>
              <a:noFill/>
              <a:ln>
                <a:noFill/>
              </a:ln>
            </p:spPr>
          </p:pic>
          <p:pic>
            <p:nvPicPr>
              <p:cNvPr id="68" name="Google Shape;68;p13"/>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69" name="Google Shape;69;p13"/>
            <p:cNvPicPr preferRelativeResize="0"/>
            <p:nvPr/>
          </p:nvPicPr>
          <p:blipFill rotWithShape="1">
            <a:blip r:embed="rId6">
              <a:alphaModFix/>
            </a:blip>
            <a:srcRect l="17096" r="48259"/>
            <a:stretch/>
          </p:blipFill>
          <p:spPr>
            <a:xfrm>
              <a:off x="4968138" y="5948350"/>
              <a:ext cx="2231738" cy="561250"/>
            </a:xfrm>
            <a:prstGeom prst="rect">
              <a:avLst/>
            </a:prstGeom>
            <a:noFill/>
            <a:ln>
              <a:noFill/>
            </a:ln>
          </p:spPr>
        </p:pic>
        <p:grpSp>
          <p:nvGrpSpPr>
            <p:cNvPr id="70" name="Google Shape;70;p13"/>
            <p:cNvGrpSpPr/>
            <p:nvPr/>
          </p:nvGrpSpPr>
          <p:grpSpPr>
            <a:xfrm>
              <a:off x="9322901" y="5931725"/>
              <a:ext cx="1404390" cy="594500"/>
              <a:chOff x="6748602" y="3910582"/>
              <a:chExt cx="2709086" cy="1146798"/>
            </a:xfrm>
          </p:grpSpPr>
          <p:pic>
            <p:nvPicPr>
              <p:cNvPr id="71" name="Google Shape;71;p13"/>
              <p:cNvPicPr preferRelativeResize="0"/>
              <p:nvPr/>
            </p:nvPicPr>
            <p:blipFill rotWithShape="1">
              <a:blip r:embed="rId7">
                <a:alphaModFix/>
              </a:blip>
              <a:srcRect l="79579"/>
              <a:stretch/>
            </p:blipFill>
            <p:spPr>
              <a:xfrm>
                <a:off x="6748602" y="3910582"/>
                <a:ext cx="2687594" cy="1146798"/>
              </a:xfrm>
              <a:prstGeom prst="rect">
                <a:avLst/>
              </a:prstGeom>
              <a:noFill/>
              <a:ln>
                <a:noFill/>
              </a:ln>
            </p:spPr>
          </p:pic>
          <p:grpSp>
            <p:nvGrpSpPr>
              <p:cNvPr id="72" name="Google Shape;72;p13"/>
              <p:cNvGrpSpPr/>
              <p:nvPr/>
            </p:nvGrpSpPr>
            <p:grpSpPr>
              <a:xfrm>
                <a:off x="7732447" y="4302004"/>
                <a:ext cx="1725241" cy="577751"/>
                <a:chOff x="7732447" y="4302004"/>
                <a:chExt cx="1725241" cy="577751"/>
              </a:xfrm>
            </p:grpSpPr>
            <p:pic>
              <p:nvPicPr>
                <p:cNvPr id="73" name="Google Shape;73;p13"/>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74" name="Google Shape;74;p13"/>
                <p:cNvPicPr preferRelativeResize="0"/>
                <p:nvPr/>
              </p:nvPicPr>
              <p:blipFill rotWithShape="1">
                <a:blip r:embed="rId9">
                  <a:alphaModFix/>
                </a:blip>
                <a:srcRect b="31992"/>
                <a:stretch/>
              </p:blipFill>
              <p:spPr>
                <a:xfrm>
                  <a:off x="7732447" y="4302004"/>
                  <a:ext cx="795251" cy="256273"/>
                </a:xfrm>
                <a:prstGeom prst="rect">
                  <a:avLst/>
                </a:prstGeom>
                <a:noFill/>
                <a:ln>
                  <a:noFill/>
                </a:ln>
              </p:spPr>
            </p:pic>
          </p:grpSp>
        </p:grpSp>
        <p:pic>
          <p:nvPicPr>
            <p:cNvPr id="75" name="Google Shape;75;p13"/>
            <p:cNvPicPr preferRelativeResize="0"/>
            <p:nvPr/>
          </p:nvPicPr>
          <p:blipFill rotWithShape="1">
            <a:blip r:embed="rId10">
              <a:alphaModFix/>
            </a:blip>
            <a:srcRect/>
            <a:stretch/>
          </p:blipFill>
          <p:spPr>
            <a:xfrm>
              <a:off x="3008875" y="6040000"/>
              <a:ext cx="936704" cy="371500"/>
            </a:xfrm>
            <a:prstGeom prst="rect">
              <a:avLst/>
            </a:prstGeom>
            <a:noFill/>
            <a:ln>
              <a:noFill/>
            </a:ln>
          </p:spPr>
        </p:pic>
        <p:pic>
          <p:nvPicPr>
            <p:cNvPr id="76" name="Google Shape;76;p13"/>
            <p:cNvPicPr preferRelativeResize="0"/>
            <p:nvPr/>
          </p:nvPicPr>
          <p:blipFill rotWithShape="1">
            <a:blip r:embed="rId11">
              <a:alphaModFix/>
            </a:blip>
            <a:srcRect/>
            <a:stretch/>
          </p:blipFill>
          <p:spPr>
            <a:xfrm>
              <a:off x="7301000" y="6064437"/>
              <a:ext cx="1920776" cy="32907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act Info" type="blank">
  <p:cSld name="BLANK">
    <p:spTree>
      <p:nvGrpSpPr>
        <p:cNvPr id="1" name="Shape 77"/>
        <p:cNvGrpSpPr/>
        <p:nvPr/>
      </p:nvGrpSpPr>
      <p:grpSpPr>
        <a:xfrm>
          <a:off x="0" y="0"/>
          <a:ext cx="0" cy="0"/>
          <a:chOff x="0" y="0"/>
          <a:chExt cx="0" cy="0"/>
        </a:xfrm>
      </p:grpSpPr>
      <p:pic>
        <p:nvPicPr>
          <p:cNvPr id="78" name="Google Shape;78;p14"/>
          <p:cNvPicPr preferRelativeResize="0"/>
          <p:nvPr/>
        </p:nvPicPr>
        <p:blipFill rotWithShape="1">
          <a:blip r:embed="rId2">
            <a:alphaModFix/>
          </a:blip>
          <a:srcRect/>
          <a:stretch/>
        </p:blipFill>
        <p:spPr>
          <a:xfrm>
            <a:off x="0" y="11016"/>
            <a:ext cx="12193586" cy="6846984"/>
          </a:xfrm>
          <a:prstGeom prst="rect">
            <a:avLst/>
          </a:prstGeom>
          <a:noFill/>
          <a:ln>
            <a:noFill/>
          </a:ln>
        </p:spPr>
      </p:pic>
      <p:sp>
        <p:nvSpPr>
          <p:cNvPr id="79" name="Google Shape;79;p14"/>
          <p:cNvSpPr/>
          <p:nvPr/>
        </p:nvSpPr>
        <p:spPr>
          <a:xfrm>
            <a:off x="4758" y="0"/>
            <a:ext cx="12188823" cy="6858000"/>
          </a:xfrm>
          <a:prstGeom prst="rect">
            <a:avLst/>
          </a:prstGeom>
          <a:solidFill>
            <a:srgbClr val="0C4B05">
              <a:alpha val="8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ato Light"/>
              <a:ea typeface="Lato Light"/>
              <a:cs typeface="Lato Light"/>
              <a:sym typeface="Lato Light"/>
            </a:endParaRPr>
          </a:p>
        </p:txBody>
      </p:sp>
      <p:grpSp>
        <p:nvGrpSpPr>
          <p:cNvPr id="80" name="Google Shape;80;p14"/>
          <p:cNvGrpSpPr/>
          <p:nvPr/>
        </p:nvGrpSpPr>
        <p:grpSpPr>
          <a:xfrm>
            <a:off x="1528821" y="985720"/>
            <a:ext cx="9661910" cy="4648733"/>
            <a:chOff x="1528821" y="1118456"/>
            <a:chExt cx="9661910" cy="4648733"/>
          </a:xfrm>
        </p:grpSpPr>
        <p:sp>
          <p:nvSpPr>
            <p:cNvPr id="81" name="Google Shape;81;p14"/>
            <p:cNvSpPr/>
            <p:nvPr/>
          </p:nvSpPr>
          <p:spPr>
            <a:xfrm>
              <a:off x="7076321" y="5067986"/>
              <a:ext cx="126686" cy="235274"/>
            </a:xfrm>
            <a:custGeom>
              <a:avLst/>
              <a:gdLst/>
              <a:ahLst/>
              <a:cxnLst/>
              <a:rect l="l" t="t" r="r" b="b"/>
              <a:pathLst>
                <a:path w="249" h="453" extrusionOk="0">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solidFill>
              <a:schemeClr val="lt1"/>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ato Light"/>
                <a:ea typeface="Lato Light"/>
                <a:cs typeface="Lato Light"/>
                <a:sym typeface="Lato Light"/>
              </a:endParaRPr>
            </a:p>
          </p:txBody>
        </p:sp>
        <p:sp>
          <p:nvSpPr>
            <p:cNvPr id="82" name="Google Shape;82;p14"/>
            <p:cNvSpPr txBox="1"/>
            <p:nvPr/>
          </p:nvSpPr>
          <p:spPr>
            <a:xfrm>
              <a:off x="6938658" y="2157205"/>
              <a:ext cx="2825453"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lt1"/>
                  </a:solidFill>
                  <a:latin typeface="Lato Light"/>
                  <a:ea typeface="Lato Light"/>
                  <a:cs typeface="Lato Light"/>
                  <a:sym typeface="Lato Light"/>
                </a:rPr>
                <a:t>Send us a message or visit us</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p:txBody>
        </p:sp>
        <p:sp>
          <p:nvSpPr>
            <p:cNvPr id="83" name="Google Shape;83;p14"/>
            <p:cNvSpPr txBox="1"/>
            <p:nvPr/>
          </p:nvSpPr>
          <p:spPr>
            <a:xfrm>
              <a:off x="6938658" y="2949733"/>
              <a:ext cx="3566842"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Lato Light"/>
                  <a:ea typeface="Lato Light"/>
                  <a:cs typeface="Lato Light"/>
                  <a:sym typeface="Lato Light"/>
                </a:rPr>
                <a:t>City of </a:t>
              </a:r>
              <a:r>
                <a:rPr lang="en-US" sz="1800" b="0" i="0" u="none" strike="noStrike" cap="none" dirty="0" err="1">
                  <a:solidFill>
                    <a:schemeClr val="lt1"/>
                  </a:solidFill>
                  <a:latin typeface="Lato Light"/>
                  <a:ea typeface="Lato Light"/>
                  <a:cs typeface="Lato Light"/>
                  <a:sym typeface="Lato Light"/>
                </a:rPr>
                <a:t>Batac</a:t>
              </a:r>
              <a:r>
                <a:rPr lang="en-US" sz="1800" b="0" i="0" u="none" strike="noStrike" cap="none" dirty="0">
                  <a:solidFill>
                    <a:schemeClr val="lt1"/>
                  </a:solidFill>
                  <a:latin typeface="Lato Light"/>
                  <a:ea typeface="Lato Light"/>
                  <a:cs typeface="Lato Light"/>
                  <a:sym typeface="Lato Light"/>
                </a:rPr>
                <a:t>, </a:t>
              </a:r>
              <a:r>
                <a:rPr lang="en-US" sz="1800" b="0" i="0" u="none" strike="noStrike" cap="none" dirty="0" err="1">
                  <a:solidFill>
                    <a:schemeClr val="lt1"/>
                  </a:solidFill>
                  <a:latin typeface="Lato Light"/>
                  <a:ea typeface="Lato Light"/>
                  <a:cs typeface="Lato Light"/>
                  <a:sym typeface="Lato Light"/>
                </a:rPr>
                <a:t>Ilocos</a:t>
              </a:r>
              <a:r>
                <a:rPr lang="en-US" sz="1800" b="0" i="0" u="none" strike="noStrike" cap="none" dirty="0">
                  <a:solidFill>
                    <a:schemeClr val="lt1"/>
                  </a:solidFill>
                  <a:latin typeface="Lato Light"/>
                  <a:ea typeface="Lato Light"/>
                  <a:cs typeface="Lato Light"/>
                  <a:sym typeface="Lato Light"/>
                </a:rPr>
                <a:t> Norte, Philippines</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FFB800"/>
                  </a:solidFill>
                  <a:latin typeface="Lato Light"/>
                  <a:ea typeface="Lato Light"/>
                  <a:cs typeface="Lato Light"/>
                  <a:sym typeface="Lato Light"/>
                </a:rPr>
                <a:t>(63) 77-600-0459</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FFB800"/>
                  </a:solidFill>
                  <a:latin typeface="Lato Light"/>
                  <a:ea typeface="Lato Light"/>
                  <a:cs typeface="Lato Light"/>
                  <a:sym typeface="Lato Light"/>
                </a:rPr>
                <a:t>op@mmsu.edu.ph</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FFB800"/>
                </a:solidFill>
                <a:latin typeface="Lato Light"/>
                <a:ea typeface="Lato Light"/>
                <a:cs typeface="Lato Light"/>
                <a:sym typeface="Lato Light"/>
              </a:endParaRPr>
            </a:p>
          </p:txBody>
        </p:sp>
        <p:sp>
          <p:nvSpPr>
            <p:cNvPr id="84" name="Google Shape;84;p14"/>
            <p:cNvSpPr txBox="1"/>
            <p:nvPr/>
          </p:nvSpPr>
          <p:spPr>
            <a:xfrm>
              <a:off x="6938658" y="1118456"/>
              <a:ext cx="2310088"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FFC000"/>
                  </a:solidFill>
                  <a:latin typeface="Lato Light"/>
                  <a:ea typeface="Lato Light"/>
                  <a:cs typeface="Lato Light"/>
                  <a:sym typeface="Lato Light"/>
                </a:rPr>
                <a:t>Get in Touch</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FFC000"/>
                  </a:solidFill>
                  <a:latin typeface="Lato Light"/>
                  <a:ea typeface="Lato Light"/>
                  <a:cs typeface="Lato Light"/>
                  <a:sym typeface="Lato Light"/>
                </a:rPr>
                <a:t>With Us</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p:txBody>
        </p:sp>
        <p:cxnSp>
          <p:nvCxnSpPr>
            <p:cNvPr id="85" name="Google Shape;85;p14"/>
            <p:cNvCxnSpPr/>
            <p:nvPr/>
          </p:nvCxnSpPr>
          <p:spPr>
            <a:xfrm>
              <a:off x="6394282" y="1193215"/>
              <a:ext cx="0" cy="4573974"/>
            </a:xfrm>
            <a:prstGeom prst="straightConnector1">
              <a:avLst/>
            </a:prstGeom>
            <a:noFill/>
            <a:ln w="9525" cap="flat" cmpd="sng">
              <a:solidFill>
                <a:srgbClr val="FFFF00"/>
              </a:solidFill>
              <a:prstDash val="solid"/>
              <a:miter lim="800000"/>
              <a:headEnd type="none" w="sm" len="sm"/>
              <a:tailEnd type="none" w="sm" len="sm"/>
            </a:ln>
          </p:spPr>
        </p:cxnSp>
        <p:sp>
          <p:nvSpPr>
            <p:cNvPr id="86" name="Google Shape;86;p14"/>
            <p:cNvSpPr txBox="1"/>
            <p:nvPr/>
          </p:nvSpPr>
          <p:spPr>
            <a:xfrm>
              <a:off x="7271174" y="4997646"/>
              <a:ext cx="391955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Lato Light"/>
                  <a:ea typeface="Lato Light"/>
                  <a:cs typeface="Lato Light"/>
                  <a:sym typeface="Lato Light"/>
                </a:rPr>
                <a:t>facebook.com/</a:t>
              </a:r>
              <a:r>
                <a:rPr lang="en-US" sz="1800" b="0" i="0" u="none" strike="noStrike" cap="none" dirty="0" err="1">
                  <a:solidFill>
                    <a:schemeClr val="lt1"/>
                  </a:solidFill>
                  <a:latin typeface="Lato Light"/>
                  <a:ea typeface="Lato Light"/>
                  <a:cs typeface="Lato Light"/>
                  <a:sym typeface="Lato Light"/>
                </a:rPr>
                <a:t>MMSUofficial</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Lato Light"/>
                  <a:ea typeface="Lato Light"/>
                  <a:cs typeface="Lato Light"/>
                  <a:sym typeface="Lato Light"/>
                </a:rPr>
                <a:t>www.mmsu.edu.ph</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p:txBody>
        </p:sp>
        <p:pic>
          <p:nvPicPr>
            <p:cNvPr id="87" name="Google Shape;87;p14"/>
            <p:cNvPicPr preferRelativeResize="0"/>
            <p:nvPr/>
          </p:nvPicPr>
          <p:blipFill rotWithShape="1">
            <a:blip r:embed="rId3">
              <a:alphaModFix/>
            </a:blip>
            <a:srcRect/>
            <a:stretch/>
          </p:blipFill>
          <p:spPr>
            <a:xfrm>
              <a:off x="1528821" y="1167146"/>
              <a:ext cx="4256540" cy="4247396"/>
            </a:xfrm>
            <a:prstGeom prst="rect">
              <a:avLst/>
            </a:prstGeom>
            <a:noFill/>
            <a:ln>
              <a:noFill/>
            </a:ln>
          </p:spPr>
        </p:pic>
        <p:pic>
          <p:nvPicPr>
            <p:cNvPr id="88" name="Google Shape;88;p14" descr="White and gray globe logo, Computer Icons Internet World Wide Web ..."/>
            <p:cNvPicPr preferRelativeResize="0"/>
            <p:nvPr/>
          </p:nvPicPr>
          <p:blipFill rotWithShape="1">
            <a:blip r:embed="rId4">
              <a:alphaModFix/>
            </a:blip>
            <a:srcRect/>
            <a:stretch/>
          </p:blipFill>
          <p:spPr>
            <a:xfrm>
              <a:off x="6985052" y="5314276"/>
              <a:ext cx="340717" cy="340717"/>
            </a:xfrm>
            <a:prstGeom prst="rect">
              <a:avLst/>
            </a:prstGeom>
            <a:noFill/>
            <a:ln>
              <a:noFill/>
            </a:ln>
          </p:spPr>
        </p:pic>
        <p:sp>
          <p:nvSpPr>
            <p:cNvPr id="89" name="Google Shape;89;p14"/>
            <p:cNvSpPr txBox="1"/>
            <p:nvPr/>
          </p:nvSpPr>
          <p:spPr>
            <a:xfrm>
              <a:off x="7064932" y="4484374"/>
              <a:ext cx="282545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Lato Light"/>
                  <a:ea typeface="Lato Light"/>
                  <a:cs typeface="Lato Light"/>
                  <a:sym typeface="Lato Light"/>
                </a:rPr>
                <a:t>Follow us for updates</a:t>
              </a:r>
              <a:endParaRPr sz="2000" b="0" i="0" u="none" strike="noStrike" cap="none">
                <a:solidFill>
                  <a:schemeClr val="lt1"/>
                </a:solidFill>
                <a:latin typeface="Lato Light"/>
                <a:ea typeface="Lato Light"/>
                <a:cs typeface="Lato Light"/>
                <a:sym typeface="Lato Light"/>
              </a:endParaRPr>
            </a:p>
          </p:txBody>
        </p:sp>
      </p:grpSp>
      <p:pic>
        <p:nvPicPr>
          <p:cNvPr id="90" name="Google Shape;90;p14"/>
          <p:cNvPicPr preferRelativeResize="0"/>
          <p:nvPr/>
        </p:nvPicPr>
        <p:blipFill rotWithShape="1">
          <a:blip r:embed="rId5">
            <a:alphaModFix/>
          </a:blip>
          <a:srcRect/>
          <a:stretch/>
        </p:blipFill>
        <p:spPr>
          <a:xfrm>
            <a:off x="3227110" y="5955697"/>
            <a:ext cx="5790051" cy="46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Full Photo">
  <p:cSld name="Full Photo">
    <p:spTree>
      <p:nvGrpSpPr>
        <p:cNvPr id="1" name="Shape 91"/>
        <p:cNvGrpSpPr/>
        <p:nvPr/>
      </p:nvGrpSpPr>
      <p:grpSpPr>
        <a:xfrm>
          <a:off x="0" y="0"/>
          <a:ext cx="0" cy="0"/>
          <a:chOff x="0" y="0"/>
          <a:chExt cx="0" cy="0"/>
        </a:xfrm>
      </p:grpSpPr>
      <p:sp>
        <p:nvSpPr>
          <p:cNvPr id="92" name="Google Shape;92;p15"/>
          <p:cNvSpPr/>
          <p:nvPr/>
        </p:nvSpPr>
        <p:spPr>
          <a:xfrm>
            <a:off x="11636477" y="0"/>
            <a:ext cx="555523"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3" name="Google Shape;93;p15"/>
          <p:cNvSpPr/>
          <p:nvPr/>
        </p:nvSpPr>
        <p:spPr>
          <a:xfrm flipH="1">
            <a:off x="11433256" y="0"/>
            <a:ext cx="226667"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4" name="Google Shape;94;p15"/>
          <p:cNvSpPr>
            <a:spLocks noGrp="1"/>
          </p:cNvSpPr>
          <p:nvPr>
            <p:ph type="pic" idx="2"/>
          </p:nvPr>
        </p:nvSpPr>
        <p:spPr>
          <a:xfrm>
            <a:off x="0" y="0"/>
            <a:ext cx="11433175" cy="6858000"/>
          </a:xfrm>
          <a:prstGeom prst="rect">
            <a:avLst/>
          </a:prstGeom>
          <a:noFill/>
          <a:ln>
            <a:noFill/>
          </a:ln>
        </p:spPr>
      </p:sp>
      <p:pic>
        <p:nvPicPr>
          <p:cNvPr id="95" name="Google Shape;95;p15"/>
          <p:cNvPicPr preferRelativeResize="0"/>
          <p:nvPr/>
        </p:nvPicPr>
        <p:blipFill rotWithShape="1">
          <a:blip r:embed="rId2">
            <a:alphaModFix/>
          </a:blip>
          <a:srcRect/>
          <a:stretch/>
        </p:blipFill>
        <p:spPr>
          <a:xfrm>
            <a:off x="200041" y="5814275"/>
            <a:ext cx="1984360" cy="1115911"/>
          </a:xfrm>
          <a:prstGeom prst="rect">
            <a:avLst/>
          </a:prstGeom>
          <a:noFill/>
          <a:ln>
            <a:noFill/>
          </a:ln>
        </p:spPr>
      </p:pic>
      <p:grpSp>
        <p:nvGrpSpPr>
          <p:cNvPr id="96" name="Google Shape;96;p15"/>
          <p:cNvGrpSpPr/>
          <p:nvPr/>
        </p:nvGrpSpPr>
        <p:grpSpPr>
          <a:xfrm>
            <a:off x="2513975" y="6074974"/>
            <a:ext cx="8680580" cy="594509"/>
            <a:chOff x="2823000" y="5855524"/>
            <a:chExt cx="8680580" cy="594509"/>
          </a:xfrm>
        </p:grpSpPr>
        <p:pic>
          <p:nvPicPr>
            <p:cNvPr id="97" name="Google Shape;97;p15"/>
            <p:cNvPicPr preferRelativeResize="0"/>
            <p:nvPr/>
          </p:nvPicPr>
          <p:blipFill rotWithShape="1">
            <a:blip r:embed="rId3">
              <a:alphaModFix/>
            </a:blip>
            <a:srcRect l="22166" r="58194"/>
            <a:stretch/>
          </p:blipFill>
          <p:spPr>
            <a:xfrm>
              <a:off x="3904736" y="5873410"/>
              <a:ext cx="808351" cy="552289"/>
            </a:xfrm>
            <a:prstGeom prst="rect">
              <a:avLst/>
            </a:prstGeom>
            <a:noFill/>
            <a:ln>
              <a:noFill/>
            </a:ln>
          </p:spPr>
        </p:pic>
        <p:grpSp>
          <p:nvGrpSpPr>
            <p:cNvPr id="98" name="Google Shape;98;p15"/>
            <p:cNvGrpSpPr/>
            <p:nvPr/>
          </p:nvGrpSpPr>
          <p:grpSpPr>
            <a:xfrm>
              <a:off x="10295831" y="6033029"/>
              <a:ext cx="1207749" cy="371488"/>
              <a:chOff x="-84695" y="0"/>
              <a:chExt cx="1342391" cy="497840"/>
            </a:xfrm>
          </p:grpSpPr>
          <p:pic>
            <p:nvPicPr>
              <p:cNvPr id="99" name="Google Shape;99;p15"/>
              <p:cNvPicPr preferRelativeResize="0"/>
              <p:nvPr/>
            </p:nvPicPr>
            <p:blipFill rotWithShape="1">
              <a:blip r:embed="rId4">
                <a:alphaModFix/>
              </a:blip>
              <a:srcRect b="25892"/>
              <a:stretch/>
            </p:blipFill>
            <p:spPr>
              <a:xfrm>
                <a:off x="77230" y="0"/>
                <a:ext cx="1032510" cy="190500"/>
              </a:xfrm>
              <a:prstGeom prst="rect">
                <a:avLst/>
              </a:prstGeom>
              <a:noFill/>
              <a:ln>
                <a:noFill/>
              </a:ln>
            </p:spPr>
          </p:pic>
          <p:pic>
            <p:nvPicPr>
              <p:cNvPr id="100" name="Google Shape;100;p15"/>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101" name="Google Shape;101;p15"/>
            <p:cNvPicPr preferRelativeResize="0"/>
            <p:nvPr/>
          </p:nvPicPr>
          <p:blipFill rotWithShape="1">
            <a:blip r:embed="rId6">
              <a:alphaModFix/>
            </a:blip>
            <a:srcRect l="16492" r="21566"/>
            <a:stretch/>
          </p:blipFill>
          <p:spPr>
            <a:xfrm>
              <a:off x="4820000" y="5888763"/>
              <a:ext cx="3990165" cy="561270"/>
            </a:xfrm>
            <a:prstGeom prst="rect">
              <a:avLst/>
            </a:prstGeom>
            <a:noFill/>
            <a:ln>
              <a:noFill/>
            </a:ln>
          </p:spPr>
        </p:pic>
        <p:grpSp>
          <p:nvGrpSpPr>
            <p:cNvPr id="102" name="Google Shape;102;p15"/>
            <p:cNvGrpSpPr/>
            <p:nvPr/>
          </p:nvGrpSpPr>
          <p:grpSpPr>
            <a:xfrm>
              <a:off x="8811715" y="5855524"/>
              <a:ext cx="1484101" cy="594499"/>
              <a:chOff x="6594839" y="3910580"/>
              <a:chExt cx="2862849" cy="1146796"/>
            </a:xfrm>
          </p:grpSpPr>
          <p:pic>
            <p:nvPicPr>
              <p:cNvPr id="103" name="Google Shape;103;p15"/>
              <p:cNvPicPr preferRelativeResize="0"/>
              <p:nvPr/>
            </p:nvPicPr>
            <p:blipFill rotWithShape="1">
              <a:blip r:embed="rId7">
                <a:alphaModFix/>
              </a:blip>
              <a:srcRect l="78411"/>
              <a:stretch/>
            </p:blipFill>
            <p:spPr>
              <a:xfrm>
                <a:off x="6594839" y="3910580"/>
                <a:ext cx="2841375" cy="1146796"/>
              </a:xfrm>
              <a:prstGeom prst="rect">
                <a:avLst/>
              </a:prstGeom>
              <a:noFill/>
              <a:ln>
                <a:noFill/>
              </a:ln>
            </p:spPr>
          </p:pic>
          <p:grpSp>
            <p:nvGrpSpPr>
              <p:cNvPr id="104" name="Google Shape;104;p15"/>
              <p:cNvGrpSpPr/>
              <p:nvPr/>
            </p:nvGrpSpPr>
            <p:grpSpPr>
              <a:xfrm>
                <a:off x="7732447" y="4302004"/>
                <a:ext cx="1725241" cy="577751"/>
                <a:chOff x="7732447" y="4302004"/>
                <a:chExt cx="1725241" cy="577751"/>
              </a:xfrm>
            </p:grpSpPr>
            <p:pic>
              <p:nvPicPr>
                <p:cNvPr id="105" name="Google Shape;105;p15"/>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106" name="Google Shape;106;p15"/>
                <p:cNvPicPr preferRelativeResize="0"/>
                <p:nvPr/>
              </p:nvPicPr>
              <p:blipFill rotWithShape="1">
                <a:blip r:embed="rId9">
                  <a:alphaModFix/>
                </a:blip>
                <a:srcRect b="31993"/>
                <a:stretch/>
              </p:blipFill>
              <p:spPr>
                <a:xfrm>
                  <a:off x="7732447" y="4302004"/>
                  <a:ext cx="795251" cy="256273"/>
                </a:xfrm>
                <a:prstGeom prst="rect">
                  <a:avLst/>
                </a:prstGeom>
                <a:noFill/>
                <a:ln>
                  <a:noFill/>
                </a:ln>
              </p:spPr>
            </p:pic>
          </p:grpSp>
        </p:grpSp>
        <p:pic>
          <p:nvPicPr>
            <p:cNvPr id="107" name="Google Shape;107;p15"/>
            <p:cNvPicPr preferRelativeResize="0"/>
            <p:nvPr/>
          </p:nvPicPr>
          <p:blipFill rotWithShape="1">
            <a:blip r:embed="rId10">
              <a:alphaModFix/>
            </a:blip>
            <a:srcRect/>
            <a:stretch/>
          </p:blipFill>
          <p:spPr>
            <a:xfrm>
              <a:off x="2823000" y="5986650"/>
              <a:ext cx="936704" cy="371500"/>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108"/>
        <p:cNvGrpSpPr/>
        <p:nvPr/>
      </p:nvGrpSpPr>
      <p:grpSpPr>
        <a:xfrm>
          <a:off x="0" y="0"/>
          <a:ext cx="0" cy="0"/>
          <a:chOff x="0" y="0"/>
          <a:chExt cx="0" cy="0"/>
        </a:xfrm>
      </p:grpSpPr>
      <p:sp>
        <p:nvSpPr>
          <p:cNvPr id="109" name="Google Shape;109;p16"/>
          <p:cNvSpPr/>
          <p:nvPr/>
        </p:nvSpPr>
        <p:spPr>
          <a:xfrm>
            <a:off x="11636477" y="0"/>
            <a:ext cx="555523"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0" name="Google Shape;110;p16"/>
          <p:cNvSpPr/>
          <p:nvPr/>
        </p:nvSpPr>
        <p:spPr>
          <a:xfrm flipH="1">
            <a:off x="11433256" y="0"/>
            <a:ext cx="226667"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1" name="Google Shape;111;p16"/>
          <p:cNvSpPr>
            <a:spLocks noGrp="1"/>
          </p:cNvSpPr>
          <p:nvPr>
            <p:ph type="pic" idx="2"/>
          </p:nvPr>
        </p:nvSpPr>
        <p:spPr>
          <a:xfrm>
            <a:off x="718758" y="927457"/>
            <a:ext cx="4606032" cy="3821723"/>
          </a:xfrm>
          <a:prstGeom prst="snip2DiagRect">
            <a:avLst>
              <a:gd name="adj1" fmla="val 1734"/>
              <a:gd name="adj2" fmla="val 16667"/>
            </a:avLst>
          </a:prstGeom>
          <a:noFill/>
          <a:ln w="12700" cap="flat" cmpd="sng">
            <a:solidFill>
              <a:srgbClr val="FFB800"/>
            </a:solidFill>
            <a:prstDash val="solid"/>
            <a:round/>
            <a:headEnd type="none" w="sm" len="sm"/>
            <a:tailEnd type="none" w="sm" len="sm"/>
          </a:ln>
        </p:spPr>
      </p:sp>
      <p:pic>
        <p:nvPicPr>
          <p:cNvPr id="112" name="Google Shape;112;p16"/>
          <p:cNvPicPr preferRelativeResize="0"/>
          <p:nvPr/>
        </p:nvPicPr>
        <p:blipFill rotWithShape="1">
          <a:blip r:embed="rId2">
            <a:alphaModFix/>
          </a:blip>
          <a:srcRect/>
          <a:stretch/>
        </p:blipFill>
        <p:spPr>
          <a:xfrm>
            <a:off x="200041" y="5814275"/>
            <a:ext cx="1984360" cy="1115911"/>
          </a:xfrm>
          <a:prstGeom prst="rect">
            <a:avLst/>
          </a:prstGeom>
          <a:noFill/>
          <a:ln>
            <a:noFill/>
          </a:ln>
        </p:spPr>
      </p:pic>
      <p:sp>
        <p:nvSpPr>
          <p:cNvPr id="113" name="Google Shape;113;p16"/>
          <p:cNvSpPr txBox="1">
            <a:spLocks noGrp="1"/>
          </p:cNvSpPr>
          <p:nvPr>
            <p:ph type="body" idx="1"/>
          </p:nvPr>
        </p:nvSpPr>
        <p:spPr>
          <a:xfrm>
            <a:off x="549275" y="4970463"/>
            <a:ext cx="5065713" cy="84455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200"/>
              <a:buNone/>
              <a:defRPr sz="2200">
                <a:latin typeface="Garamond"/>
                <a:ea typeface="Garamond"/>
                <a:cs typeface="Garamond"/>
                <a:sym typeface="Garamond"/>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16"/>
          <p:cNvSpPr txBox="1">
            <a:spLocks noGrp="1"/>
          </p:cNvSpPr>
          <p:nvPr>
            <p:ph type="body" idx="3"/>
          </p:nvPr>
        </p:nvSpPr>
        <p:spPr>
          <a:xfrm>
            <a:off x="5990880" y="4970463"/>
            <a:ext cx="5065713" cy="84455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200"/>
              <a:buNone/>
              <a:defRPr sz="2200">
                <a:latin typeface="Garamond"/>
                <a:ea typeface="Garamond"/>
                <a:cs typeface="Garamond"/>
                <a:sym typeface="Garamond"/>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16"/>
          <p:cNvSpPr>
            <a:spLocks noGrp="1"/>
          </p:cNvSpPr>
          <p:nvPr>
            <p:ph type="pic" idx="4"/>
          </p:nvPr>
        </p:nvSpPr>
        <p:spPr>
          <a:xfrm>
            <a:off x="6141064" y="927456"/>
            <a:ext cx="4606032" cy="3821723"/>
          </a:xfrm>
          <a:prstGeom prst="snip2DiagRect">
            <a:avLst>
              <a:gd name="adj1" fmla="val 1734"/>
              <a:gd name="adj2" fmla="val 16667"/>
            </a:avLst>
          </a:prstGeom>
          <a:noFill/>
          <a:ln w="12700" cap="flat" cmpd="sng">
            <a:solidFill>
              <a:srgbClr val="FFB800"/>
            </a:solidFill>
            <a:prstDash val="solid"/>
            <a:round/>
            <a:headEnd type="none" w="sm" len="sm"/>
            <a:tailEnd type="none" w="sm" len="sm"/>
          </a:ln>
        </p:spPr>
      </p:sp>
      <p:sp>
        <p:nvSpPr>
          <p:cNvPr id="116" name="Google Shape;116;p16"/>
          <p:cNvSpPr txBox="1"/>
          <p:nvPr/>
        </p:nvSpPr>
        <p:spPr>
          <a:xfrm>
            <a:off x="671866" y="274132"/>
            <a:ext cx="4606032" cy="512648"/>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800"/>
              <a:buFont typeface="League Spartan"/>
              <a:buNone/>
            </a:pPr>
            <a:r>
              <a:rPr lang="en-US" sz="2800" b="0" i="0" u="none" strike="noStrike" cap="none">
                <a:solidFill>
                  <a:schemeClr val="dk1"/>
                </a:solidFill>
                <a:latin typeface="League Spartan"/>
                <a:ea typeface="League Spartan"/>
                <a:cs typeface="League Spartan"/>
                <a:sym typeface="League Spartan"/>
              </a:rPr>
              <a:t>Title</a:t>
            </a:r>
            <a:endParaRPr sz="2800" b="0" i="0" u="none" strike="noStrike" cap="none">
              <a:solidFill>
                <a:schemeClr val="dk1"/>
              </a:solidFill>
              <a:latin typeface="League Spartan"/>
              <a:ea typeface="League Spartan"/>
              <a:cs typeface="League Spartan"/>
              <a:sym typeface="League Spartan"/>
            </a:endParaRPr>
          </a:p>
        </p:txBody>
      </p:sp>
      <p:sp>
        <p:nvSpPr>
          <p:cNvPr id="117" name="Google Shape;117;p16"/>
          <p:cNvSpPr txBox="1"/>
          <p:nvPr/>
        </p:nvSpPr>
        <p:spPr>
          <a:xfrm>
            <a:off x="6094172" y="274132"/>
            <a:ext cx="4606032" cy="512648"/>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800"/>
              <a:buFont typeface="League Spartan"/>
              <a:buNone/>
            </a:pPr>
            <a:r>
              <a:rPr lang="en-US" sz="2800" b="0" i="0" u="none" strike="noStrike" cap="none">
                <a:solidFill>
                  <a:schemeClr val="dk1"/>
                </a:solidFill>
                <a:latin typeface="League Spartan"/>
                <a:ea typeface="League Spartan"/>
                <a:cs typeface="League Spartan"/>
                <a:sym typeface="League Spartan"/>
              </a:rPr>
              <a:t>Title</a:t>
            </a:r>
            <a:endParaRPr sz="2800" b="0" i="0" u="none" strike="noStrike" cap="none">
              <a:solidFill>
                <a:schemeClr val="dk1"/>
              </a:solidFill>
              <a:latin typeface="League Spartan"/>
              <a:ea typeface="League Spartan"/>
              <a:cs typeface="League Spartan"/>
              <a:sym typeface="League Spartan"/>
            </a:endParaRPr>
          </a:p>
        </p:txBody>
      </p:sp>
      <p:grpSp>
        <p:nvGrpSpPr>
          <p:cNvPr id="118" name="Google Shape;118;p16"/>
          <p:cNvGrpSpPr/>
          <p:nvPr/>
        </p:nvGrpSpPr>
        <p:grpSpPr>
          <a:xfrm>
            <a:off x="2513975" y="6036324"/>
            <a:ext cx="8680580" cy="594509"/>
            <a:chOff x="2823000" y="5855524"/>
            <a:chExt cx="8680580" cy="594509"/>
          </a:xfrm>
        </p:grpSpPr>
        <p:pic>
          <p:nvPicPr>
            <p:cNvPr id="119" name="Google Shape;119;p16"/>
            <p:cNvPicPr preferRelativeResize="0"/>
            <p:nvPr/>
          </p:nvPicPr>
          <p:blipFill rotWithShape="1">
            <a:blip r:embed="rId3">
              <a:alphaModFix/>
            </a:blip>
            <a:srcRect l="22166" r="58194"/>
            <a:stretch/>
          </p:blipFill>
          <p:spPr>
            <a:xfrm>
              <a:off x="3904736" y="5873410"/>
              <a:ext cx="808351" cy="552289"/>
            </a:xfrm>
            <a:prstGeom prst="rect">
              <a:avLst/>
            </a:prstGeom>
            <a:noFill/>
            <a:ln>
              <a:noFill/>
            </a:ln>
          </p:spPr>
        </p:pic>
        <p:grpSp>
          <p:nvGrpSpPr>
            <p:cNvPr id="120" name="Google Shape;120;p16"/>
            <p:cNvGrpSpPr/>
            <p:nvPr/>
          </p:nvGrpSpPr>
          <p:grpSpPr>
            <a:xfrm>
              <a:off x="10295831" y="6033029"/>
              <a:ext cx="1207749" cy="371488"/>
              <a:chOff x="-84695" y="0"/>
              <a:chExt cx="1342391" cy="497840"/>
            </a:xfrm>
          </p:grpSpPr>
          <p:pic>
            <p:nvPicPr>
              <p:cNvPr id="121" name="Google Shape;121;p16"/>
              <p:cNvPicPr preferRelativeResize="0"/>
              <p:nvPr/>
            </p:nvPicPr>
            <p:blipFill rotWithShape="1">
              <a:blip r:embed="rId4">
                <a:alphaModFix/>
              </a:blip>
              <a:srcRect b="25892"/>
              <a:stretch/>
            </p:blipFill>
            <p:spPr>
              <a:xfrm>
                <a:off x="77230" y="0"/>
                <a:ext cx="1032510" cy="190500"/>
              </a:xfrm>
              <a:prstGeom prst="rect">
                <a:avLst/>
              </a:prstGeom>
              <a:noFill/>
              <a:ln>
                <a:noFill/>
              </a:ln>
            </p:spPr>
          </p:pic>
          <p:pic>
            <p:nvPicPr>
              <p:cNvPr id="122" name="Google Shape;122;p16"/>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123" name="Google Shape;123;p16"/>
            <p:cNvPicPr preferRelativeResize="0"/>
            <p:nvPr/>
          </p:nvPicPr>
          <p:blipFill rotWithShape="1">
            <a:blip r:embed="rId6">
              <a:alphaModFix/>
            </a:blip>
            <a:srcRect l="16492" r="21566"/>
            <a:stretch/>
          </p:blipFill>
          <p:spPr>
            <a:xfrm>
              <a:off x="4820000" y="5888763"/>
              <a:ext cx="3990165" cy="561270"/>
            </a:xfrm>
            <a:prstGeom prst="rect">
              <a:avLst/>
            </a:prstGeom>
            <a:noFill/>
            <a:ln>
              <a:noFill/>
            </a:ln>
          </p:spPr>
        </p:pic>
        <p:grpSp>
          <p:nvGrpSpPr>
            <p:cNvPr id="124" name="Google Shape;124;p16"/>
            <p:cNvGrpSpPr/>
            <p:nvPr/>
          </p:nvGrpSpPr>
          <p:grpSpPr>
            <a:xfrm>
              <a:off x="8811715" y="5855524"/>
              <a:ext cx="1484101" cy="594499"/>
              <a:chOff x="6594839" y="3910580"/>
              <a:chExt cx="2862849" cy="1146796"/>
            </a:xfrm>
          </p:grpSpPr>
          <p:pic>
            <p:nvPicPr>
              <p:cNvPr id="125" name="Google Shape;125;p16"/>
              <p:cNvPicPr preferRelativeResize="0"/>
              <p:nvPr/>
            </p:nvPicPr>
            <p:blipFill rotWithShape="1">
              <a:blip r:embed="rId7">
                <a:alphaModFix/>
              </a:blip>
              <a:srcRect l="78411"/>
              <a:stretch/>
            </p:blipFill>
            <p:spPr>
              <a:xfrm>
                <a:off x="6594839" y="3910580"/>
                <a:ext cx="2841375" cy="1146796"/>
              </a:xfrm>
              <a:prstGeom prst="rect">
                <a:avLst/>
              </a:prstGeom>
              <a:noFill/>
              <a:ln>
                <a:noFill/>
              </a:ln>
            </p:spPr>
          </p:pic>
          <p:grpSp>
            <p:nvGrpSpPr>
              <p:cNvPr id="126" name="Google Shape;126;p16"/>
              <p:cNvGrpSpPr/>
              <p:nvPr/>
            </p:nvGrpSpPr>
            <p:grpSpPr>
              <a:xfrm>
                <a:off x="7732447" y="4302004"/>
                <a:ext cx="1725241" cy="577751"/>
                <a:chOff x="7732447" y="4302004"/>
                <a:chExt cx="1725241" cy="577751"/>
              </a:xfrm>
            </p:grpSpPr>
            <p:pic>
              <p:nvPicPr>
                <p:cNvPr id="127" name="Google Shape;127;p16"/>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128" name="Google Shape;128;p16"/>
                <p:cNvPicPr preferRelativeResize="0"/>
                <p:nvPr/>
              </p:nvPicPr>
              <p:blipFill rotWithShape="1">
                <a:blip r:embed="rId9">
                  <a:alphaModFix/>
                </a:blip>
                <a:srcRect b="31993"/>
                <a:stretch/>
              </p:blipFill>
              <p:spPr>
                <a:xfrm>
                  <a:off x="7732447" y="4302004"/>
                  <a:ext cx="795251" cy="256273"/>
                </a:xfrm>
                <a:prstGeom prst="rect">
                  <a:avLst/>
                </a:prstGeom>
                <a:noFill/>
                <a:ln>
                  <a:noFill/>
                </a:ln>
              </p:spPr>
            </p:pic>
          </p:grpSp>
        </p:grpSp>
        <p:pic>
          <p:nvPicPr>
            <p:cNvPr id="129" name="Google Shape;129;p16"/>
            <p:cNvPicPr preferRelativeResize="0"/>
            <p:nvPr/>
          </p:nvPicPr>
          <p:blipFill rotWithShape="1">
            <a:blip r:embed="rId10">
              <a:alphaModFix/>
            </a:blip>
            <a:srcRect/>
            <a:stretch/>
          </p:blipFill>
          <p:spPr>
            <a:xfrm>
              <a:off x="2823000" y="5986650"/>
              <a:ext cx="936704" cy="371500"/>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0"/>
        <p:cNvGrpSpPr/>
        <p:nvPr/>
      </p:nvGrpSpPr>
      <p:grpSpPr>
        <a:xfrm>
          <a:off x="0" y="0"/>
          <a:ext cx="0" cy="0"/>
          <a:chOff x="0" y="0"/>
          <a:chExt cx="0" cy="0"/>
        </a:xfrm>
      </p:grpSpPr>
      <p:sp>
        <p:nvSpPr>
          <p:cNvPr id="131" name="Google Shape;131;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C4B05"/>
              </a:buClr>
              <a:buSzPts val="3200"/>
              <a:buFont typeface="League Spartan"/>
              <a:buNone/>
              <a:defRPr sz="3200">
                <a:solidFill>
                  <a:srgbClr val="0C4B05"/>
                </a:solidFill>
                <a:latin typeface="League Spartan"/>
                <a:ea typeface="League Spartan"/>
                <a:cs typeface="League Spartan"/>
                <a:sym typeface="League Spart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17"/>
          <p:cNvSpPr txBox="1">
            <a:spLocks noGrp="1"/>
          </p:cNvSpPr>
          <p:nvPr>
            <p:ph type="body" idx="1"/>
          </p:nvPr>
        </p:nvSpPr>
        <p:spPr>
          <a:xfrm>
            <a:off x="5183188" y="987425"/>
            <a:ext cx="59227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Garamond"/>
                <a:ea typeface="Garamond"/>
                <a:cs typeface="Garamond"/>
                <a:sym typeface="Garamond"/>
              </a:defRPr>
            </a:lvl1pPr>
            <a:lvl2pPr marL="914400" lvl="1" indent="-406400" algn="l">
              <a:lnSpc>
                <a:spcPct val="90000"/>
              </a:lnSpc>
              <a:spcBef>
                <a:spcPts val="500"/>
              </a:spcBef>
              <a:spcAft>
                <a:spcPts val="0"/>
              </a:spcAft>
              <a:buClr>
                <a:schemeClr val="dk1"/>
              </a:buClr>
              <a:buSzPts val="2800"/>
              <a:buChar char="•"/>
              <a:defRPr sz="2800">
                <a:latin typeface="Garamond"/>
                <a:ea typeface="Garamond"/>
                <a:cs typeface="Garamond"/>
                <a:sym typeface="Garamond"/>
              </a:defRPr>
            </a:lvl2pPr>
            <a:lvl3pPr marL="1371600" lvl="2" indent="-381000" algn="l">
              <a:lnSpc>
                <a:spcPct val="90000"/>
              </a:lnSpc>
              <a:spcBef>
                <a:spcPts val="500"/>
              </a:spcBef>
              <a:spcAft>
                <a:spcPts val="0"/>
              </a:spcAft>
              <a:buClr>
                <a:schemeClr val="dk1"/>
              </a:buClr>
              <a:buSzPts val="2400"/>
              <a:buChar char="•"/>
              <a:defRPr sz="2400">
                <a:latin typeface="Garamond"/>
                <a:ea typeface="Garamond"/>
                <a:cs typeface="Garamond"/>
                <a:sym typeface="Garamond"/>
              </a:defRPr>
            </a:lvl3pPr>
            <a:lvl4pPr marL="1828800" lvl="3" indent="-355600" algn="l">
              <a:lnSpc>
                <a:spcPct val="90000"/>
              </a:lnSpc>
              <a:spcBef>
                <a:spcPts val="500"/>
              </a:spcBef>
              <a:spcAft>
                <a:spcPts val="0"/>
              </a:spcAft>
              <a:buClr>
                <a:schemeClr val="dk1"/>
              </a:buClr>
              <a:buSzPts val="2000"/>
              <a:buChar char="•"/>
              <a:defRPr sz="2000">
                <a:latin typeface="Garamond"/>
                <a:ea typeface="Garamond"/>
                <a:cs typeface="Garamond"/>
                <a:sym typeface="Garamond"/>
              </a:defRPr>
            </a:lvl4pPr>
            <a:lvl5pPr marL="2286000" lvl="4" indent="-355600" algn="l">
              <a:lnSpc>
                <a:spcPct val="90000"/>
              </a:lnSpc>
              <a:spcBef>
                <a:spcPts val="500"/>
              </a:spcBef>
              <a:spcAft>
                <a:spcPts val="0"/>
              </a:spcAft>
              <a:buClr>
                <a:schemeClr val="dk1"/>
              </a:buClr>
              <a:buSzPts val="2000"/>
              <a:buChar char="•"/>
              <a:defRPr sz="2000">
                <a:latin typeface="Garamond"/>
                <a:ea typeface="Garamond"/>
                <a:cs typeface="Garamond"/>
                <a:sym typeface="Garamond"/>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3" name="Google Shape;133;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Garamond"/>
                <a:ea typeface="Garamond"/>
                <a:cs typeface="Garamond"/>
                <a:sym typeface="Garamon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4" name="Google Shape;134;p17"/>
          <p:cNvSpPr/>
          <p:nvPr/>
        </p:nvSpPr>
        <p:spPr>
          <a:xfrm>
            <a:off x="11636477" y="0"/>
            <a:ext cx="555523"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 name="Google Shape;135;p17"/>
          <p:cNvSpPr/>
          <p:nvPr/>
        </p:nvSpPr>
        <p:spPr>
          <a:xfrm flipH="1">
            <a:off x="11433256" y="0"/>
            <a:ext cx="226667"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6" name="Google Shape;136;p17"/>
          <p:cNvPicPr preferRelativeResize="0"/>
          <p:nvPr/>
        </p:nvPicPr>
        <p:blipFill rotWithShape="1">
          <a:blip r:embed="rId2">
            <a:alphaModFix/>
          </a:blip>
          <a:srcRect/>
          <a:stretch/>
        </p:blipFill>
        <p:spPr>
          <a:xfrm>
            <a:off x="200041" y="5814275"/>
            <a:ext cx="1984360" cy="1115911"/>
          </a:xfrm>
          <a:prstGeom prst="rect">
            <a:avLst/>
          </a:prstGeom>
          <a:noFill/>
          <a:ln>
            <a:noFill/>
          </a:ln>
        </p:spPr>
      </p:pic>
      <p:grpSp>
        <p:nvGrpSpPr>
          <p:cNvPr id="137" name="Google Shape;137;p17"/>
          <p:cNvGrpSpPr/>
          <p:nvPr/>
        </p:nvGrpSpPr>
        <p:grpSpPr>
          <a:xfrm>
            <a:off x="2468538" y="6074974"/>
            <a:ext cx="8680580" cy="594509"/>
            <a:chOff x="2823000" y="5855524"/>
            <a:chExt cx="8680580" cy="594509"/>
          </a:xfrm>
        </p:grpSpPr>
        <p:pic>
          <p:nvPicPr>
            <p:cNvPr id="138" name="Google Shape;138;p17"/>
            <p:cNvPicPr preferRelativeResize="0"/>
            <p:nvPr/>
          </p:nvPicPr>
          <p:blipFill rotWithShape="1">
            <a:blip r:embed="rId3">
              <a:alphaModFix/>
            </a:blip>
            <a:srcRect l="22166" r="58194"/>
            <a:stretch/>
          </p:blipFill>
          <p:spPr>
            <a:xfrm>
              <a:off x="3904736" y="5873410"/>
              <a:ext cx="808351" cy="552289"/>
            </a:xfrm>
            <a:prstGeom prst="rect">
              <a:avLst/>
            </a:prstGeom>
            <a:noFill/>
            <a:ln>
              <a:noFill/>
            </a:ln>
          </p:spPr>
        </p:pic>
        <p:grpSp>
          <p:nvGrpSpPr>
            <p:cNvPr id="139" name="Google Shape;139;p17"/>
            <p:cNvGrpSpPr/>
            <p:nvPr/>
          </p:nvGrpSpPr>
          <p:grpSpPr>
            <a:xfrm>
              <a:off x="10295831" y="6033029"/>
              <a:ext cx="1207749" cy="371488"/>
              <a:chOff x="-84695" y="0"/>
              <a:chExt cx="1342391" cy="497840"/>
            </a:xfrm>
          </p:grpSpPr>
          <p:pic>
            <p:nvPicPr>
              <p:cNvPr id="140" name="Google Shape;140;p17"/>
              <p:cNvPicPr preferRelativeResize="0"/>
              <p:nvPr/>
            </p:nvPicPr>
            <p:blipFill rotWithShape="1">
              <a:blip r:embed="rId4">
                <a:alphaModFix/>
              </a:blip>
              <a:srcRect b="25892"/>
              <a:stretch/>
            </p:blipFill>
            <p:spPr>
              <a:xfrm>
                <a:off x="77230" y="0"/>
                <a:ext cx="1032510" cy="190500"/>
              </a:xfrm>
              <a:prstGeom prst="rect">
                <a:avLst/>
              </a:prstGeom>
              <a:noFill/>
              <a:ln>
                <a:noFill/>
              </a:ln>
            </p:spPr>
          </p:pic>
          <p:pic>
            <p:nvPicPr>
              <p:cNvPr id="141" name="Google Shape;141;p17"/>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142" name="Google Shape;142;p17"/>
            <p:cNvPicPr preferRelativeResize="0"/>
            <p:nvPr/>
          </p:nvPicPr>
          <p:blipFill rotWithShape="1">
            <a:blip r:embed="rId6">
              <a:alphaModFix/>
            </a:blip>
            <a:srcRect l="16492" r="21566"/>
            <a:stretch/>
          </p:blipFill>
          <p:spPr>
            <a:xfrm>
              <a:off x="4820000" y="5888763"/>
              <a:ext cx="3990165" cy="561270"/>
            </a:xfrm>
            <a:prstGeom prst="rect">
              <a:avLst/>
            </a:prstGeom>
            <a:noFill/>
            <a:ln>
              <a:noFill/>
            </a:ln>
          </p:spPr>
        </p:pic>
        <p:grpSp>
          <p:nvGrpSpPr>
            <p:cNvPr id="143" name="Google Shape;143;p17"/>
            <p:cNvGrpSpPr/>
            <p:nvPr/>
          </p:nvGrpSpPr>
          <p:grpSpPr>
            <a:xfrm>
              <a:off x="8811715" y="5855524"/>
              <a:ext cx="1484101" cy="594499"/>
              <a:chOff x="6594839" y="3910580"/>
              <a:chExt cx="2862849" cy="1146796"/>
            </a:xfrm>
          </p:grpSpPr>
          <p:pic>
            <p:nvPicPr>
              <p:cNvPr id="144" name="Google Shape;144;p17"/>
              <p:cNvPicPr preferRelativeResize="0"/>
              <p:nvPr/>
            </p:nvPicPr>
            <p:blipFill rotWithShape="1">
              <a:blip r:embed="rId7">
                <a:alphaModFix/>
              </a:blip>
              <a:srcRect l="78411"/>
              <a:stretch/>
            </p:blipFill>
            <p:spPr>
              <a:xfrm>
                <a:off x="6594839" y="3910580"/>
                <a:ext cx="2841375" cy="1146796"/>
              </a:xfrm>
              <a:prstGeom prst="rect">
                <a:avLst/>
              </a:prstGeom>
              <a:noFill/>
              <a:ln>
                <a:noFill/>
              </a:ln>
            </p:spPr>
          </p:pic>
          <p:grpSp>
            <p:nvGrpSpPr>
              <p:cNvPr id="145" name="Google Shape;145;p17"/>
              <p:cNvGrpSpPr/>
              <p:nvPr/>
            </p:nvGrpSpPr>
            <p:grpSpPr>
              <a:xfrm>
                <a:off x="7732447" y="4302004"/>
                <a:ext cx="1725241" cy="577751"/>
                <a:chOff x="7732447" y="4302004"/>
                <a:chExt cx="1725241" cy="577751"/>
              </a:xfrm>
            </p:grpSpPr>
            <p:pic>
              <p:nvPicPr>
                <p:cNvPr id="146" name="Google Shape;146;p17"/>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147" name="Google Shape;147;p17"/>
                <p:cNvPicPr preferRelativeResize="0"/>
                <p:nvPr/>
              </p:nvPicPr>
              <p:blipFill rotWithShape="1">
                <a:blip r:embed="rId9">
                  <a:alphaModFix/>
                </a:blip>
                <a:srcRect b="31993"/>
                <a:stretch/>
              </p:blipFill>
              <p:spPr>
                <a:xfrm>
                  <a:off x="7732447" y="4302004"/>
                  <a:ext cx="795251" cy="256273"/>
                </a:xfrm>
                <a:prstGeom prst="rect">
                  <a:avLst/>
                </a:prstGeom>
                <a:noFill/>
                <a:ln>
                  <a:noFill/>
                </a:ln>
              </p:spPr>
            </p:pic>
          </p:grpSp>
        </p:grpSp>
        <p:pic>
          <p:nvPicPr>
            <p:cNvPr id="148" name="Google Shape;148;p17"/>
            <p:cNvPicPr preferRelativeResize="0"/>
            <p:nvPr/>
          </p:nvPicPr>
          <p:blipFill rotWithShape="1">
            <a:blip r:embed="rId10">
              <a:alphaModFix/>
            </a:blip>
            <a:srcRect/>
            <a:stretch/>
          </p:blipFill>
          <p:spPr>
            <a:xfrm>
              <a:off x="2823000" y="5986650"/>
              <a:ext cx="936704" cy="371500"/>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9"/>
        <p:cNvGrpSpPr/>
        <p:nvPr/>
      </p:nvGrpSpPr>
      <p:grpSpPr>
        <a:xfrm>
          <a:off x="0" y="0"/>
          <a:ext cx="0" cy="0"/>
          <a:chOff x="0" y="0"/>
          <a:chExt cx="0" cy="0"/>
        </a:xfrm>
      </p:grpSpPr>
      <p:sp>
        <p:nvSpPr>
          <p:cNvPr id="150" name="Google Shape;150;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C4B05"/>
              </a:buClr>
              <a:buSzPts val="3200"/>
              <a:buFont typeface="League Spartan"/>
              <a:buNone/>
              <a:defRPr sz="3200">
                <a:solidFill>
                  <a:srgbClr val="0C4B05"/>
                </a:solidFill>
                <a:latin typeface="League Spartan"/>
                <a:ea typeface="League Spartan"/>
                <a:cs typeface="League Spartan"/>
                <a:sym typeface="League Spart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Garamond"/>
                <a:ea typeface="Garamond"/>
                <a:cs typeface="Garamond"/>
                <a:sym typeface="Garamon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2" name="Google Shape;152;p18"/>
          <p:cNvSpPr/>
          <p:nvPr/>
        </p:nvSpPr>
        <p:spPr>
          <a:xfrm>
            <a:off x="11636477" y="0"/>
            <a:ext cx="555523"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 name="Google Shape;153;p18"/>
          <p:cNvSpPr/>
          <p:nvPr/>
        </p:nvSpPr>
        <p:spPr>
          <a:xfrm flipH="1">
            <a:off x="11433256" y="0"/>
            <a:ext cx="226667"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4" name="Google Shape;154;p18"/>
          <p:cNvPicPr preferRelativeResize="0"/>
          <p:nvPr/>
        </p:nvPicPr>
        <p:blipFill rotWithShape="1">
          <a:blip r:embed="rId2">
            <a:alphaModFix/>
          </a:blip>
          <a:srcRect/>
          <a:stretch/>
        </p:blipFill>
        <p:spPr>
          <a:xfrm>
            <a:off x="200041" y="5814275"/>
            <a:ext cx="1984360" cy="1115911"/>
          </a:xfrm>
          <a:prstGeom prst="rect">
            <a:avLst/>
          </a:prstGeom>
          <a:noFill/>
          <a:ln>
            <a:noFill/>
          </a:ln>
        </p:spPr>
      </p:pic>
      <p:sp>
        <p:nvSpPr>
          <p:cNvPr id="155" name="Google Shape;155;p18"/>
          <p:cNvSpPr>
            <a:spLocks noGrp="1"/>
          </p:cNvSpPr>
          <p:nvPr>
            <p:ph type="pic" idx="2"/>
          </p:nvPr>
        </p:nvSpPr>
        <p:spPr>
          <a:xfrm>
            <a:off x="5204481" y="457200"/>
            <a:ext cx="5884265" cy="5357075"/>
          </a:xfrm>
          <a:prstGeom prst="snip2DiagRect">
            <a:avLst>
              <a:gd name="adj1" fmla="val 1734"/>
              <a:gd name="adj2" fmla="val 8351"/>
            </a:avLst>
          </a:prstGeom>
          <a:noFill/>
          <a:ln w="12700" cap="flat" cmpd="sng">
            <a:solidFill>
              <a:srgbClr val="FFB800"/>
            </a:solidFill>
            <a:prstDash val="solid"/>
            <a:round/>
            <a:headEnd type="none" w="sm" len="sm"/>
            <a:tailEnd type="none" w="sm" len="sm"/>
          </a:ln>
        </p:spPr>
      </p:sp>
      <p:grpSp>
        <p:nvGrpSpPr>
          <p:cNvPr id="156" name="Google Shape;156;p18"/>
          <p:cNvGrpSpPr/>
          <p:nvPr/>
        </p:nvGrpSpPr>
        <p:grpSpPr>
          <a:xfrm>
            <a:off x="2513975" y="6074974"/>
            <a:ext cx="8680580" cy="594509"/>
            <a:chOff x="2823000" y="5855524"/>
            <a:chExt cx="8680580" cy="594509"/>
          </a:xfrm>
        </p:grpSpPr>
        <p:pic>
          <p:nvPicPr>
            <p:cNvPr id="157" name="Google Shape;157;p18"/>
            <p:cNvPicPr preferRelativeResize="0"/>
            <p:nvPr/>
          </p:nvPicPr>
          <p:blipFill rotWithShape="1">
            <a:blip r:embed="rId3">
              <a:alphaModFix/>
            </a:blip>
            <a:srcRect l="22166" r="58194"/>
            <a:stretch/>
          </p:blipFill>
          <p:spPr>
            <a:xfrm>
              <a:off x="3904736" y="5873410"/>
              <a:ext cx="808351" cy="552289"/>
            </a:xfrm>
            <a:prstGeom prst="rect">
              <a:avLst/>
            </a:prstGeom>
            <a:noFill/>
            <a:ln>
              <a:noFill/>
            </a:ln>
          </p:spPr>
        </p:pic>
        <p:grpSp>
          <p:nvGrpSpPr>
            <p:cNvPr id="158" name="Google Shape;158;p18"/>
            <p:cNvGrpSpPr/>
            <p:nvPr/>
          </p:nvGrpSpPr>
          <p:grpSpPr>
            <a:xfrm>
              <a:off x="10295831" y="6033029"/>
              <a:ext cx="1207749" cy="371488"/>
              <a:chOff x="-84695" y="0"/>
              <a:chExt cx="1342391" cy="497840"/>
            </a:xfrm>
          </p:grpSpPr>
          <p:pic>
            <p:nvPicPr>
              <p:cNvPr id="159" name="Google Shape;159;p18"/>
              <p:cNvPicPr preferRelativeResize="0"/>
              <p:nvPr/>
            </p:nvPicPr>
            <p:blipFill rotWithShape="1">
              <a:blip r:embed="rId4">
                <a:alphaModFix/>
              </a:blip>
              <a:srcRect b="25892"/>
              <a:stretch/>
            </p:blipFill>
            <p:spPr>
              <a:xfrm>
                <a:off x="77230" y="0"/>
                <a:ext cx="1032510" cy="190500"/>
              </a:xfrm>
              <a:prstGeom prst="rect">
                <a:avLst/>
              </a:prstGeom>
              <a:noFill/>
              <a:ln>
                <a:noFill/>
              </a:ln>
            </p:spPr>
          </p:pic>
          <p:pic>
            <p:nvPicPr>
              <p:cNvPr id="160" name="Google Shape;160;p18"/>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161" name="Google Shape;161;p18"/>
            <p:cNvPicPr preferRelativeResize="0"/>
            <p:nvPr/>
          </p:nvPicPr>
          <p:blipFill rotWithShape="1">
            <a:blip r:embed="rId6">
              <a:alphaModFix/>
            </a:blip>
            <a:srcRect l="16492" r="21566"/>
            <a:stretch/>
          </p:blipFill>
          <p:spPr>
            <a:xfrm>
              <a:off x="4820000" y="5888763"/>
              <a:ext cx="3990165" cy="561270"/>
            </a:xfrm>
            <a:prstGeom prst="rect">
              <a:avLst/>
            </a:prstGeom>
            <a:noFill/>
            <a:ln>
              <a:noFill/>
            </a:ln>
          </p:spPr>
        </p:pic>
        <p:grpSp>
          <p:nvGrpSpPr>
            <p:cNvPr id="162" name="Google Shape;162;p18"/>
            <p:cNvGrpSpPr/>
            <p:nvPr/>
          </p:nvGrpSpPr>
          <p:grpSpPr>
            <a:xfrm>
              <a:off x="8811715" y="5855524"/>
              <a:ext cx="1484101" cy="594499"/>
              <a:chOff x="6594839" y="3910580"/>
              <a:chExt cx="2862849" cy="1146796"/>
            </a:xfrm>
          </p:grpSpPr>
          <p:pic>
            <p:nvPicPr>
              <p:cNvPr id="163" name="Google Shape;163;p18"/>
              <p:cNvPicPr preferRelativeResize="0"/>
              <p:nvPr/>
            </p:nvPicPr>
            <p:blipFill rotWithShape="1">
              <a:blip r:embed="rId7">
                <a:alphaModFix/>
              </a:blip>
              <a:srcRect l="78411"/>
              <a:stretch/>
            </p:blipFill>
            <p:spPr>
              <a:xfrm>
                <a:off x="6594839" y="3910580"/>
                <a:ext cx="2841375" cy="1146796"/>
              </a:xfrm>
              <a:prstGeom prst="rect">
                <a:avLst/>
              </a:prstGeom>
              <a:noFill/>
              <a:ln>
                <a:noFill/>
              </a:ln>
            </p:spPr>
          </p:pic>
          <p:grpSp>
            <p:nvGrpSpPr>
              <p:cNvPr id="164" name="Google Shape;164;p18"/>
              <p:cNvGrpSpPr/>
              <p:nvPr/>
            </p:nvGrpSpPr>
            <p:grpSpPr>
              <a:xfrm>
                <a:off x="7732447" y="4302004"/>
                <a:ext cx="1725241" cy="577751"/>
                <a:chOff x="7732447" y="4302004"/>
                <a:chExt cx="1725241" cy="577751"/>
              </a:xfrm>
            </p:grpSpPr>
            <p:pic>
              <p:nvPicPr>
                <p:cNvPr id="165" name="Google Shape;165;p18"/>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166" name="Google Shape;166;p18"/>
                <p:cNvPicPr preferRelativeResize="0"/>
                <p:nvPr/>
              </p:nvPicPr>
              <p:blipFill rotWithShape="1">
                <a:blip r:embed="rId9">
                  <a:alphaModFix/>
                </a:blip>
                <a:srcRect b="31993"/>
                <a:stretch/>
              </p:blipFill>
              <p:spPr>
                <a:xfrm>
                  <a:off x="7732447" y="4302004"/>
                  <a:ext cx="795251" cy="256273"/>
                </a:xfrm>
                <a:prstGeom prst="rect">
                  <a:avLst/>
                </a:prstGeom>
                <a:noFill/>
                <a:ln>
                  <a:noFill/>
                </a:ln>
              </p:spPr>
            </p:pic>
          </p:grpSp>
        </p:grpSp>
        <p:pic>
          <p:nvPicPr>
            <p:cNvPr id="167" name="Google Shape;167;p18"/>
            <p:cNvPicPr preferRelativeResize="0"/>
            <p:nvPr/>
          </p:nvPicPr>
          <p:blipFill rotWithShape="1">
            <a:blip r:embed="rId10">
              <a:alphaModFix/>
            </a:blip>
            <a:srcRect/>
            <a:stretch/>
          </p:blipFill>
          <p:spPr>
            <a:xfrm>
              <a:off x="2823000" y="5986650"/>
              <a:ext cx="936704" cy="371500"/>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nsitutional Identity">
  <p:cSld name="Insitutional Identity">
    <p:spTree>
      <p:nvGrpSpPr>
        <p:cNvPr id="1" name="Shape 174"/>
        <p:cNvGrpSpPr/>
        <p:nvPr/>
      </p:nvGrpSpPr>
      <p:grpSpPr>
        <a:xfrm>
          <a:off x="0" y="0"/>
          <a:ext cx="0" cy="0"/>
          <a:chOff x="0" y="0"/>
          <a:chExt cx="0" cy="0"/>
        </a:xfrm>
      </p:grpSpPr>
      <p:pic>
        <p:nvPicPr>
          <p:cNvPr id="175" name="Google Shape;175;g3a981422744_2_6"/>
          <p:cNvPicPr preferRelativeResize="0"/>
          <p:nvPr/>
        </p:nvPicPr>
        <p:blipFill rotWithShape="1">
          <a:blip r:embed="rId2">
            <a:alphaModFix/>
          </a:blip>
          <a:srcRect/>
          <a:stretch/>
        </p:blipFill>
        <p:spPr>
          <a:xfrm>
            <a:off x="-1" y="0"/>
            <a:ext cx="12200307" cy="6858000"/>
          </a:xfrm>
          <a:prstGeom prst="rect">
            <a:avLst/>
          </a:prstGeom>
          <a:noFill/>
          <a:ln>
            <a:noFill/>
          </a:ln>
        </p:spPr>
      </p:pic>
      <p:sp>
        <p:nvSpPr>
          <p:cNvPr id="176" name="Google Shape;176;g3a981422744_2_6"/>
          <p:cNvSpPr/>
          <p:nvPr/>
        </p:nvSpPr>
        <p:spPr>
          <a:xfrm>
            <a:off x="0" y="0"/>
            <a:ext cx="12192000" cy="6858000"/>
          </a:xfrm>
          <a:prstGeom prst="rect">
            <a:avLst/>
          </a:prstGeom>
          <a:solidFill>
            <a:srgbClr val="084801">
              <a:alpha val="5686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7" name="Google Shape;177;g3a981422744_2_6"/>
          <p:cNvSpPr/>
          <p:nvPr/>
        </p:nvSpPr>
        <p:spPr>
          <a:xfrm>
            <a:off x="178020" y="1049193"/>
            <a:ext cx="11887200" cy="49456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8" name="Google Shape;178;g3a981422744_2_6"/>
          <p:cNvPicPr preferRelativeResize="0"/>
          <p:nvPr/>
        </p:nvPicPr>
        <p:blipFill rotWithShape="1">
          <a:blip r:embed="rId3">
            <a:alphaModFix/>
          </a:blip>
          <a:srcRect/>
          <a:stretch/>
        </p:blipFill>
        <p:spPr>
          <a:xfrm>
            <a:off x="612808" y="1461492"/>
            <a:ext cx="7480284" cy="1728000"/>
          </a:xfrm>
          <a:prstGeom prst="rect">
            <a:avLst/>
          </a:prstGeom>
          <a:noFill/>
          <a:ln>
            <a:noFill/>
          </a:ln>
        </p:spPr>
      </p:pic>
      <p:sp>
        <p:nvSpPr>
          <p:cNvPr id="179" name="Google Shape;179;g3a981422744_2_6"/>
          <p:cNvSpPr/>
          <p:nvPr/>
        </p:nvSpPr>
        <p:spPr>
          <a:xfrm>
            <a:off x="170613" y="1033272"/>
            <a:ext cx="11887200" cy="146304"/>
          </a:xfrm>
          <a:prstGeom prst="rect">
            <a:avLst/>
          </a:prstGeom>
          <a:solidFill>
            <a:srgbClr val="ECBD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0" name="Google Shape;180;g3a981422744_2_6"/>
          <p:cNvSpPr/>
          <p:nvPr/>
        </p:nvSpPr>
        <p:spPr>
          <a:xfrm>
            <a:off x="176284" y="5984788"/>
            <a:ext cx="11887200" cy="195324"/>
          </a:xfrm>
          <a:prstGeom prst="rect">
            <a:avLst/>
          </a:prstGeom>
          <a:solidFill>
            <a:srgbClr val="08480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81" name="Google Shape;181;g3a981422744_2_6"/>
          <p:cNvPicPr preferRelativeResize="0"/>
          <p:nvPr/>
        </p:nvPicPr>
        <p:blipFill rotWithShape="1">
          <a:blip r:embed="rId4">
            <a:alphaModFix/>
          </a:blip>
          <a:srcRect l="22167" r="58194"/>
          <a:stretch/>
        </p:blipFill>
        <p:spPr>
          <a:xfrm>
            <a:off x="3608912" y="4207422"/>
            <a:ext cx="1481314" cy="1012055"/>
          </a:xfrm>
          <a:prstGeom prst="rect">
            <a:avLst/>
          </a:prstGeom>
          <a:noFill/>
          <a:ln>
            <a:noFill/>
          </a:ln>
        </p:spPr>
      </p:pic>
      <p:pic>
        <p:nvPicPr>
          <p:cNvPr id="182" name="Google Shape;182;g3a981422744_2_6"/>
          <p:cNvPicPr preferRelativeResize="0"/>
          <p:nvPr/>
        </p:nvPicPr>
        <p:blipFill rotWithShape="1">
          <a:blip r:embed="rId5">
            <a:alphaModFix/>
          </a:blip>
          <a:srcRect l="16496" r="20981"/>
          <a:stretch/>
        </p:blipFill>
        <p:spPr>
          <a:xfrm>
            <a:off x="1792420" y="4976675"/>
            <a:ext cx="8230000" cy="1146796"/>
          </a:xfrm>
          <a:prstGeom prst="rect">
            <a:avLst/>
          </a:prstGeom>
          <a:noFill/>
          <a:ln>
            <a:noFill/>
          </a:ln>
        </p:spPr>
      </p:pic>
      <p:pic>
        <p:nvPicPr>
          <p:cNvPr id="183" name="Google Shape;183;g3a981422744_2_6"/>
          <p:cNvPicPr preferRelativeResize="0"/>
          <p:nvPr/>
        </p:nvPicPr>
        <p:blipFill rotWithShape="1">
          <a:blip r:embed="rId6">
            <a:alphaModFix/>
          </a:blip>
          <a:srcRect/>
          <a:stretch/>
        </p:blipFill>
        <p:spPr>
          <a:xfrm>
            <a:off x="9808471" y="1540362"/>
            <a:ext cx="1653957" cy="1548000"/>
          </a:xfrm>
          <a:prstGeom prst="rect">
            <a:avLst/>
          </a:prstGeom>
          <a:noFill/>
          <a:ln>
            <a:noFill/>
          </a:ln>
        </p:spPr>
      </p:pic>
      <p:grpSp>
        <p:nvGrpSpPr>
          <p:cNvPr id="184" name="Google Shape;184;g3a981422744_2_6"/>
          <p:cNvGrpSpPr/>
          <p:nvPr/>
        </p:nvGrpSpPr>
        <p:grpSpPr>
          <a:xfrm>
            <a:off x="5284408" y="4140717"/>
            <a:ext cx="2862850" cy="1146796"/>
            <a:chOff x="6544299" y="3910580"/>
            <a:chExt cx="2862850" cy="1146796"/>
          </a:xfrm>
        </p:grpSpPr>
        <p:pic>
          <p:nvPicPr>
            <p:cNvPr id="185" name="Google Shape;185;g3a981422744_2_6"/>
            <p:cNvPicPr preferRelativeResize="0"/>
            <p:nvPr/>
          </p:nvPicPr>
          <p:blipFill rotWithShape="1">
            <a:blip r:embed="rId5">
              <a:alphaModFix/>
            </a:blip>
            <a:srcRect l="78412"/>
            <a:stretch/>
          </p:blipFill>
          <p:spPr>
            <a:xfrm>
              <a:off x="6544299" y="3910580"/>
              <a:ext cx="2841376" cy="1146796"/>
            </a:xfrm>
            <a:prstGeom prst="rect">
              <a:avLst/>
            </a:prstGeom>
            <a:noFill/>
            <a:ln>
              <a:noFill/>
            </a:ln>
          </p:spPr>
        </p:pic>
        <p:grpSp>
          <p:nvGrpSpPr>
            <p:cNvPr id="186" name="Google Shape;186;g3a981422744_2_6"/>
            <p:cNvGrpSpPr/>
            <p:nvPr/>
          </p:nvGrpSpPr>
          <p:grpSpPr>
            <a:xfrm>
              <a:off x="7681907" y="4302004"/>
              <a:ext cx="1725242" cy="577751"/>
              <a:chOff x="7681907" y="4302004"/>
              <a:chExt cx="1725242" cy="577751"/>
            </a:xfrm>
          </p:grpSpPr>
          <p:pic>
            <p:nvPicPr>
              <p:cNvPr id="187" name="Google Shape;187;g3a981422744_2_6"/>
              <p:cNvPicPr preferRelativeResize="0"/>
              <p:nvPr/>
            </p:nvPicPr>
            <p:blipFill rotWithShape="1">
              <a:blip r:embed="rId7">
                <a:alphaModFix/>
              </a:blip>
              <a:srcRect/>
              <a:stretch/>
            </p:blipFill>
            <p:spPr>
              <a:xfrm>
                <a:off x="7683644" y="4475202"/>
                <a:ext cx="1723505" cy="404553"/>
              </a:xfrm>
              <a:prstGeom prst="rect">
                <a:avLst/>
              </a:prstGeom>
              <a:noFill/>
              <a:ln>
                <a:noFill/>
              </a:ln>
            </p:spPr>
          </p:pic>
          <p:pic>
            <p:nvPicPr>
              <p:cNvPr id="188" name="Google Shape;188;g3a981422744_2_6"/>
              <p:cNvPicPr preferRelativeResize="0"/>
              <p:nvPr/>
            </p:nvPicPr>
            <p:blipFill rotWithShape="1">
              <a:blip r:embed="rId8">
                <a:alphaModFix/>
              </a:blip>
              <a:srcRect b="31992"/>
              <a:stretch/>
            </p:blipFill>
            <p:spPr>
              <a:xfrm>
                <a:off x="7681907" y="4302004"/>
                <a:ext cx="795251" cy="256273"/>
              </a:xfrm>
              <a:prstGeom prst="rect">
                <a:avLst/>
              </a:prstGeom>
              <a:noFill/>
              <a:ln>
                <a:noFill/>
              </a:ln>
            </p:spPr>
          </p:pic>
        </p:grpSp>
      </p:grpSp>
      <p:grpSp>
        <p:nvGrpSpPr>
          <p:cNvPr id="189" name="Google Shape;189;g3a981422744_2_6"/>
          <p:cNvGrpSpPr/>
          <p:nvPr/>
        </p:nvGrpSpPr>
        <p:grpSpPr>
          <a:xfrm>
            <a:off x="8252274" y="4422811"/>
            <a:ext cx="2264961" cy="696636"/>
            <a:chOff x="0" y="0"/>
            <a:chExt cx="1342390" cy="497840"/>
          </a:xfrm>
        </p:grpSpPr>
        <p:pic>
          <p:nvPicPr>
            <p:cNvPr id="190" name="Google Shape;190;g3a981422744_2_6"/>
            <p:cNvPicPr preferRelativeResize="0"/>
            <p:nvPr/>
          </p:nvPicPr>
          <p:blipFill rotWithShape="1">
            <a:blip r:embed="rId9">
              <a:alphaModFix/>
            </a:blip>
            <a:srcRect t="1" b="25891"/>
            <a:stretch/>
          </p:blipFill>
          <p:spPr>
            <a:xfrm>
              <a:off x="161925" y="0"/>
              <a:ext cx="1032510" cy="190500"/>
            </a:xfrm>
            <a:prstGeom prst="rect">
              <a:avLst/>
            </a:prstGeom>
            <a:noFill/>
            <a:ln>
              <a:noFill/>
            </a:ln>
          </p:spPr>
        </p:pic>
        <p:pic>
          <p:nvPicPr>
            <p:cNvPr id="191" name="Google Shape;191;g3a981422744_2_6"/>
            <p:cNvPicPr preferRelativeResize="0"/>
            <p:nvPr/>
          </p:nvPicPr>
          <p:blipFill rotWithShape="1">
            <a:blip r:embed="rId10">
              <a:alphaModFix/>
            </a:blip>
            <a:srcRect/>
            <a:stretch/>
          </p:blipFill>
          <p:spPr>
            <a:xfrm>
              <a:off x="0" y="57150"/>
              <a:ext cx="1342390" cy="440690"/>
            </a:xfrm>
            <a:prstGeom prst="rect">
              <a:avLst/>
            </a:prstGeom>
            <a:noFill/>
            <a:ln>
              <a:noFill/>
            </a:ln>
          </p:spPr>
        </p:pic>
      </p:grpSp>
      <p:pic>
        <p:nvPicPr>
          <p:cNvPr id="192" name="Google Shape;192;g3a981422744_2_6"/>
          <p:cNvPicPr preferRelativeResize="0"/>
          <p:nvPr/>
        </p:nvPicPr>
        <p:blipFill rotWithShape="1">
          <a:blip r:embed="rId11">
            <a:alphaModFix/>
          </a:blip>
          <a:srcRect/>
          <a:stretch/>
        </p:blipFill>
        <p:spPr>
          <a:xfrm>
            <a:off x="1712737" y="4428637"/>
            <a:ext cx="1541525" cy="611375"/>
          </a:xfrm>
          <a:prstGeom prst="rect">
            <a:avLst/>
          </a:prstGeom>
          <a:noFill/>
          <a:ln>
            <a:noFill/>
          </a:ln>
        </p:spPr>
      </p:pic>
      <p:cxnSp>
        <p:nvCxnSpPr>
          <p:cNvPr id="193" name="Google Shape;193;g3a981422744_2_6"/>
          <p:cNvCxnSpPr/>
          <p:nvPr/>
        </p:nvCxnSpPr>
        <p:spPr>
          <a:xfrm>
            <a:off x="1702577" y="4170197"/>
            <a:ext cx="8700597" cy="0"/>
          </a:xfrm>
          <a:prstGeom prst="straightConnector1">
            <a:avLst/>
          </a:prstGeom>
          <a:noFill/>
          <a:ln w="28575" cap="flat" cmpd="sng">
            <a:solidFill>
              <a:srgbClr val="0C4B05"/>
            </a:solidFill>
            <a:prstDash val="solid"/>
            <a:round/>
            <a:headEnd type="none" w="sm" len="sm"/>
            <a:tailEnd type="none" w="sm" len="sm"/>
          </a:ln>
        </p:spPr>
      </p:cxnSp>
      <p:pic>
        <p:nvPicPr>
          <p:cNvPr id="194" name="Google Shape;194;g3a981422744_2_6"/>
          <p:cNvPicPr preferRelativeResize="0"/>
          <p:nvPr/>
        </p:nvPicPr>
        <p:blipFill rotWithShape="1">
          <a:blip r:embed="rId12">
            <a:alphaModFix/>
          </a:blip>
          <a:srcRect/>
          <a:stretch/>
        </p:blipFill>
        <p:spPr>
          <a:xfrm>
            <a:off x="2654320" y="3486924"/>
            <a:ext cx="6934599" cy="560512"/>
          </a:xfrm>
          <a:prstGeom prst="rect">
            <a:avLst/>
          </a:prstGeom>
          <a:noFill/>
          <a:ln>
            <a:noFill/>
          </a:ln>
        </p:spPr>
      </p:pic>
      <p:pic>
        <p:nvPicPr>
          <p:cNvPr id="195" name="Google Shape;195;g3a981422744_2_6"/>
          <p:cNvPicPr preferRelativeResize="0"/>
          <p:nvPr/>
        </p:nvPicPr>
        <p:blipFill rotWithShape="1">
          <a:blip r:embed="rId13">
            <a:alphaModFix/>
          </a:blip>
          <a:srcRect/>
          <a:stretch/>
        </p:blipFill>
        <p:spPr>
          <a:xfrm>
            <a:off x="6653362" y="5203800"/>
            <a:ext cx="3670036" cy="696650"/>
          </a:xfrm>
          <a:prstGeom prst="rect">
            <a:avLst/>
          </a:prstGeom>
          <a:noFill/>
          <a:ln>
            <a:noFill/>
          </a:ln>
        </p:spPr>
      </p:pic>
      <p:pic>
        <p:nvPicPr>
          <p:cNvPr id="196" name="Google Shape;196;g3a981422744_2_6"/>
          <p:cNvPicPr preferRelativeResize="0"/>
          <p:nvPr/>
        </p:nvPicPr>
        <p:blipFill rotWithShape="1">
          <a:blip r:embed="rId14">
            <a:alphaModFix/>
          </a:blip>
          <a:srcRect/>
          <a:stretch/>
        </p:blipFill>
        <p:spPr>
          <a:xfrm>
            <a:off x="0" y="0"/>
            <a:ext cx="12192000" cy="6858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gment title">
  <p:cSld name="Segment title">
    <p:spTree>
      <p:nvGrpSpPr>
        <p:cNvPr id="1" name="Shape 197"/>
        <p:cNvGrpSpPr/>
        <p:nvPr/>
      </p:nvGrpSpPr>
      <p:grpSpPr>
        <a:xfrm>
          <a:off x="0" y="0"/>
          <a:ext cx="0" cy="0"/>
          <a:chOff x="0" y="0"/>
          <a:chExt cx="0" cy="0"/>
        </a:xfrm>
      </p:grpSpPr>
      <p:sp>
        <p:nvSpPr>
          <p:cNvPr id="198" name="Google Shape;198;g3a981422744_2_29"/>
          <p:cNvSpPr txBox="1">
            <a:spLocks noGrp="1"/>
          </p:cNvSpPr>
          <p:nvPr>
            <p:ph type="ctrTitle"/>
          </p:nvPr>
        </p:nvSpPr>
        <p:spPr>
          <a:xfrm>
            <a:off x="463982" y="845485"/>
            <a:ext cx="8515895"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C4B05"/>
              </a:buClr>
              <a:buSzPts val="6000"/>
              <a:buFont typeface="League Spartan"/>
              <a:buNone/>
              <a:defRPr sz="6000">
                <a:solidFill>
                  <a:srgbClr val="0C4B05"/>
                </a:solidFill>
                <a:latin typeface="League Spartan"/>
                <a:ea typeface="League Spartan"/>
                <a:cs typeface="League Spartan"/>
                <a:sym typeface="League Spart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g3a981422744_2_29"/>
          <p:cNvSpPr txBox="1">
            <a:spLocks noGrp="1"/>
          </p:cNvSpPr>
          <p:nvPr>
            <p:ph type="subTitle" idx="1"/>
          </p:nvPr>
        </p:nvSpPr>
        <p:spPr>
          <a:xfrm>
            <a:off x="463982" y="3429070"/>
            <a:ext cx="8515895"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dk1"/>
              </a:buClr>
              <a:buSzPts val="2800"/>
              <a:buNone/>
              <a:defRPr sz="2800" b="0">
                <a:latin typeface="Garamond"/>
                <a:ea typeface="Garamond"/>
                <a:cs typeface="Garamond"/>
                <a:sym typeface="Garamon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0" name="Google Shape;200;g3a981422744_2_29"/>
          <p:cNvSpPr/>
          <p:nvPr/>
        </p:nvSpPr>
        <p:spPr>
          <a:xfrm>
            <a:off x="10329863" y="0"/>
            <a:ext cx="1862100"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 name="Google Shape;201;g3a981422744_2_29"/>
          <p:cNvSpPr/>
          <p:nvPr/>
        </p:nvSpPr>
        <p:spPr>
          <a:xfrm flipH="1">
            <a:off x="9736525" y="0"/>
            <a:ext cx="593338"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02" name="Google Shape;202;g3a981422744_2_29"/>
          <p:cNvPicPr preferRelativeResize="0"/>
          <p:nvPr/>
        </p:nvPicPr>
        <p:blipFill rotWithShape="1">
          <a:blip r:embed="rId2">
            <a:alphaModFix/>
          </a:blip>
          <a:srcRect/>
          <a:stretch/>
        </p:blipFill>
        <p:spPr>
          <a:xfrm>
            <a:off x="10461687" y="21425"/>
            <a:ext cx="1598474" cy="1598474"/>
          </a:xfrm>
          <a:prstGeom prst="rect">
            <a:avLst/>
          </a:prstGeom>
          <a:noFill/>
          <a:ln>
            <a:noFill/>
          </a:ln>
        </p:spPr>
      </p:pic>
      <p:grpSp>
        <p:nvGrpSpPr>
          <p:cNvPr id="203" name="Google Shape;203;g3a981422744_2_29"/>
          <p:cNvGrpSpPr/>
          <p:nvPr/>
        </p:nvGrpSpPr>
        <p:grpSpPr>
          <a:xfrm>
            <a:off x="1376675" y="5681399"/>
            <a:ext cx="6927617" cy="1176613"/>
            <a:chOff x="1071875" y="5681399"/>
            <a:chExt cx="6927617" cy="1176613"/>
          </a:xfrm>
        </p:grpSpPr>
        <p:pic>
          <p:nvPicPr>
            <p:cNvPr id="204" name="Google Shape;204;g3a981422744_2_29"/>
            <p:cNvPicPr preferRelativeResize="0"/>
            <p:nvPr/>
          </p:nvPicPr>
          <p:blipFill rotWithShape="1">
            <a:blip r:embed="rId3">
              <a:alphaModFix/>
            </a:blip>
            <a:srcRect/>
            <a:stretch/>
          </p:blipFill>
          <p:spPr>
            <a:xfrm>
              <a:off x="1071875" y="5681399"/>
              <a:ext cx="2092300" cy="1176600"/>
            </a:xfrm>
            <a:prstGeom prst="rect">
              <a:avLst/>
            </a:prstGeom>
            <a:noFill/>
            <a:ln>
              <a:noFill/>
            </a:ln>
          </p:spPr>
        </p:pic>
        <p:grpSp>
          <p:nvGrpSpPr>
            <p:cNvPr id="205" name="Google Shape;205;g3a981422744_2_29"/>
            <p:cNvGrpSpPr/>
            <p:nvPr/>
          </p:nvGrpSpPr>
          <p:grpSpPr>
            <a:xfrm>
              <a:off x="3430163" y="5852725"/>
              <a:ext cx="4191001" cy="561250"/>
              <a:chOff x="522350" y="4836300"/>
              <a:chExt cx="4191001" cy="561250"/>
            </a:xfrm>
          </p:grpSpPr>
          <p:pic>
            <p:nvPicPr>
              <p:cNvPr id="206" name="Google Shape;206;g3a981422744_2_29"/>
              <p:cNvPicPr preferRelativeResize="0"/>
              <p:nvPr/>
            </p:nvPicPr>
            <p:blipFill rotWithShape="1">
              <a:blip r:embed="rId4">
                <a:alphaModFix/>
              </a:blip>
              <a:srcRect l="22166" r="58194"/>
              <a:stretch/>
            </p:blipFill>
            <p:spPr>
              <a:xfrm>
                <a:off x="1553661" y="4837560"/>
                <a:ext cx="808351" cy="552289"/>
              </a:xfrm>
              <a:prstGeom prst="rect">
                <a:avLst/>
              </a:prstGeom>
              <a:noFill/>
              <a:ln>
                <a:noFill/>
              </a:ln>
            </p:spPr>
          </p:pic>
          <p:pic>
            <p:nvPicPr>
              <p:cNvPr id="207" name="Google Shape;207;g3a981422744_2_29"/>
              <p:cNvPicPr preferRelativeResize="0"/>
              <p:nvPr/>
            </p:nvPicPr>
            <p:blipFill rotWithShape="1">
              <a:blip r:embed="rId5">
                <a:alphaModFix/>
              </a:blip>
              <a:srcRect l="17096" r="48258"/>
              <a:stretch/>
            </p:blipFill>
            <p:spPr>
              <a:xfrm>
                <a:off x="2481613" y="4836300"/>
                <a:ext cx="2231738" cy="561250"/>
              </a:xfrm>
              <a:prstGeom prst="rect">
                <a:avLst/>
              </a:prstGeom>
              <a:noFill/>
              <a:ln>
                <a:noFill/>
              </a:ln>
            </p:spPr>
          </p:pic>
          <p:pic>
            <p:nvPicPr>
              <p:cNvPr id="208" name="Google Shape;208;g3a981422744_2_29"/>
              <p:cNvPicPr preferRelativeResize="0"/>
              <p:nvPr/>
            </p:nvPicPr>
            <p:blipFill rotWithShape="1">
              <a:blip r:embed="rId6">
                <a:alphaModFix/>
              </a:blip>
              <a:srcRect/>
              <a:stretch/>
            </p:blipFill>
            <p:spPr>
              <a:xfrm>
                <a:off x="522350" y="4927950"/>
                <a:ext cx="936704" cy="371500"/>
              </a:xfrm>
              <a:prstGeom prst="rect">
                <a:avLst/>
              </a:prstGeom>
              <a:noFill/>
              <a:ln>
                <a:noFill/>
              </a:ln>
            </p:spPr>
          </p:pic>
        </p:grpSp>
        <p:grpSp>
          <p:nvGrpSpPr>
            <p:cNvPr id="209" name="Google Shape;209;g3a981422744_2_29"/>
            <p:cNvGrpSpPr/>
            <p:nvPr/>
          </p:nvGrpSpPr>
          <p:grpSpPr>
            <a:xfrm>
              <a:off x="3356662" y="6263512"/>
              <a:ext cx="4642830" cy="594500"/>
              <a:chOff x="4814475" y="4203487"/>
              <a:chExt cx="4642830" cy="594500"/>
            </a:xfrm>
          </p:grpSpPr>
          <p:grpSp>
            <p:nvGrpSpPr>
              <p:cNvPr id="210" name="Google Shape;210;g3a981422744_2_29"/>
              <p:cNvGrpSpPr/>
              <p:nvPr/>
            </p:nvGrpSpPr>
            <p:grpSpPr>
              <a:xfrm>
                <a:off x="8249556" y="4380991"/>
                <a:ext cx="1207749" cy="371488"/>
                <a:chOff x="-84695" y="0"/>
                <a:chExt cx="1342391" cy="497840"/>
              </a:xfrm>
            </p:grpSpPr>
            <p:pic>
              <p:nvPicPr>
                <p:cNvPr id="211" name="Google Shape;211;g3a981422744_2_29"/>
                <p:cNvPicPr preferRelativeResize="0"/>
                <p:nvPr/>
              </p:nvPicPr>
              <p:blipFill rotWithShape="1">
                <a:blip r:embed="rId7">
                  <a:alphaModFix/>
                </a:blip>
                <a:srcRect b="25892"/>
                <a:stretch/>
              </p:blipFill>
              <p:spPr>
                <a:xfrm>
                  <a:off x="77230" y="0"/>
                  <a:ext cx="1032510" cy="190500"/>
                </a:xfrm>
                <a:prstGeom prst="rect">
                  <a:avLst/>
                </a:prstGeom>
                <a:noFill/>
                <a:ln>
                  <a:noFill/>
                </a:ln>
              </p:spPr>
            </p:pic>
            <p:pic>
              <p:nvPicPr>
                <p:cNvPr id="212" name="Google Shape;212;g3a981422744_2_29"/>
                <p:cNvPicPr preferRelativeResize="0"/>
                <p:nvPr/>
              </p:nvPicPr>
              <p:blipFill rotWithShape="1">
                <a:blip r:embed="rId8">
                  <a:alphaModFix/>
                </a:blip>
                <a:srcRect/>
                <a:stretch/>
              </p:blipFill>
              <p:spPr>
                <a:xfrm>
                  <a:off x="-84695" y="57150"/>
                  <a:ext cx="1342391" cy="440690"/>
                </a:xfrm>
                <a:prstGeom prst="rect">
                  <a:avLst/>
                </a:prstGeom>
                <a:noFill/>
                <a:ln>
                  <a:noFill/>
                </a:ln>
              </p:spPr>
            </p:pic>
          </p:grpSp>
          <p:grpSp>
            <p:nvGrpSpPr>
              <p:cNvPr id="213" name="Google Shape;213;g3a981422744_2_29"/>
              <p:cNvGrpSpPr/>
              <p:nvPr/>
            </p:nvGrpSpPr>
            <p:grpSpPr>
              <a:xfrm>
                <a:off x="6836376" y="4203487"/>
                <a:ext cx="1404390" cy="594500"/>
                <a:chOff x="6748602" y="3910582"/>
                <a:chExt cx="2709086" cy="1146798"/>
              </a:xfrm>
            </p:grpSpPr>
            <p:pic>
              <p:nvPicPr>
                <p:cNvPr id="214" name="Google Shape;214;g3a981422744_2_29"/>
                <p:cNvPicPr preferRelativeResize="0"/>
                <p:nvPr/>
              </p:nvPicPr>
              <p:blipFill rotWithShape="1">
                <a:blip r:embed="rId9">
                  <a:alphaModFix/>
                </a:blip>
                <a:srcRect l="79579"/>
                <a:stretch/>
              </p:blipFill>
              <p:spPr>
                <a:xfrm>
                  <a:off x="6748602" y="3910582"/>
                  <a:ext cx="2687594" cy="1146798"/>
                </a:xfrm>
                <a:prstGeom prst="rect">
                  <a:avLst/>
                </a:prstGeom>
                <a:noFill/>
                <a:ln>
                  <a:noFill/>
                </a:ln>
              </p:spPr>
            </p:pic>
            <p:grpSp>
              <p:nvGrpSpPr>
                <p:cNvPr id="215" name="Google Shape;215;g3a981422744_2_29"/>
                <p:cNvGrpSpPr/>
                <p:nvPr/>
              </p:nvGrpSpPr>
              <p:grpSpPr>
                <a:xfrm>
                  <a:off x="7732447" y="4302004"/>
                  <a:ext cx="1725241" cy="577751"/>
                  <a:chOff x="7732447" y="4302004"/>
                  <a:chExt cx="1725241" cy="577751"/>
                </a:xfrm>
              </p:grpSpPr>
              <p:pic>
                <p:nvPicPr>
                  <p:cNvPr id="216" name="Google Shape;216;g3a981422744_2_29"/>
                  <p:cNvPicPr preferRelativeResize="0"/>
                  <p:nvPr/>
                </p:nvPicPr>
                <p:blipFill rotWithShape="1">
                  <a:blip r:embed="rId10">
                    <a:alphaModFix/>
                  </a:blip>
                  <a:srcRect/>
                  <a:stretch/>
                </p:blipFill>
                <p:spPr>
                  <a:xfrm>
                    <a:off x="7734184" y="4475202"/>
                    <a:ext cx="1723504" cy="404553"/>
                  </a:xfrm>
                  <a:prstGeom prst="rect">
                    <a:avLst/>
                  </a:prstGeom>
                  <a:noFill/>
                  <a:ln>
                    <a:noFill/>
                  </a:ln>
                </p:spPr>
              </p:pic>
              <p:pic>
                <p:nvPicPr>
                  <p:cNvPr id="217" name="Google Shape;217;g3a981422744_2_29"/>
                  <p:cNvPicPr preferRelativeResize="0"/>
                  <p:nvPr/>
                </p:nvPicPr>
                <p:blipFill rotWithShape="1">
                  <a:blip r:embed="rId11">
                    <a:alphaModFix/>
                  </a:blip>
                  <a:srcRect b="31991"/>
                  <a:stretch/>
                </p:blipFill>
                <p:spPr>
                  <a:xfrm>
                    <a:off x="7732447" y="4302004"/>
                    <a:ext cx="795251" cy="256273"/>
                  </a:xfrm>
                  <a:prstGeom prst="rect">
                    <a:avLst/>
                  </a:prstGeom>
                  <a:noFill/>
                  <a:ln>
                    <a:noFill/>
                  </a:ln>
                </p:spPr>
              </p:pic>
            </p:grpSp>
          </p:grpSp>
          <p:pic>
            <p:nvPicPr>
              <p:cNvPr id="218" name="Google Shape;218;g3a981422744_2_29"/>
              <p:cNvPicPr preferRelativeResize="0"/>
              <p:nvPr/>
            </p:nvPicPr>
            <p:blipFill rotWithShape="1">
              <a:blip r:embed="rId12">
                <a:alphaModFix/>
              </a:blip>
              <a:srcRect/>
              <a:stretch/>
            </p:blipFill>
            <p:spPr>
              <a:xfrm>
                <a:off x="4814475" y="4336200"/>
                <a:ext cx="1920776" cy="329075"/>
              </a:xfrm>
              <a:prstGeom prst="rect">
                <a:avLst/>
              </a:prstGeom>
              <a:noFill/>
              <a:ln>
                <a:noFill/>
              </a:ln>
            </p:spPr>
          </p:pic>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19"/>
        <p:cNvGrpSpPr/>
        <p:nvPr/>
      </p:nvGrpSpPr>
      <p:grpSpPr>
        <a:xfrm>
          <a:off x="0" y="0"/>
          <a:ext cx="0" cy="0"/>
          <a:chOff x="0" y="0"/>
          <a:chExt cx="0" cy="0"/>
        </a:xfrm>
      </p:grpSpPr>
      <p:sp>
        <p:nvSpPr>
          <p:cNvPr id="220" name="Google Shape;220;g3a981422744_2_51"/>
          <p:cNvSpPr/>
          <p:nvPr/>
        </p:nvSpPr>
        <p:spPr>
          <a:xfrm rot="5400000" flipH="1">
            <a:off x="6023261" y="-6023263"/>
            <a:ext cx="145473" cy="12191999"/>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1" name="Google Shape;221;g3a981422744_2_51"/>
          <p:cNvSpPr/>
          <p:nvPr/>
        </p:nvSpPr>
        <p:spPr>
          <a:xfrm rot="5400000" flipH="1">
            <a:off x="5486071" y="26586"/>
            <a:ext cx="437943" cy="13450996"/>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C6740"/>
              </a:solidFill>
              <a:latin typeface="Calibri"/>
              <a:ea typeface="Calibri"/>
              <a:cs typeface="Calibri"/>
              <a:sym typeface="Calibri"/>
            </a:endParaRPr>
          </a:p>
        </p:txBody>
      </p:sp>
      <p:sp>
        <p:nvSpPr>
          <p:cNvPr id="222" name="Google Shape;222;g3a981422744_2_51"/>
          <p:cNvSpPr/>
          <p:nvPr/>
        </p:nvSpPr>
        <p:spPr>
          <a:xfrm rot="5400000" flipH="1">
            <a:off x="6168060" y="476770"/>
            <a:ext cx="76723" cy="12047356"/>
          </a:xfrm>
          <a:prstGeom prst="rect">
            <a:avLst/>
          </a:prstGeom>
          <a:solidFill>
            <a:srgbClr val="0182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3" name="Google Shape;223;g3a981422744_2_51"/>
          <p:cNvSpPr/>
          <p:nvPr/>
        </p:nvSpPr>
        <p:spPr>
          <a:xfrm rot="10800000" flipH="1">
            <a:off x="-4786619" y="5986650"/>
            <a:ext cx="7775980" cy="908677"/>
          </a:xfrm>
          <a:custGeom>
            <a:avLst/>
            <a:gdLst/>
            <a:ahLst/>
            <a:cxnLst/>
            <a:rect l="l" t="t" r="r" b="b"/>
            <a:pathLst>
              <a:path w="4605868" h="464927" extrusionOk="0">
                <a:moveTo>
                  <a:pt x="0" y="0"/>
                </a:moveTo>
                <a:lnTo>
                  <a:pt x="4233334" y="0"/>
                </a:lnTo>
                <a:lnTo>
                  <a:pt x="4233334" y="17347"/>
                </a:lnTo>
                <a:lnTo>
                  <a:pt x="4605868" y="17347"/>
                </a:lnTo>
                <a:lnTo>
                  <a:pt x="4294295" y="464927"/>
                </a:lnTo>
                <a:lnTo>
                  <a:pt x="4233334" y="464927"/>
                </a:lnTo>
                <a:lnTo>
                  <a:pt x="3048000" y="464927"/>
                </a:lnTo>
                <a:lnTo>
                  <a:pt x="0" y="464927"/>
                </a:lnTo>
                <a:close/>
              </a:path>
            </a:pathLst>
          </a:cu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24" name="Google Shape;224;g3a981422744_2_51"/>
          <p:cNvPicPr preferRelativeResize="0"/>
          <p:nvPr/>
        </p:nvPicPr>
        <p:blipFill rotWithShape="1">
          <a:blip r:embed="rId2">
            <a:alphaModFix/>
          </a:blip>
          <a:srcRect/>
          <a:stretch/>
        </p:blipFill>
        <p:spPr>
          <a:xfrm>
            <a:off x="314055" y="5858833"/>
            <a:ext cx="1984360" cy="1115911"/>
          </a:xfrm>
          <a:prstGeom prst="rect">
            <a:avLst/>
          </a:prstGeom>
          <a:noFill/>
          <a:ln>
            <a:noFill/>
          </a:ln>
        </p:spPr>
      </p:pic>
      <p:sp>
        <p:nvSpPr>
          <p:cNvPr id="225" name="Google Shape;225;g3a981422744_2_51"/>
          <p:cNvSpPr txBox="1"/>
          <p:nvPr/>
        </p:nvSpPr>
        <p:spPr>
          <a:xfrm>
            <a:off x="1704539" y="6550848"/>
            <a:ext cx="7712838" cy="41861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chemeClr val="lt1"/>
              </a:buClr>
              <a:buSzPts val="1400"/>
              <a:buFont typeface="Arial"/>
              <a:buNone/>
            </a:pPr>
            <a:r>
              <a:rPr lang="en-US" sz="1400" b="1" i="0" u="none" strike="noStrike" cap="none">
                <a:solidFill>
                  <a:schemeClr val="lt1"/>
                </a:solidFill>
                <a:latin typeface="Garamond"/>
                <a:ea typeface="Garamond"/>
                <a:cs typeface="Garamond"/>
                <a:sym typeface="Garamond"/>
              </a:rPr>
              <a:t>COLLEGE OF COMPUTING AND INFORMATION SCIENCES</a:t>
            </a:r>
            <a:endParaRPr sz="1400" b="1" i="0" u="none" strike="noStrike" cap="none">
              <a:solidFill>
                <a:schemeClr val="lt1"/>
              </a:solidFill>
              <a:latin typeface="Garamond"/>
              <a:ea typeface="Garamond"/>
              <a:cs typeface="Garamond"/>
              <a:sym typeface="Garamond"/>
            </a:endParaRPr>
          </a:p>
        </p:txBody>
      </p:sp>
      <p:sp>
        <p:nvSpPr>
          <p:cNvPr id="226" name="Google Shape;226;g3a981422744_2_51"/>
          <p:cNvSpPr txBox="1"/>
          <p:nvPr/>
        </p:nvSpPr>
        <p:spPr>
          <a:xfrm>
            <a:off x="7812197" y="6550848"/>
            <a:ext cx="5519251" cy="41861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FFB800"/>
              </a:buClr>
              <a:buSzPts val="1400"/>
              <a:buFont typeface="Arial"/>
              <a:buNone/>
            </a:pPr>
            <a:r>
              <a:rPr lang="en-US" sz="1400" b="1" i="1" u="none" strike="noStrike" cap="none">
                <a:solidFill>
                  <a:srgbClr val="FFB800"/>
                </a:solidFill>
                <a:latin typeface="Garamond"/>
                <a:ea typeface="Garamond"/>
                <a:cs typeface="Garamond"/>
                <a:sym typeface="Garamond"/>
              </a:rPr>
              <a:t>Department of Computer Science</a:t>
            </a:r>
            <a:endParaRPr sz="1400" b="1" i="1" u="none" strike="noStrike" cap="none">
              <a:solidFill>
                <a:srgbClr val="FFB800"/>
              </a:solidFill>
              <a:latin typeface="Garamond"/>
              <a:ea typeface="Garamond"/>
              <a:cs typeface="Garamond"/>
              <a:sym typeface="Garamond"/>
            </a:endParaRPr>
          </a:p>
        </p:txBody>
      </p:sp>
      <p:grpSp>
        <p:nvGrpSpPr>
          <p:cNvPr id="227" name="Google Shape;227;g3a981422744_2_51"/>
          <p:cNvGrpSpPr/>
          <p:nvPr/>
        </p:nvGrpSpPr>
        <p:grpSpPr>
          <a:xfrm>
            <a:off x="3008875" y="5931725"/>
            <a:ext cx="8934955" cy="594500"/>
            <a:chOff x="3008875" y="5931725"/>
            <a:chExt cx="8934955" cy="594500"/>
          </a:xfrm>
        </p:grpSpPr>
        <p:pic>
          <p:nvPicPr>
            <p:cNvPr id="228" name="Google Shape;228;g3a981422744_2_51"/>
            <p:cNvPicPr preferRelativeResize="0"/>
            <p:nvPr/>
          </p:nvPicPr>
          <p:blipFill rotWithShape="1">
            <a:blip r:embed="rId3">
              <a:alphaModFix/>
            </a:blip>
            <a:srcRect l="22167" r="58194"/>
            <a:stretch/>
          </p:blipFill>
          <p:spPr>
            <a:xfrm>
              <a:off x="4040186" y="5949610"/>
              <a:ext cx="808351" cy="552289"/>
            </a:xfrm>
            <a:prstGeom prst="rect">
              <a:avLst/>
            </a:prstGeom>
            <a:noFill/>
            <a:ln>
              <a:noFill/>
            </a:ln>
          </p:spPr>
        </p:pic>
        <p:grpSp>
          <p:nvGrpSpPr>
            <p:cNvPr id="229" name="Google Shape;229;g3a981422744_2_51"/>
            <p:cNvGrpSpPr/>
            <p:nvPr/>
          </p:nvGrpSpPr>
          <p:grpSpPr>
            <a:xfrm>
              <a:off x="10736081" y="6109229"/>
              <a:ext cx="1207749" cy="371488"/>
              <a:chOff x="-84695" y="0"/>
              <a:chExt cx="1342391" cy="497840"/>
            </a:xfrm>
          </p:grpSpPr>
          <p:pic>
            <p:nvPicPr>
              <p:cNvPr id="230" name="Google Shape;230;g3a981422744_2_51"/>
              <p:cNvPicPr preferRelativeResize="0"/>
              <p:nvPr/>
            </p:nvPicPr>
            <p:blipFill rotWithShape="1">
              <a:blip r:embed="rId4">
                <a:alphaModFix/>
              </a:blip>
              <a:srcRect t="1" b="25891"/>
              <a:stretch/>
            </p:blipFill>
            <p:spPr>
              <a:xfrm>
                <a:off x="77230" y="0"/>
                <a:ext cx="1032510" cy="190500"/>
              </a:xfrm>
              <a:prstGeom prst="rect">
                <a:avLst/>
              </a:prstGeom>
              <a:noFill/>
              <a:ln>
                <a:noFill/>
              </a:ln>
            </p:spPr>
          </p:pic>
          <p:pic>
            <p:nvPicPr>
              <p:cNvPr id="231" name="Google Shape;231;g3a981422744_2_51"/>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232" name="Google Shape;232;g3a981422744_2_51"/>
            <p:cNvPicPr preferRelativeResize="0"/>
            <p:nvPr/>
          </p:nvPicPr>
          <p:blipFill rotWithShape="1">
            <a:blip r:embed="rId6">
              <a:alphaModFix/>
            </a:blip>
            <a:srcRect l="17096" r="48258"/>
            <a:stretch/>
          </p:blipFill>
          <p:spPr>
            <a:xfrm>
              <a:off x="4968138" y="5948350"/>
              <a:ext cx="2231738" cy="561250"/>
            </a:xfrm>
            <a:prstGeom prst="rect">
              <a:avLst/>
            </a:prstGeom>
            <a:noFill/>
            <a:ln>
              <a:noFill/>
            </a:ln>
          </p:spPr>
        </p:pic>
        <p:grpSp>
          <p:nvGrpSpPr>
            <p:cNvPr id="233" name="Google Shape;233;g3a981422744_2_51"/>
            <p:cNvGrpSpPr/>
            <p:nvPr/>
          </p:nvGrpSpPr>
          <p:grpSpPr>
            <a:xfrm>
              <a:off x="9322901" y="5931725"/>
              <a:ext cx="1404390" cy="594500"/>
              <a:chOff x="6748602" y="3910582"/>
              <a:chExt cx="2709086" cy="1146798"/>
            </a:xfrm>
          </p:grpSpPr>
          <p:pic>
            <p:nvPicPr>
              <p:cNvPr id="234" name="Google Shape;234;g3a981422744_2_51"/>
              <p:cNvPicPr preferRelativeResize="0"/>
              <p:nvPr/>
            </p:nvPicPr>
            <p:blipFill rotWithShape="1">
              <a:blip r:embed="rId7">
                <a:alphaModFix/>
              </a:blip>
              <a:srcRect l="79579"/>
              <a:stretch/>
            </p:blipFill>
            <p:spPr>
              <a:xfrm>
                <a:off x="6748602" y="3910582"/>
                <a:ext cx="2687594" cy="1146798"/>
              </a:xfrm>
              <a:prstGeom prst="rect">
                <a:avLst/>
              </a:prstGeom>
              <a:noFill/>
              <a:ln>
                <a:noFill/>
              </a:ln>
            </p:spPr>
          </p:pic>
          <p:grpSp>
            <p:nvGrpSpPr>
              <p:cNvPr id="235" name="Google Shape;235;g3a981422744_2_51"/>
              <p:cNvGrpSpPr/>
              <p:nvPr/>
            </p:nvGrpSpPr>
            <p:grpSpPr>
              <a:xfrm>
                <a:off x="7732447" y="4302004"/>
                <a:ext cx="1725241" cy="577751"/>
                <a:chOff x="7732447" y="4302004"/>
                <a:chExt cx="1725241" cy="577751"/>
              </a:xfrm>
            </p:grpSpPr>
            <p:pic>
              <p:nvPicPr>
                <p:cNvPr id="236" name="Google Shape;236;g3a981422744_2_51"/>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237" name="Google Shape;237;g3a981422744_2_51"/>
                <p:cNvPicPr preferRelativeResize="0"/>
                <p:nvPr/>
              </p:nvPicPr>
              <p:blipFill rotWithShape="1">
                <a:blip r:embed="rId9">
                  <a:alphaModFix/>
                </a:blip>
                <a:srcRect b="31992"/>
                <a:stretch/>
              </p:blipFill>
              <p:spPr>
                <a:xfrm>
                  <a:off x="7732447" y="4302004"/>
                  <a:ext cx="795251" cy="256273"/>
                </a:xfrm>
                <a:prstGeom prst="rect">
                  <a:avLst/>
                </a:prstGeom>
                <a:noFill/>
                <a:ln>
                  <a:noFill/>
                </a:ln>
              </p:spPr>
            </p:pic>
          </p:grpSp>
        </p:grpSp>
        <p:pic>
          <p:nvPicPr>
            <p:cNvPr id="238" name="Google Shape;238;g3a981422744_2_51"/>
            <p:cNvPicPr preferRelativeResize="0"/>
            <p:nvPr/>
          </p:nvPicPr>
          <p:blipFill rotWithShape="1">
            <a:blip r:embed="rId10">
              <a:alphaModFix/>
            </a:blip>
            <a:srcRect/>
            <a:stretch/>
          </p:blipFill>
          <p:spPr>
            <a:xfrm>
              <a:off x="3008875" y="6040000"/>
              <a:ext cx="936704" cy="371500"/>
            </a:xfrm>
            <a:prstGeom prst="rect">
              <a:avLst/>
            </a:prstGeom>
            <a:noFill/>
            <a:ln>
              <a:noFill/>
            </a:ln>
          </p:spPr>
        </p:pic>
        <p:pic>
          <p:nvPicPr>
            <p:cNvPr id="239" name="Google Shape;239;g3a981422744_2_51"/>
            <p:cNvPicPr preferRelativeResize="0"/>
            <p:nvPr/>
          </p:nvPicPr>
          <p:blipFill rotWithShape="1">
            <a:blip r:embed="rId11">
              <a:alphaModFix/>
            </a:blip>
            <a:srcRect/>
            <a:stretch/>
          </p:blipFill>
          <p:spPr>
            <a:xfrm>
              <a:off x="7301000" y="6064437"/>
              <a:ext cx="1920776" cy="329075"/>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act Info" type="blank">
  <p:cSld name="BLANK">
    <p:spTree>
      <p:nvGrpSpPr>
        <p:cNvPr id="1" name="Shape 240"/>
        <p:cNvGrpSpPr/>
        <p:nvPr/>
      </p:nvGrpSpPr>
      <p:grpSpPr>
        <a:xfrm>
          <a:off x="0" y="0"/>
          <a:ext cx="0" cy="0"/>
          <a:chOff x="0" y="0"/>
          <a:chExt cx="0" cy="0"/>
        </a:xfrm>
      </p:grpSpPr>
      <p:pic>
        <p:nvPicPr>
          <p:cNvPr id="241" name="Google Shape;241;g3a981422744_2_72"/>
          <p:cNvPicPr preferRelativeResize="0"/>
          <p:nvPr/>
        </p:nvPicPr>
        <p:blipFill rotWithShape="1">
          <a:blip r:embed="rId2">
            <a:alphaModFix/>
          </a:blip>
          <a:srcRect/>
          <a:stretch/>
        </p:blipFill>
        <p:spPr>
          <a:xfrm>
            <a:off x="0" y="11016"/>
            <a:ext cx="12193586" cy="6846984"/>
          </a:xfrm>
          <a:prstGeom prst="rect">
            <a:avLst/>
          </a:prstGeom>
          <a:noFill/>
          <a:ln>
            <a:noFill/>
          </a:ln>
        </p:spPr>
      </p:pic>
      <p:sp>
        <p:nvSpPr>
          <p:cNvPr id="242" name="Google Shape;242;g3a981422744_2_72"/>
          <p:cNvSpPr/>
          <p:nvPr/>
        </p:nvSpPr>
        <p:spPr>
          <a:xfrm>
            <a:off x="4758" y="0"/>
            <a:ext cx="12188823" cy="6858000"/>
          </a:xfrm>
          <a:prstGeom prst="rect">
            <a:avLst/>
          </a:prstGeom>
          <a:solidFill>
            <a:srgbClr val="0C4B05">
              <a:alpha val="8392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ato Light"/>
              <a:ea typeface="Lato Light"/>
              <a:cs typeface="Lato Light"/>
              <a:sym typeface="Lato Light"/>
            </a:endParaRPr>
          </a:p>
        </p:txBody>
      </p:sp>
      <p:grpSp>
        <p:nvGrpSpPr>
          <p:cNvPr id="243" name="Google Shape;243;g3a981422744_2_72"/>
          <p:cNvGrpSpPr/>
          <p:nvPr/>
        </p:nvGrpSpPr>
        <p:grpSpPr>
          <a:xfrm>
            <a:off x="1528821" y="985720"/>
            <a:ext cx="9661910" cy="4648733"/>
            <a:chOff x="1528821" y="1118456"/>
            <a:chExt cx="9661910" cy="4648733"/>
          </a:xfrm>
        </p:grpSpPr>
        <p:sp>
          <p:nvSpPr>
            <p:cNvPr id="244" name="Google Shape;244;g3a981422744_2_72"/>
            <p:cNvSpPr/>
            <p:nvPr/>
          </p:nvSpPr>
          <p:spPr>
            <a:xfrm>
              <a:off x="7076321" y="5067986"/>
              <a:ext cx="126686" cy="235274"/>
            </a:xfrm>
            <a:custGeom>
              <a:avLst/>
              <a:gdLst/>
              <a:ahLst/>
              <a:cxnLst/>
              <a:rect l="l" t="t" r="r" b="b"/>
              <a:pathLst>
                <a:path w="249" h="453" extrusionOk="0">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solidFill>
              <a:schemeClr val="lt1"/>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ato Light"/>
                <a:ea typeface="Lato Light"/>
                <a:cs typeface="Lato Light"/>
                <a:sym typeface="Lato Light"/>
              </a:endParaRPr>
            </a:p>
          </p:txBody>
        </p:sp>
        <p:sp>
          <p:nvSpPr>
            <p:cNvPr id="245" name="Google Shape;245;g3a981422744_2_72"/>
            <p:cNvSpPr txBox="1"/>
            <p:nvPr/>
          </p:nvSpPr>
          <p:spPr>
            <a:xfrm>
              <a:off x="6938658" y="2157205"/>
              <a:ext cx="2825453"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lt1"/>
                  </a:solidFill>
                  <a:latin typeface="Lato Light"/>
                  <a:ea typeface="Lato Light"/>
                  <a:cs typeface="Lato Light"/>
                  <a:sym typeface="Lato Light"/>
                </a:rPr>
                <a:t>Send us a message or visit us</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p:txBody>
        </p:sp>
        <p:sp>
          <p:nvSpPr>
            <p:cNvPr id="246" name="Google Shape;246;g3a981422744_2_72"/>
            <p:cNvSpPr txBox="1"/>
            <p:nvPr/>
          </p:nvSpPr>
          <p:spPr>
            <a:xfrm>
              <a:off x="6938658" y="2949733"/>
              <a:ext cx="3566842"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Lato Light"/>
                  <a:ea typeface="Lato Light"/>
                  <a:cs typeface="Lato Light"/>
                  <a:sym typeface="Lato Light"/>
                </a:rPr>
                <a:t>City of </a:t>
              </a:r>
              <a:r>
                <a:rPr lang="en-US" sz="1800" b="0" i="0" u="none" strike="noStrike" cap="none" dirty="0" err="1">
                  <a:solidFill>
                    <a:schemeClr val="lt1"/>
                  </a:solidFill>
                  <a:latin typeface="Lato Light"/>
                  <a:ea typeface="Lato Light"/>
                  <a:cs typeface="Lato Light"/>
                  <a:sym typeface="Lato Light"/>
                </a:rPr>
                <a:t>Batac</a:t>
              </a:r>
              <a:r>
                <a:rPr lang="en-US" sz="1800" b="0" i="0" u="none" strike="noStrike" cap="none" dirty="0">
                  <a:solidFill>
                    <a:schemeClr val="lt1"/>
                  </a:solidFill>
                  <a:latin typeface="Lato Light"/>
                  <a:ea typeface="Lato Light"/>
                  <a:cs typeface="Lato Light"/>
                  <a:sym typeface="Lato Light"/>
                </a:rPr>
                <a:t>, </a:t>
              </a:r>
              <a:r>
                <a:rPr lang="en-US" sz="1800" b="0" i="0" u="none" strike="noStrike" cap="none" dirty="0" err="1">
                  <a:solidFill>
                    <a:schemeClr val="lt1"/>
                  </a:solidFill>
                  <a:latin typeface="Lato Light"/>
                  <a:ea typeface="Lato Light"/>
                  <a:cs typeface="Lato Light"/>
                  <a:sym typeface="Lato Light"/>
                </a:rPr>
                <a:t>Ilocos</a:t>
              </a:r>
              <a:r>
                <a:rPr lang="en-US" sz="1800" b="0" i="0" u="none" strike="noStrike" cap="none" dirty="0">
                  <a:solidFill>
                    <a:schemeClr val="lt1"/>
                  </a:solidFill>
                  <a:latin typeface="Lato Light"/>
                  <a:ea typeface="Lato Light"/>
                  <a:cs typeface="Lato Light"/>
                  <a:sym typeface="Lato Light"/>
                </a:rPr>
                <a:t> Norte, Philippines</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FFB800"/>
                  </a:solidFill>
                  <a:latin typeface="Lato Light"/>
                  <a:ea typeface="Lato Light"/>
                  <a:cs typeface="Lato Light"/>
                  <a:sym typeface="Lato Light"/>
                </a:rPr>
                <a:t>(63) 77-600-0459</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FFB800"/>
                  </a:solidFill>
                  <a:latin typeface="Lato Light"/>
                  <a:ea typeface="Lato Light"/>
                  <a:cs typeface="Lato Light"/>
                  <a:sym typeface="Lato Light"/>
                </a:rPr>
                <a:t>op@mmsu.edu.ph</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FFB800"/>
                </a:solidFill>
                <a:latin typeface="Lato Light"/>
                <a:ea typeface="Lato Light"/>
                <a:cs typeface="Lato Light"/>
                <a:sym typeface="Lato Light"/>
              </a:endParaRPr>
            </a:p>
          </p:txBody>
        </p:sp>
        <p:sp>
          <p:nvSpPr>
            <p:cNvPr id="247" name="Google Shape;247;g3a981422744_2_72"/>
            <p:cNvSpPr txBox="1"/>
            <p:nvPr/>
          </p:nvSpPr>
          <p:spPr>
            <a:xfrm>
              <a:off x="6938658" y="1118456"/>
              <a:ext cx="2310088"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FFC000"/>
                  </a:solidFill>
                  <a:latin typeface="Lato Light"/>
                  <a:ea typeface="Lato Light"/>
                  <a:cs typeface="Lato Light"/>
                  <a:sym typeface="Lato Light"/>
                </a:rPr>
                <a:t>Get in Touch</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FFC000"/>
                  </a:solidFill>
                  <a:latin typeface="Lato Light"/>
                  <a:ea typeface="Lato Light"/>
                  <a:cs typeface="Lato Light"/>
                  <a:sym typeface="Lato Light"/>
                </a:rPr>
                <a:t>With Us</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p:txBody>
        </p:sp>
        <p:cxnSp>
          <p:nvCxnSpPr>
            <p:cNvPr id="248" name="Google Shape;248;g3a981422744_2_72"/>
            <p:cNvCxnSpPr/>
            <p:nvPr/>
          </p:nvCxnSpPr>
          <p:spPr>
            <a:xfrm>
              <a:off x="6394282" y="1193215"/>
              <a:ext cx="0" cy="4573974"/>
            </a:xfrm>
            <a:prstGeom prst="straightConnector1">
              <a:avLst/>
            </a:prstGeom>
            <a:noFill/>
            <a:ln w="9525" cap="flat" cmpd="sng">
              <a:solidFill>
                <a:srgbClr val="FFFF00"/>
              </a:solidFill>
              <a:prstDash val="solid"/>
              <a:miter lim="800000"/>
              <a:headEnd type="none" w="sm" len="sm"/>
              <a:tailEnd type="none" w="sm" len="sm"/>
            </a:ln>
          </p:spPr>
        </p:cxnSp>
        <p:sp>
          <p:nvSpPr>
            <p:cNvPr id="249" name="Google Shape;249;g3a981422744_2_72"/>
            <p:cNvSpPr txBox="1"/>
            <p:nvPr/>
          </p:nvSpPr>
          <p:spPr>
            <a:xfrm>
              <a:off x="7271174" y="4997646"/>
              <a:ext cx="391955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Lato Light"/>
                  <a:ea typeface="Lato Light"/>
                  <a:cs typeface="Lato Light"/>
                  <a:sym typeface="Lato Light"/>
                </a:rPr>
                <a:t>facebook.com/</a:t>
              </a:r>
              <a:r>
                <a:rPr lang="en-US" sz="1800" b="0" i="0" u="none" strike="noStrike" cap="none" dirty="0" err="1">
                  <a:solidFill>
                    <a:schemeClr val="lt1"/>
                  </a:solidFill>
                  <a:latin typeface="Lato Light"/>
                  <a:ea typeface="Lato Light"/>
                  <a:cs typeface="Lato Light"/>
                  <a:sym typeface="Lato Light"/>
                </a:rPr>
                <a:t>MMSUofficial</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Lato Light"/>
                  <a:ea typeface="Lato Light"/>
                  <a:cs typeface="Lato Light"/>
                  <a:sym typeface="Lato Light"/>
                </a:rPr>
                <a:t>www.mmsu.edu.ph</a:t>
              </a:r>
              <a:endParaRPr sz="1400" b="0" i="0" u="none" strike="noStrike" cap="none" dirty="0">
                <a:solidFill>
                  <a:srgbClr val="000000"/>
                </a:solidFill>
                <a:latin typeface="Arial" panose="020B0604020202020204" pitchFamily="34" charset="0"/>
                <a:ea typeface="Arial"/>
                <a:cs typeface="Arial" panose="020B0604020202020204" pitchFamily="34" charset="0"/>
                <a:sym typeface="Arial"/>
              </a:endParaRPr>
            </a:p>
          </p:txBody>
        </p:sp>
        <p:pic>
          <p:nvPicPr>
            <p:cNvPr id="250" name="Google Shape;250;g3a981422744_2_72"/>
            <p:cNvPicPr preferRelativeResize="0"/>
            <p:nvPr/>
          </p:nvPicPr>
          <p:blipFill rotWithShape="1">
            <a:blip r:embed="rId3">
              <a:alphaModFix/>
            </a:blip>
            <a:srcRect/>
            <a:stretch/>
          </p:blipFill>
          <p:spPr>
            <a:xfrm>
              <a:off x="1528821" y="1167146"/>
              <a:ext cx="4256540" cy="4247396"/>
            </a:xfrm>
            <a:prstGeom prst="rect">
              <a:avLst/>
            </a:prstGeom>
            <a:noFill/>
            <a:ln>
              <a:noFill/>
            </a:ln>
          </p:spPr>
        </p:pic>
        <p:pic>
          <p:nvPicPr>
            <p:cNvPr id="251" name="Google Shape;251;g3a981422744_2_72" descr="White and gray globe logo, Computer Icons Internet World Wide Web ..."/>
            <p:cNvPicPr preferRelativeResize="0"/>
            <p:nvPr/>
          </p:nvPicPr>
          <p:blipFill rotWithShape="1">
            <a:blip r:embed="rId4">
              <a:alphaModFix/>
            </a:blip>
            <a:srcRect/>
            <a:stretch/>
          </p:blipFill>
          <p:spPr>
            <a:xfrm>
              <a:off x="6985052" y="5314276"/>
              <a:ext cx="340717" cy="340717"/>
            </a:xfrm>
            <a:prstGeom prst="rect">
              <a:avLst/>
            </a:prstGeom>
            <a:noFill/>
            <a:ln>
              <a:noFill/>
            </a:ln>
          </p:spPr>
        </p:pic>
        <p:sp>
          <p:nvSpPr>
            <p:cNvPr id="252" name="Google Shape;252;g3a981422744_2_72"/>
            <p:cNvSpPr txBox="1"/>
            <p:nvPr/>
          </p:nvSpPr>
          <p:spPr>
            <a:xfrm>
              <a:off x="7064932" y="4484374"/>
              <a:ext cx="282545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Lato Light"/>
                  <a:ea typeface="Lato Light"/>
                  <a:cs typeface="Lato Light"/>
                  <a:sym typeface="Lato Light"/>
                </a:rPr>
                <a:t>Follow us for updates</a:t>
              </a:r>
              <a:endParaRPr sz="2000" b="0" i="0" u="none" strike="noStrike" cap="none">
                <a:solidFill>
                  <a:schemeClr val="lt1"/>
                </a:solidFill>
                <a:latin typeface="Lato Light"/>
                <a:ea typeface="Lato Light"/>
                <a:cs typeface="Lato Light"/>
                <a:sym typeface="Lato Light"/>
              </a:endParaRPr>
            </a:p>
          </p:txBody>
        </p:sp>
      </p:grpSp>
      <p:pic>
        <p:nvPicPr>
          <p:cNvPr id="253" name="Google Shape;253;g3a981422744_2_72"/>
          <p:cNvPicPr preferRelativeResize="0"/>
          <p:nvPr/>
        </p:nvPicPr>
        <p:blipFill rotWithShape="1">
          <a:blip r:embed="rId5">
            <a:alphaModFix/>
          </a:blip>
          <a:srcRect/>
          <a:stretch/>
        </p:blipFill>
        <p:spPr>
          <a:xfrm>
            <a:off x="3227110" y="5955697"/>
            <a:ext cx="5790051" cy="468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ull Photo">
  <p:cSld name="Full Photo">
    <p:spTree>
      <p:nvGrpSpPr>
        <p:cNvPr id="1" name="Shape 254"/>
        <p:cNvGrpSpPr/>
        <p:nvPr/>
      </p:nvGrpSpPr>
      <p:grpSpPr>
        <a:xfrm>
          <a:off x="0" y="0"/>
          <a:ext cx="0" cy="0"/>
          <a:chOff x="0" y="0"/>
          <a:chExt cx="0" cy="0"/>
        </a:xfrm>
      </p:grpSpPr>
      <p:sp>
        <p:nvSpPr>
          <p:cNvPr id="255" name="Google Shape;255;g3a981422744_2_86"/>
          <p:cNvSpPr/>
          <p:nvPr/>
        </p:nvSpPr>
        <p:spPr>
          <a:xfrm>
            <a:off x="11636477" y="0"/>
            <a:ext cx="555523"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6" name="Google Shape;256;g3a981422744_2_86"/>
          <p:cNvSpPr/>
          <p:nvPr/>
        </p:nvSpPr>
        <p:spPr>
          <a:xfrm flipH="1">
            <a:off x="11433256" y="0"/>
            <a:ext cx="226667"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7" name="Google Shape;257;g3a981422744_2_86"/>
          <p:cNvSpPr>
            <a:spLocks noGrp="1"/>
          </p:cNvSpPr>
          <p:nvPr>
            <p:ph type="pic" idx="2"/>
          </p:nvPr>
        </p:nvSpPr>
        <p:spPr>
          <a:xfrm>
            <a:off x="0" y="0"/>
            <a:ext cx="11433175" cy="6858000"/>
          </a:xfrm>
          <a:prstGeom prst="rect">
            <a:avLst/>
          </a:prstGeom>
          <a:noFill/>
          <a:ln>
            <a:noFill/>
          </a:ln>
        </p:spPr>
      </p:sp>
      <p:pic>
        <p:nvPicPr>
          <p:cNvPr id="258" name="Google Shape;258;g3a981422744_2_86"/>
          <p:cNvPicPr preferRelativeResize="0"/>
          <p:nvPr/>
        </p:nvPicPr>
        <p:blipFill rotWithShape="1">
          <a:blip r:embed="rId2">
            <a:alphaModFix/>
          </a:blip>
          <a:srcRect/>
          <a:stretch/>
        </p:blipFill>
        <p:spPr>
          <a:xfrm>
            <a:off x="200041" y="5814275"/>
            <a:ext cx="1984360" cy="1115911"/>
          </a:xfrm>
          <a:prstGeom prst="rect">
            <a:avLst/>
          </a:prstGeom>
          <a:noFill/>
          <a:ln>
            <a:noFill/>
          </a:ln>
        </p:spPr>
      </p:pic>
      <p:grpSp>
        <p:nvGrpSpPr>
          <p:cNvPr id="259" name="Google Shape;259;g3a981422744_2_86"/>
          <p:cNvGrpSpPr/>
          <p:nvPr/>
        </p:nvGrpSpPr>
        <p:grpSpPr>
          <a:xfrm>
            <a:off x="2513975" y="6074974"/>
            <a:ext cx="8680580" cy="594509"/>
            <a:chOff x="2823000" y="5855524"/>
            <a:chExt cx="8680580" cy="594509"/>
          </a:xfrm>
        </p:grpSpPr>
        <p:pic>
          <p:nvPicPr>
            <p:cNvPr id="260" name="Google Shape;260;g3a981422744_2_86"/>
            <p:cNvPicPr preferRelativeResize="0"/>
            <p:nvPr/>
          </p:nvPicPr>
          <p:blipFill rotWithShape="1">
            <a:blip r:embed="rId3">
              <a:alphaModFix/>
            </a:blip>
            <a:srcRect l="22166" r="58194"/>
            <a:stretch/>
          </p:blipFill>
          <p:spPr>
            <a:xfrm>
              <a:off x="3904736" y="5873410"/>
              <a:ext cx="808351" cy="552289"/>
            </a:xfrm>
            <a:prstGeom prst="rect">
              <a:avLst/>
            </a:prstGeom>
            <a:noFill/>
            <a:ln>
              <a:noFill/>
            </a:ln>
          </p:spPr>
        </p:pic>
        <p:grpSp>
          <p:nvGrpSpPr>
            <p:cNvPr id="261" name="Google Shape;261;g3a981422744_2_86"/>
            <p:cNvGrpSpPr/>
            <p:nvPr/>
          </p:nvGrpSpPr>
          <p:grpSpPr>
            <a:xfrm>
              <a:off x="10295831" y="6033029"/>
              <a:ext cx="1207749" cy="371488"/>
              <a:chOff x="-84695" y="0"/>
              <a:chExt cx="1342391" cy="497840"/>
            </a:xfrm>
          </p:grpSpPr>
          <p:pic>
            <p:nvPicPr>
              <p:cNvPr id="262" name="Google Shape;262;g3a981422744_2_86"/>
              <p:cNvPicPr preferRelativeResize="0"/>
              <p:nvPr/>
            </p:nvPicPr>
            <p:blipFill rotWithShape="1">
              <a:blip r:embed="rId4">
                <a:alphaModFix/>
              </a:blip>
              <a:srcRect b="25892"/>
              <a:stretch/>
            </p:blipFill>
            <p:spPr>
              <a:xfrm>
                <a:off x="77230" y="0"/>
                <a:ext cx="1032510" cy="190500"/>
              </a:xfrm>
              <a:prstGeom prst="rect">
                <a:avLst/>
              </a:prstGeom>
              <a:noFill/>
              <a:ln>
                <a:noFill/>
              </a:ln>
            </p:spPr>
          </p:pic>
          <p:pic>
            <p:nvPicPr>
              <p:cNvPr id="263" name="Google Shape;263;g3a981422744_2_86"/>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264" name="Google Shape;264;g3a981422744_2_86"/>
            <p:cNvPicPr preferRelativeResize="0"/>
            <p:nvPr/>
          </p:nvPicPr>
          <p:blipFill rotWithShape="1">
            <a:blip r:embed="rId6">
              <a:alphaModFix/>
            </a:blip>
            <a:srcRect l="16492" r="21565"/>
            <a:stretch/>
          </p:blipFill>
          <p:spPr>
            <a:xfrm>
              <a:off x="4820000" y="5888763"/>
              <a:ext cx="3990165" cy="561270"/>
            </a:xfrm>
            <a:prstGeom prst="rect">
              <a:avLst/>
            </a:prstGeom>
            <a:noFill/>
            <a:ln>
              <a:noFill/>
            </a:ln>
          </p:spPr>
        </p:pic>
        <p:grpSp>
          <p:nvGrpSpPr>
            <p:cNvPr id="265" name="Google Shape;265;g3a981422744_2_86"/>
            <p:cNvGrpSpPr/>
            <p:nvPr/>
          </p:nvGrpSpPr>
          <p:grpSpPr>
            <a:xfrm>
              <a:off x="8811715" y="5855524"/>
              <a:ext cx="1484101" cy="594499"/>
              <a:chOff x="6594839" y="3910580"/>
              <a:chExt cx="2862849" cy="1146796"/>
            </a:xfrm>
          </p:grpSpPr>
          <p:pic>
            <p:nvPicPr>
              <p:cNvPr id="266" name="Google Shape;266;g3a981422744_2_86"/>
              <p:cNvPicPr preferRelativeResize="0"/>
              <p:nvPr/>
            </p:nvPicPr>
            <p:blipFill rotWithShape="1">
              <a:blip r:embed="rId7">
                <a:alphaModFix/>
              </a:blip>
              <a:srcRect l="78411"/>
              <a:stretch/>
            </p:blipFill>
            <p:spPr>
              <a:xfrm>
                <a:off x="6594839" y="3910580"/>
                <a:ext cx="2841375" cy="1146796"/>
              </a:xfrm>
              <a:prstGeom prst="rect">
                <a:avLst/>
              </a:prstGeom>
              <a:noFill/>
              <a:ln>
                <a:noFill/>
              </a:ln>
            </p:spPr>
          </p:pic>
          <p:grpSp>
            <p:nvGrpSpPr>
              <p:cNvPr id="267" name="Google Shape;267;g3a981422744_2_86"/>
              <p:cNvGrpSpPr/>
              <p:nvPr/>
            </p:nvGrpSpPr>
            <p:grpSpPr>
              <a:xfrm>
                <a:off x="7732447" y="4302004"/>
                <a:ext cx="1725241" cy="577751"/>
                <a:chOff x="7732447" y="4302004"/>
                <a:chExt cx="1725241" cy="577751"/>
              </a:xfrm>
            </p:grpSpPr>
            <p:pic>
              <p:nvPicPr>
                <p:cNvPr id="268" name="Google Shape;268;g3a981422744_2_86"/>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269" name="Google Shape;269;g3a981422744_2_86"/>
                <p:cNvPicPr preferRelativeResize="0"/>
                <p:nvPr/>
              </p:nvPicPr>
              <p:blipFill rotWithShape="1">
                <a:blip r:embed="rId9">
                  <a:alphaModFix/>
                </a:blip>
                <a:srcRect b="31992"/>
                <a:stretch/>
              </p:blipFill>
              <p:spPr>
                <a:xfrm>
                  <a:off x="7732447" y="4302004"/>
                  <a:ext cx="795251" cy="256273"/>
                </a:xfrm>
                <a:prstGeom prst="rect">
                  <a:avLst/>
                </a:prstGeom>
                <a:noFill/>
                <a:ln>
                  <a:noFill/>
                </a:ln>
              </p:spPr>
            </p:pic>
          </p:grpSp>
        </p:grpSp>
        <p:pic>
          <p:nvPicPr>
            <p:cNvPr id="270" name="Google Shape;270;g3a981422744_2_86"/>
            <p:cNvPicPr preferRelativeResize="0"/>
            <p:nvPr/>
          </p:nvPicPr>
          <p:blipFill rotWithShape="1">
            <a:blip r:embed="rId10">
              <a:alphaModFix/>
            </a:blip>
            <a:srcRect/>
            <a:stretch/>
          </p:blipFill>
          <p:spPr>
            <a:xfrm>
              <a:off x="2823000" y="5986650"/>
              <a:ext cx="936704" cy="371500"/>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271"/>
        <p:cNvGrpSpPr/>
        <p:nvPr/>
      </p:nvGrpSpPr>
      <p:grpSpPr>
        <a:xfrm>
          <a:off x="0" y="0"/>
          <a:ext cx="0" cy="0"/>
          <a:chOff x="0" y="0"/>
          <a:chExt cx="0" cy="0"/>
        </a:xfrm>
      </p:grpSpPr>
      <p:sp>
        <p:nvSpPr>
          <p:cNvPr id="272" name="Google Shape;272;g3a981422744_2_103"/>
          <p:cNvSpPr/>
          <p:nvPr/>
        </p:nvSpPr>
        <p:spPr>
          <a:xfrm>
            <a:off x="11636477" y="0"/>
            <a:ext cx="555523"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3a981422744_2_103"/>
          <p:cNvSpPr/>
          <p:nvPr/>
        </p:nvSpPr>
        <p:spPr>
          <a:xfrm flipH="1">
            <a:off x="11433256" y="0"/>
            <a:ext cx="226667"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4" name="Google Shape;274;g3a981422744_2_103"/>
          <p:cNvSpPr>
            <a:spLocks noGrp="1"/>
          </p:cNvSpPr>
          <p:nvPr>
            <p:ph type="pic" idx="2"/>
          </p:nvPr>
        </p:nvSpPr>
        <p:spPr>
          <a:xfrm>
            <a:off x="718758" y="927457"/>
            <a:ext cx="4606032" cy="3821723"/>
          </a:xfrm>
          <a:prstGeom prst="snip2DiagRect">
            <a:avLst>
              <a:gd name="adj1" fmla="val 1734"/>
              <a:gd name="adj2" fmla="val 16667"/>
            </a:avLst>
          </a:prstGeom>
          <a:noFill/>
          <a:ln w="12700" cap="flat" cmpd="sng">
            <a:solidFill>
              <a:srgbClr val="FFB800"/>
            </a:solidFill>
            <a:prstDash val="solid"/>
            <a:round/>
            <a:headEnd type="none" w="sm" len="sm"/>
            <a:tailEnd type="none" w="sm" len="sm"/>
          </a:ln>
        </p:spPr>
      </p:sp>
      <p:pic>
        <p:nvPicPr>
          <p:cNvPr id="275" name="Google Shape;275;g3a981422744_2_103"/>
          <p:cNvPicPr preferRelativeResize="0"/>
          <p:nvPr/>
        </p:nvPicPr>
        <p:blipFill rotWithShape="1">
          <a:blip r:embed="rId2">
            <a:alphaModFix/>
          </a:blip>
          <a:srcRect/>
          <a:stretch/>
        </p:blipFill>
        <p:spPr>
          <a:xfrm>
            <a:off x="200041" y="5814275"/>
            <a:ext cx="1984360" cy="1115911"/>
          </a:xfrm>
          <a:prstGeom prst="rect">
            <a:avLst/>
          </a:prstGeom>
          <a:noFill/>
          <a:ln>
            <a:noFill/>
          </a:ln>
        </p:spPr>
      </p:pic>
      <p:sp>
        <p:nvSpPr>
          <p:cNvPr id="276" name="Google Shape;276;g3a981422744_2_103"/>
          <p:cNvSpPr txBox="1">
            <a:spLocks noGrp="1"/>
          </p:cNvSpPr>
          <p:nvPr>
            <p:ph type="body" idx="1"/>
          </p:nvPr>
        </p:nvSpPr>
        <p:spPr>
          <a:xfrm>
            <a:off x="549275" y="4970463"/>
            <a:ext cx="5065713" cy="84455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200"/>
              <a:buNone/>
              <a:defRPr sz="2200">
                <a:latin typeface="Garamond"/>
                <a:ea typeface="Garamond"/>
                <a:cs typeface="Garamond"/>
                <a:sym typeface="Garamond"/>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7" name="Google Shape;277;g3a981422744_2_103"/>
          <p:cNvSpPr txBox="1">
            <a:spLocks noGrp="1"/>
          </p:cNvSpPr>
          <p:nvPr>
            <p:ph type="body" idx="3"/>
          </p:nvPr>
        </p:nvSpPr>
        <p:spPr>
          <a:xfrm>
            <a:off x="5990880" y="4970463"/>
            <a:ext cx="5065713" cy="84455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200"/>
              <a:buNone/>
              <a:defRPr sz="2200">
                <a:latin typeface="Garamond"/>
                <a:ea typeface="Garamond"/>
                <a:cs typeface="Garamond"/>
                <a:sym typeface="Garamond"/>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8" name="Google Shape;278;g3a981422744_2_103"/>
          <p:cNvSpPr>
            <a:spLocks noGrp="1"/>
          </p:cNvSpPr>
          <p:nvPr>
            <p:ph type="pic" idx="4"/>
          </p:nvPr>
        </p:nvSpPr>
        <p:spPr>
          <a:xfrm>
            <a:off x="6141064" y="927456"/>
            <a:ext cx="4606032" cy="3821723"/>
          </a:xfrm>
          <a:prstGeom prst="snip2DiagRect">
            <a:avLst>
              <a:gd name="adj1" fmla="val 1734"/>
              <a:gd name="adj2" fmla="val 16667"/>
            </a:avLst>
          </a:prstGeom>
          <a:noFill/>
          <a:ln w="12700" cap="flat" cmpd="sng">
            <a:solidFill>
              <a:srgbClr val="FFB800"/>
            </a:solidFill>
            <a:prstDash val="solid"/>
            <a:round/>
            <a:headEnd type="none" w="sm" len="sm"/>
            <a:tailEnd type="none" w="sm" len="sm"/>
          </a:ln>
        </p:spPr>
      </p:sp>
      <p:sp>
        <p:nvSpPr>
          <p:cNvPr id="279" name="Google Shape;279;g3a981422744_2_103"/>
          <p:cNvSpPr txBox="1"/>
          <p:nvPr/>
        </p:nvSpPr>
        <p:spPr>
          <a:xfrm>
            <a:off x="671866" y="274132"/>
            <a:ext cx="4606032" cy="512648"/>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800"/>
              <a:buFont typeface="League Spartan"/>
              <a:buNone/>
            </a:pPr>
            <a:r>
              <a:rPr lang="en-US" sz="2800" b="0" i="0" u="none" strike="noStrike" cap="none">
                <a:solidFill>
                  <a:schemeClr val="dk1"/>
                </a:solidFill>
                <a:latin typeface="League Spartan"/>
                <a:ea typeface="League Spartan"/>
                <a:cs typeface="League Spartan"/>
                <a:sym typeface="League Spartan"/>
              </a:rPr>
              <a:t>Title</a:t>
            </a:r>
            <a:endParaRPr sz="2800" b="0" i="0" u="none" strike="noStrike" cap="none">
              <a:solidFill>
                <a:schemeClr val="dk1"/>
              </a:solidFill>
              <a:latin typeface="League Spartan"/>
              <a:ea typeface="League Spartan"/>
              <a:cs typeface="League Spartan"/>
              <a:sym typeface="League Spartan"/>
            </a:endParaRPr>
          </a:p>
        </p:txBody>
      </p:sp>
      <p:sp>
        <p:nvSpPr>
          <p:cNvPr id="280" name="Google Shape;280;g3a981422744_2_103"/>
          <p:cNvSpPr txBox="1"/>
          <p:nvPr/>
        </p:nvSpPr>
        <p:spPr>
          <a:xfrm>
            <a:off x="6094172" y="274132"/>
            <a:ext cx="4606032" cy="512648"/>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800"/>
              <a:buFont typeface="League Spartan"/>
              <a:buNone/>
            </a:pPr>
            <a:r>
              <a:rPr lang="en-US" sz="2800" b="0" i="0" u="none" strike="noStrike" cap="none">
                <a:solidFill>
                  <a:schemeClr val="dk1"/>
                </a:solidFill>
                <a:latin typeface="League Spartan"/>
                <a:ea typeface="League Spartan"/>
                <a:cs typeface="League Spartan"/>
                <a:sym typeface="League Spartan"/>
              </a:rPr>
              <a:t>Title</a:t>
            </a:r>
            <a:endParaRPr sz="2800" b="0" i="0" u="none" strike="noStrike" cap="none">
              <a:solidFill>
                <a:schemeClr val="dk1"/>
              </a:solidFill>
              <a:latin typeface="League Spartan"/>
              <a:ea typeface="League Spartan"/>
              <a:cs typeface="League Spartan"/>
              <a:sym typeface="League Spartan"/>
            </a:endParaRPr>
          </a:p>
        </p:txBody>
      </p:sp>
      <p:grpSp>
        <p:nvGrpSpPr>
          <p:cNvPr id="281" name="Google Shape;281;g3a981422744_2_103"/>
          <p:cNvGrpSpPr/>
          <p:nvPr/>
        </p:nvGrpSpPr>
        <p:grpSpPr>
          <a:xfrm>
            <a:off x="2513975" y="6036324"/>
            <a:ext cx="8680580" cy="594509"/>
            <a:chOff x="2823000" y="5855524"/>
            <a:chExt cx="8680580" cy="594509"/>
          </a:xfrm>
        </p:grpSpPr>
        <p:pic>
          <p:nvPicPr>
            <p:cNvPr id="282" name="Google Shape;282;g3a981422744_2_103"/>
            <p:cNvPicPr preferRelativeResize="0"/>
            <p:nvPr/>
          </p:nvPicPr>
          <p:blipFill rotWithShape="1">
            <a:blip r:embed="rId3">
              <a:alphaModFix/>
            </a:blip>
            <a:srcRect l="22166" r="58194"/>
            <a:stretch/>
          </p:blipFill>
          <p:spPr>
            <a:xfrm>
              <a:off x="3904736" y="5873410"/>
              <a:ext cx="808351" cy="552289"/>
            </a:xfrm>
            <a:prstGeom prst="rect">
              <a:avLst/>
            </a:prstGeom>
            <a:noFill/>
            <a:ln>
              <a:noFill/>
            </a:ln>
          </p:spPr>
        </p:pic>
        <p:grpSp>
          <p:nvGrpSpPr>
            <p:cNvPr id="283" name="Google Shape;283;g3a981422744_2_103"/>
            <p:cNvGrpSpPr/>
            <p:nvPr/>
          </p:nvGrpSpPr>
          <p:grpSpPr>
            <a:xfrm>
              <a:off x="10295831" y="6033029"/>
              <a:ext cx="1207749" cy="371488"/>
              <a:chOff x="-84695" y="0"/>
              <a:chExt cx="1342391" cy="497840"/>
            </a:xfrm>
          </p:grpSpPr>
          <p:pic>
            <p:nvPicPr>
              <p:cNvPr id="284" name="Google Shape;284;g3a981422744_2_103"/>
              <p:cNvPicPr preferRelativeResize="0"/>
              <p:nvPr/>
            </p:nvPicPr>
            <p:blipFill rotWithShape="1">
              <a:blip r:embed="rId4">
                <a:alphaModFix/>
              </a:blip>
              <a:srcRect b="25892"/>
              <a:stretch/>
            </p:blipFill>
            <p:spPr>
              <a:xfrm>
                <a:off x="77230" y="0"/>
                <a:ext cx="1032510" cy="190500"/>
              </a:xfrm>
              <a:prstGeom prst="rect">
                <a:avLst/>
              </a:prstGeom>
              <a:noFill/>
              <a:ln>
                <a:noFill/>
              </a:ln>
            </p:spPr>
          </p:pic>
          <p:pic>
            <p:nvPicPr>
              <p:cNvPr id="285" name="Google Shape;285;g3a981422744_2_103"/>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286" name="Google Shape;286;g3a981422744_2_103"/>
            <p:cNvPicPr preferRelativeResize="0"/>
            <p:nvPr/>
          </p:nvPicPr>
          <p:blipFill rotWithShape="1">
            <a:blip r:embed="rId6">
              <a:alphaModFix/>
            </a:blip>
            <a:srcRect l="16492" r="21565"/>
            <a:stretch/>
          </p:blipFill>
          <p:spPr>
            <a:xfrm>
              <a:off x="4820000" y="5888763"/>
              <a:ext cx="3990165" cy="561270"/>
            </a:xfrm>
            <a:prstGeom prst="rect">
              <a:avLst/>
            </a:prstGeom>
            <a:noFill/>
            <a:ln>
              <a:noFill/>
            </a:ln>
          </p:spPr>
        </p:pic>
        <p:grpSp>
          <p:nvGrpSpPr>
            <p:cNvPr id="287" name="Google Shape;287;g3a981422744_2_103"/>
            <p:cNvGrpSpPr/>
            <p:nvPr/>
          </p:nvGrpSpPr>
          <p:grpSpPr>
            <a:xfrm>
              <a:off x="8811715" y="5855524"/>
              <a:ext cx="1484101" cy="594499"/>
              <a:chOff x="6594839" y="3910580"/>
              <a:chExt cx="2862849" cy="1146796"/>
            </a:xfrm>
          </p:grpSpPr>
          <p:pic>
            <p:nvPicPr>
              <p:cNvPr id="288" name="Google Shape;288;g3a981422744_2_103"/>
              <p:cNvPicPr preferRelativeResize="0"/>
              <p:nvPr/>
            </p:nvPicPr>
            <p:blipFill rotWithShape="1">
              <a:blip r:embed="rId7">
                <a:alphaModFix/>
              </a:blip>
              <a:srcRect l="78411"/>
              <a:stretch/>
            </p:blipFill>
            <p:spPr>
              <a:xfrm>
                <a:off x="6594839" y="3910580"/>
                <a:ext cx="2841375" cy="1146796"/>
              </a:xfrm>
              <a:prstGeom prst="rect">
                <a:avLst/>
              </a:prstGeom>
              <a:noFill/>
              <a:ln>
                <a:noFill/>
              </a:ln>
            </p:spPr>
          </p:pic>
          <p:grpSp>
            <p:nvGrpSpPr>
              <p:cNvPr id="289" name="Google Shape;289;g3a981422744_2_103"/>
              <p:cNvGrpSpPr/>
              <p:nvPr/>
            </p:nvGrpSpPr>
            <p:grpSpPr>
              <a:xfrm>
                <a:off x="7732447" y="4302004"/>
                <a:ext cx="1725241" cy="577751"/>
                <a:chOff x="7732447" y="4302004"/>
                <a:chExt cx="1725241" cy="577751"/>
              </a:xfrm>
            </p:grpSpPr>
            <p:pic>
              <p:nvPicPr>
                <p:cNvPr id="290" name="Google Shape;290;g3a981422744_2_103"/>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291" name="Google Shape;291;g3a981422744_2_103"/>
                <p:cNvPicPr preferRelativeResize="0"/>
                <p:nvPr/>
              </p:nvPicPr>
              <p:blipFill rotWithShape="1">
                <a:blip r:embed="rId9">
                  <a:alphaModFix/>
                </a:blip>
                <a:srcRect b="31992"/>
                <a:stretch/>
              </p:blipFill>
              <p:spPr>
                <a:xfrm>
                  <a:off x="7732447" y="4302004"/>
                  <a:ext cx="795251" cy="256273"/>
                </a:xfrm>
                <a:prstGeom prst="rect">
                  <a:avLst/>
                </a:prstGeom>
                <a:noFill/>
                <a:ln>
                  <a:noFill/>
                </a:ln>
              </p:spPr>
            </p:pic>
          </p:grpSp>
        </p:grpSp>
        <p:pic>
          <p:nvPicPr>
            <p:cNvPr id="292" name="Google Shape;292;g3a981422744_2_103"/>
            <p:cNvPicPr preferRelativeResize="0"/>
            <p:nvPr/>
          </p:nvPicPr>
          <p:blipFill rotWithShape="1">
            <a:blip r:embed="rId10">
              <a:alphaModFix/>
            </a:blip>
            <a:srcRect/>
            <a:stretch/>
          </p:blipFill>
          <p:spPr>
            <a:xfrm>
              <a:off x="2823000" y="5986650"/>
              <a:ext cx="936704" cy="371500"/>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93"/>
        <p:cNvGrpSpPr/>
        <p:nvPr/>
      </p:nvGrpSpPr>
      <p:grpSpPr>
        <a:xfrm>
          <a:off x="0" y="0"/>
          <a:ext cx="0" cy="0"/>
          <a:chOff x="0" y="0"/>
          <a:chExt cx="0" cy="0"/>
        </a:xfrm>
      </p:grpSpPr>
      <p:sp>
        <p:nvSpPr>
          <p:cNvPr id="294" name="Google Shape;294;g3a981422744_2_1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C4B05"/>
              </a:buClr>
              <a:buSzPts val="3200"/>
              <a:buFont typeface="League Spartan"/>
              <a:buNone/>
              <a:defRPr sz="3200">
                <a:solidFill>
                  <a:srgbClr val="0C4B05"/>
                </a:solidFill>
                <a:latin typeface="League Spartan"/>
                <a:ea typeface="League Spartan"/>
                <a:cs typeface="League Spartan"/>
                <a:sym typeface="League Spart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5" name="Google Shape;295;g3a981422744_2_125"/>
          <p:cNvSpPr txBox="1">
            <a:spLocks noGrp="1"/>
          </p:cNvSpPr>
          <p:nvPr>
            <p:ph type="body" idx="1"/>
          </p:nvPr>
        </p:nvSpPr>
        <p:spPr>
          <a:xfrm>
            <a:off x="5183188" y="987425"/>
            <a:ext cx="59227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Garamond"/>
                <a:ea typeface="Garamond"/>
                <a:cs typeface="Garamond"/>
                <a:sym typeface="Garamond"/>
              </a:defRPr>
            </a:lvl1pPr>
            <a:lvl2pPr marL="914400" lvl="1" indent="-406400" algn="l">
              <a:lnSpc>
                <a:spcPct val="90000"/>
              </a:lnSpc>
              <a:spcBef>
                <a:spcPts val="500"/>
              </a:spcBef>
              <a:spcAft>
                <a:spcPts val="0"/>
              </a:spcAft>
              <a:buClr>
                <a:schemeClr val="dk1"/>
              </a:buClr>
              <a:buSzPts val="2800"/>
              <a:buChar char="•"/>
              <a:defRPr sz="2800">
                <a:latin typeface="Garamond"/>
                <a:ea typeface="Garamond"/>
                <a:cs typeface="Garamond"/>
                <a:sym typeface="Garamond"/>
              </a:defRPr>
            </a:lvl2pPr>
            <a:lvl3pPr marL="1371600" lvl="2" indent="-381000" algn="l">
              <a:lnSpc>
                <a:spcPct val="90000"/>
              </a:lnSpc>
              <a:spcBef>
                <a:spcPts val="500"/>
              </a:spcBef>
              <a:spcAft>
                <a:spcPts val="0"/>
              </a:spcAft>
              <a:buClr>
                <a:schemeClr val="dk1"/>
              </a:buClr>
              <a:buSzPts val="2400"/>
              <a:buChar char="•"/>
              <a:defRPr sz="2400">
                <a:latin typeface="Garamond"/>
                <a:ea typeface="Garamond"/>
                <a:cs typeface="Garamond"/>
                <a:sym typeface="Garamond"/>
              </a:defRPr>
            </a:lvl3pPr>
            <a:lvl4pPr marL="1828800" lvl="3" indent="-355600" algn="l">
              <a:lnSpc>
                <a:spcPct val="90000"/>
              </a:lnSpc>
              <a:spcBef>
                <a:spcPts val="500"/>
              </a:spcBef>
              <a:spcAft>
                <a:spcPts val="0"/>
              </a:spcAft>
              <a:buClr>
                <a:schemeClr val="dk1"/>
              </a:buClr>
              <a:buSzPts val="2000"/>
              <a:buChar char="•"/>
              <a:defRPr sz="2000">
                <a:latin typeface="Garamond"/>
                <a:ea typeface="Garamond"/>
                <a:cs typeface="Garamond"/>
                <a:sym typeface="Garamond"/>
              </a:defRPr>
            </a:lvl4pPr>
            <a:lvl5pPr marL="2286000" lvl="4" indent="-355600" algn="l">
              <a:lnSpc>
                <a:spcPct val="90000"/>
              </a:lnSpc>
              <a:spcBef>
                <a:spcPts val="500"/>
              </a:spcBef>
              <a:spcAft>
                <a:spcPts val="0"/>
              </a:spcAft>
              <a:buClr>
                <a:schemeClr val="dk1"/>
              </a:buClr>
              <a:buSzPts val="2000"/>
              <a:buChar char="•"/>
              <a:defRPr sz="2000">
                <a:latin typeface="Garamond"/>
                <a:ea typeface="Garamond"/>
                <a:cs typeface="Garamond"/>
                <a:sym typeface="Garamond"/>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96" name="Google Shape;296;g3a981422744_2_1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Garamond"/>
                <a:ea typeface="Garamond"/>
                <a:cs typeface="Garamond"/>
                <a:sym typeface="Garamon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97" name="Google Shape;297;g3a981422744_2_125"/>
          <p:cNvSpPr/>
          <p:nvPr/>
        </p:nvSpPr>
        <p:spPr>
          <a:xfrm>
            <a:off x="11636477" y="0"/>
            <a:ext cx="555523"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3a981422744_2_125"/>
          <p:cNvSpPr/>
          <p:nvPr/>
        </p:nvSpPr>
        <p:spPr>
          <a:xfrm flipH="1">
            <a:off x="11433256" y="0"/>
            <a:ext cx="226667"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9" name="Google Shape;299;g3a981422744_2_125"/>
          <p:cNvPicPr preferRelativeResize="0"/>
          <p:nvPr/>
        </p:nvPicPr>
        <p:blipFill rotWithShape="1">
          <a:blip r:embed="rId2">
            <a:alphaModFix/>
          </a:blip>
          <a:srcRect/>
          <a:stretch/>
        </p:blipFill>
        <p:spPr>
          <a:xfrm>
            <a:off x="200041" y="5814275"/>
            <a:ext cx="1984360" cy="1115911"/>
          </a:xfrm>
          <a:prstGeom prst="rect">
            <a:avLst/>
          </a:prstGeom>
          <a:noFill/>
          <a:ln>
            <a:noFill/>
          </a:ln>
        </p:spPr>
      </p:pic>
      <p:grpSp>
        <p:nvGrpSpPr>
          <p:cNvPr id="300" name="Google Shape;300;g3a981422744_2_125"/>
          <p:cNvGrpSpPr/>
          <p:nvPr/>
        </p:nvGrpSpPr>
        <p:grpSpPr>
          <a:xfrm>
            <a:off x="2468538" y="6074974"/>
            <a:ext cx="8680580" cy="594509"/>
            <a:chOff x="2823000" y="5855524"/>
            <a:chExt cx="8680580" cy="594509"/>
          </a:xfrm>
        </p:grpSpPr>
        <p:pic>
          <p:nvPicPr>
            <p:cNvPr id="301" name="Google Shape;301;g3a981422744_2_125"/>
            <p:cNvPicPr preferRelativeResize="0"/>
            <p:nvPr/>
          </p:nvPicPr>
          <p:blipFill rotWithShape="1">
            <a:blip r:embed="rId3">
              <a:alphaModFix/>
            </a:blip>
            <a:srcRect l="22166" r="58194"/>
            <a:stretch/>
          </p:blipFill>
          <p:spPr>
            <a:xfrm>
              <a:off x="3904736" y="5873410"/>
              <a:ext cx="808351" cy="552289"/>
            </a:xfrm>
            <a:prstGeom prst="rect">
              <a:avLst/>
            </a:prstGeom>
            <a:noFill/>
            <a:ln>
              <a:noFill/>
            </a:ln>
          </p:spPr>
        </p:pic>
        <p:grpSp>
          <p:nvGrpSpPr>
            <p:cNvPr id="302" name="Google Shape;302;g3a981422744_2_125"/>
            <p:cNvGrpSpPr/>
            <p:nvPr/>
          </p:nvGrpSpPr>
          <p:grpSpPr>
            <a:xfrm>
              <a:off x="10295831" y="6033029"/>
              <a:ext cx="1207749" cy="371488"/>
              <a:chOff x="-84695" y="0"/>
              <a:chExt cx="1342391" cy="497840"/>
            </a:xfrm>
          </p:grpSpPr>
          <p:pic>
            <p:nvPicPr>
              <p:cNvPr id="303" name="Google Shape;303;g3a981422744_2_125"/>
              <p:cNvPicPr preferRelativeResize="0"/>
              <p:nvPr/>
            </p:nvPicPr>
            <p:blipFill rotWithShape="1">
              <a:blip r:embed="rId4">
                <a:alphaModFix/>
              </a:blip>
              <a:srcRect b="25892"/>
              <a:stretch/>
            </p:blipFill>
            <p:spPr>
              <a:xfrm>
                <a:off x="77230" y="0"/>
                <a:ext cx="1032510" cy="190500"/>
              </a:xfrm>
              <a:prstGeom prst="rect">
                <a:avLst/>
              </a:prstGeom>
              <a:noFill/>
              <a:ln>
                <a:noFill/>
              </a:ln>
            </p:spPr>
          </p:pic>
          <p:pic>
            <p:nvPicPr>
              <p:cNvPr id="304" name="Google Shape;304;g3a981422744_2_125"/>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305" name="Google Shape;305;g3a981422744_2_125"/>
            <p:cNvPicPr preferRelativeResize="0"/>
            <p:nvPr/>
          </p:nvPicPr>
          <p:blipFill rotWithShape="1">
            <a:blip r:embed="rId6">
              <a:alphaModFix/>
            </a:blip>
            <a:srcRect l="16492" r="21565"/>
            <a:stretch/>
          </p:blipFill>
          <p:spPr>
            <a:xfrm>
              <a:off x="4820000" y="5888763"/>
              <a:ext cx="3990165" cy="561270"/>
            </a:xfrm>
            <a:prstGeom prst="rect">
              <a:avLst/>
            </a:prstGeom>
            <a:noFill/>
            <a:ln>
              <a:noFill/>
            </a:ln>
          </p:spPr>
        </p:pic>
        <p:grpSp>
          <p:nvGrpSpPr>
            <p:cNvPr id="306" name="Google Shape;306;g3a981422744_2_125"/>
            <p:cNvGrpSpPr/>
            <p:nvPr/>
          </p:nvGrpSpPr>
          <p:grpSpPr>
            <a:xfrm>
              <a:off x="8811715" y="5855524"/>
              <a:ext cx="1484101" cy="594499"/>
              <a:chOff x="6594839" y="3910580"/>
              <a:chExt cx="2862849" cy="1146796"/>
            </a:xfrm>
          </p:grpSpPr>
          <p:pic>
            <p:nvPicPr>
              <p:cNvPr id="307" name="Google Shape;307;g3a981422744_2_125"/>
              <p:cNvPicPr preferRelativeResize="0"/>
              <p:nvPr/>
            </p:nvPicPr>
            <p:blipFill rotWithShape="1">
              <a:blip r:embed="rId7">
                <a:alphaModFix/>
              </a:blip>
              <a:srcRect l="78411"/>
              <a:stretch/>
            </p:blipFill>
            <p:spPr>
              <a:xfrm>
                <a:off x="6594839" y="3910580"/>
                <a:ext cx="2841375" cy="1146796"/>
              </a:xfrm>
              <a:prstGeom prst="rect">
                <a:avLst/>
              </a:prstGeom>
              <a:noFill/>
              <a:ln>
                <a:noFill/>
              </a:ln>
            </p:spPr>
          </p:pic>
          <p:grpSp>
            <p:nvGrpSpPr>
              <p:cNvPr id="308" name="Google Shape;308;g3a981422744_2_125"/>
              <p:cNvGrpSpPr/>
              <p:nvPr/>
            </p:nvGrpSpPr>
            <p:grpSpPr>
              <a:xfrm>
                <a:off x="7732447" y="4302004"/>
                <a:ext cx="1725241" cy="577751"/>
                <a:chOff x="7732447" y="4302004"/>
                <a:chExt cx="1725241" cy="577751"/>
              </a:xfrm>
            </p:grpSpPr>
            <p:pic>
              <p:nvPicPr>
                <p:cNvPr id="309" name="Google Shape;309;g3a981422744_2_125"/>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310" name="Google Shape;310;g3a981422744_2_125"/>
                <p:cNvPicPr preferRelativeResize="0"/>
                <p:nvPr/>
              </p:nvPicPr>
              <p:blipFill rotWithShape="1">
                <a:blip r:embed="rId9">
                  <a:alphaModFix/>
                </a:blip>
                <a:srcRect b="31992"/>
                <a:stretch/>
              </p:blipFill>
              <p:spPr>
                <a:xfrm>
                  <a:off x="7732447" y="4302004"/>
                  <a:ext cx="795251" cy="256273"/>
                </a:xfrm>
                <a:prstGeom prst="rect">
                  <a:avLst/>
                </a:prstGeom>
                <a:noFill/>
                <a:ln>
                  <a:noFill/>
                </a:ln>
              </p:spPr>
            </p:pic>
          </p:grpSp>
        </p:grpSp>
        <p:pic>
          <p:nvPicPr>
            <p:cNvPr id="311" name="Google Shape;311;g3a981422744_2_125"/>
            <p:cNvPicPr preferRelativeResize="0"/>
            <p:nvPr/>
          </p:nvPicPr>
          <p:blipFill rotWithShape="1">
            <a:blip r:embed="rId10">
              <a:alphaModFix/>
            </a:blip>
            <a:srcRect/>
            <a:stretch/>
          </p:blipFill>
          <p:spPr>
            <a:xfrm>
              <a:off x="2823000" y="5986650"/>
              <a:ext cx="936704" cy="371500"/>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312"/>
        <p:cNvGrpSpPr/>
        <p:nvPr/>
      </p:nvGrpSpPr>
      <p:grpSpPr>
        <a:xfrm>
          <a:off x="0" y="0"/>
          <a:ext cx="0" cy="0"/>
          <a:chOff x="0" y="0"/>
          <a:chExt cx="0" cy="0"/>
        </a:xfrm>
      </p:grpSpPr>
      <p:sp>
        <p:nvSpPr>
          <p:cNvPr id="313" name="Google Shape;313;g3a981422744_2_1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C4B05"/>
              </a:buClr>
              <a:buSzPts val="3200"/>
              <a:buFont typeface="League Spartan"/>
              <a:buNone/>
              <a:defRPr sz="3200">
                <a:solidFill>
                  <a:srgbClr val="0C4B05"/>
                </a:solidFill>
                <a:latin typeface="League Spartan"/>
                <a:ea typeface="League Spartan"/>
                <a:cs typeface="League Spartan"/>
                <a:sym typeface="League Spart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4" name="Google Shape;314;g3a981422744_2_14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Garamond"/>
                <a:ea typeface="Garamond"/>
                <a:cs typeface="Garamond"/>
                <a:sym typeface="Garamon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15" name="Google Shape;315;g3a981422744_2_144"/>
          <p:cNvSpPr/>
          <p:nvPr/>
        </p:nvSpPr>
        <p:spPr>
          <a:xfrm>
            <a:off x="11636477" y="0"/>
            <a:ext cx="555523" cy="6858000"/>
          </a:xfrm>
          <a:prstGeom prst="rect">
            <a:avLst/>
          </a:prstGeom>
          <a:solidFill>
            <a:srgbClr val="0C4B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 name="Google Shape;316;g3a981422744_2_144"/>
          <p:cNvSpPr/>
          <p:nvPr/>
        </p:nvSpPr>
        <p:spPr>
          <a:xfrm flipH="1">
            <a:off x="11433256" y="0"/>
            <a:ext cx="226667" cy="6858000"/>
          </a:xfrm>
          <a:prstGeom prst="rect">
            <a:avLst/>
          </a:prstGeom>
          <a:solidFill>
            <a:srgbClr val="FFB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17" name="Google Shape;317;g3a981422744_2_144"/>
          <p:cNvPicPr preferRelativeResize="0"/>
          <p:nvPr/>
        </p:nvPicPr>
        <p:blipFill rotWithShape="1">
          <a:blip r:embed="rId2">
            <a:alphaModFix/>
          </a:blip>
          <a:srcRect/>
          <a:stretch/>
        </p:blipFill>
        <p:spPr>
          <a:xfrm>
            <a:off x="200041" y="5814275"/>
            <a:ext cx="1984360" cy="1115911"/>
          </a:xfrm>
          <a:prstGeom prst="rect">
            <a:avLst/>
          </a:prstGeom>
          <a:noFill/>
          <a:ln>
            <a:noFill/>
          </a:ln>
        </p:spPr>
      </p:pic>
      <p:sp>
        <p:nvSpPr>
          <p:cNvPr id="318" name="Google Shape;318;g3a981422744_2_144"/>
          <p:cNvSpPr>
            <a:spLocks noGrp="1"/>
          </p:cNvSpPr>
          <p:nvPr>
            <p:ph type="pic" idx="2"/>
          </p:nvPr>
        </p:nvSpPr>
        <p:spPr>
          <a:xfrm>
            <a:off x="5204481" y="457200"/>
            <a:ext cx="5884265" cy="5357075"/>
          </a:xfrm>
          <a:prstGeom prst="snip2DiagRect">
            <a:avLst>
              <a:gd name="adj1" fmla="val 1734"/>
              <a:gd name="adj2" fmla="val 8351"/>
            </a:avLst>
          </a:prstGeom>
          <a:noFill/>
          <a:ln w="12700" cap="flat" cmpd="sng">
            <a:solidFill>
              <a:srgbClr val="FFB800"/>
            </a:solidFill>
            <a:prstDash val="solid"/>
            <a:round/>
            <a:headEnd type="none" w="sm" len="sm"/>
            <a:tailEnd type="none" w="sm" len="sm"/>
          </a:ln>
        </p:spPr>
      </p:sp>
      <p:grpSp>
        <p:nvGrpSpPr>
          <p:cNvPr id="319" name="Google Shape;319;g3a981422744_2_144"/>
          <p:cNvGrpSpPr/>
          <p:nvPr/>
        </p:nvGrpSpPr>
        <p:grpSpPr>
          <a:xfrm>
            <a:off x="2513975" y="6074974"/>
            <a:ext cx="8680580" cy="594509"/>
            <a:chOff x="2823000" y="5855524"/>
            <a:chExt cx="8680580" cy="594509"/>
          </a:xfrm>
        </p:grpSpPr>
        <p:pic>
          <p:nvPicPr>
            <p:cNvPr id="320" name="Google Shape;320;g3a981422744_2_144"/>
            <p:cNvPicPr preferRelativeResize="0"/>
            <p:nvPr/>
          </p:nvPicPr>
          <p:blipFill rotWithShape="1">
            <a:blip r:embed="rId3">
              <a:alphaModFix/>
            </a:blip>
            <a:srcRect l="22166" r="58194"/>
            <a:stretch/>
          </p:blipFill>
          <p:spPr>
            <a:xfrm>
              <a:off x="3904736" y="5873410"/>
              <a:ext cx="808351" cy="552289"/>
            </a:xfrm>
            <a:prstGeom prst="rect">
              <a:avLst/>
            </a:prstGeom>
            <a:noFill/>
            <a:ln>
              <a:noFill/>
            </a:ln>
          </p:spPr>
        </p:pic>
        <p:grpSp>
          <p:nvGrpSpPr>
            <p:cNvPr id="321" name="Google Shape;321;g3a981422744_2_144"/>
            <p:cNvGrpSpPr/>
            <p:nvPr/>
          </p:nvGrpSpPr>
          <p:grpSpPr>
            <a:xfrm>
              <a:off x="10295831" y="6033029"/>
              <a:ext cx="1207749" cy="371488"/>
              <a:chOff x="-84695" y="0"/>
              <a:chExt cx="1342391" cy="497840"/>
            </a:xfrm>
          </p:grpSpPr>
          <p:pic>
            <p:nvPicPr>
              <p:cNvPr id="322" name="Google Shape;322;g3a981422744_2_144"/>
              <p:cNvPicPr preferRelativeResize="0"/>
              <p:nvPr/>
            </p:nvPicPr>
            <p:blipFill rotWithShape="1">
              <a:blip r:embed="rId4">
                <a:alphaModFix/>
              </a:blip>
              <a:srcRect b="25892"/>
              <a:stretch/>
            </p:blipFill>
            <p:spPr>
              <a:xfrm>
                <a:off x="77230" y="0"/>
                <a:ext cx="1032510" cy="190500"/>
              </a:xfrm>
              <a:prstGeom prst="rect">
                <a:avLst/>
              </a:prstGeom>
              <a:noFill/>
              <a:ln>
                <a:noFill/>
              </a:ln>
            </p:spPr>
          </p:pic>
          <p:pic>
            <p:nvPicPr>
              <p:cNvPr id="323" name="Google Shape;323;g3a981422744_2_144"/>
              <p:cNvPicPr preferRelativeResize="0"/>
              <p:nvPr/>
            </p:nvPicPr>
            <p:blipFill rotWithShape="1">
              <a:blip r:embed="rId5">
                <a:alphaModFix/>
              </a:blip>
              <a:srcRect/>
              <a:stretch/>
            </p:blipFill>
            <p:spPr>
              <a:xfrm>
                <a:off x="-84695" y="57150"/>
                <a:ext cx="1342391" cy="440690"/>
              </a:xfrm>
              <a:prstGeom prst="rect">
                <a:avLst/>
              </a:prstGeom>
              <a:noFill/>
              <a:ln>
                <a:noFill/>
              </a:ln>
            </p:spPr>
          </p:pic>
        </p:grpSp>
        <p:pic>
          <p:nvPicPr>
            <p:cNvPr id="324" name="Google Shape;324;g3a981422744_2_144"/>
            <p:cNvPicPr preferRelativeResize="0"/>
            <p:nvPr/>
          </p:nvPicPr>
          <p:blipFill rotWithShape="1">
            <a:blip r:embed="rId6">
              <a:alphaModFix/>
            </a:blip>
            <a:srcRect l="16492" r="21565"/>
            <a:stretch/>
          </p:blipFill>
          <p:spPr>
            <a:xfrm>
              <a:off x="4820000" y="5888763"/>
              <a:ext cx="3990165" cy="561270"/>
            </a:xfrm>
            <a:prstGeom prst="rect">
              <a:avLst/>
            </a:prstGeom>
            <a:noFill/>
            <a:ln>
              <a:noFill/>
            </a:ln>
          </p:spPr>
        </p:pic>
        <p:grpSp>
          <p:nvGrpSpPr>
            <p:cNvPr id="325" name="Google Shape;325;g3a981422744_2_144"/>
            <p:cNvGrpSpPr/>
            <p:nvPr/>
          </p:nvGrpSpPr>
          <p:grpSpPr>
            <a:xfrm>
              <a:off x="8811715" y="5855524"/>
              <a:ext cx="1484101" cy="594499"/>
              <a:chOff x="6594839" y="3910580"/>
              <a:chExt cx="2862849" cy="1146796"/>
            </a:xfrm>
          </p:grpSpPr>
          <p:pic>
            <p:nvPicPr>
              <p:cNvPr id="326" name="Google Shape;326;g3a981422744_2_144"/>
              <p:cNvPicPr preferRelativeResize="0"/>
              <p:nvPr/>
            </p:nvPicPr>
            <p:blipFill rotWithShape="1">
              <a:blip r:embed="rId7">
                <a:alphaModFix/>
              </a:blip>
              <a:srcRect l="78411"/>
              <a:stretch/>
            </p:blipFill>
            <p:spPr>
              <a:xfrm>
                <a:off x="6594839" y="3910580"/>
                <a:ext cx="2841375" cy="1146796"/>
              </a:xfrm>
              <a:prstGeom prst="rect">
                <a:avLst/>
              </a:prstGeom>
              <a:noFill/>
              <a:ln>
                <a:noFill/>
              </a:ln>
            </p:spPr>
          </p:pic>
          <p:grpSp>
            <p:nvGrpSpPr>
              <p:cNvPr id="327" name="Google Shape;327;g3a981422744_2_144"/>
              <p:cNvGrpSpPr/>
              <p:nvPr/>
            </p:nvGrpSpPr>
            <p:grpSpPr>
              <a:xfrm>
                <a:off x="7732447" y="4302004"/>
                <a:ext cx="1725241" cy="577751"/>
                <a:chOff x="7732447" y="4302004"/>
                <a:chExt cx="1725241" cy="577751"/>
              </a:xfrm>
            </p:grpSpPr>
            <p:pic>
              <p:nvPicPr>
                <p:cNvPr id="328" name="Google Shape;328;g3a981422744_2_144"/>
                <p:cNvPicPr preferRelativeResize="0"/>
                <p:nvPr/>
              </p:nvPicPr>
              <p:blipFill rotWithShape="1">
                <a:blip r:embed="rId8">
                  <a:alphaModFix/>
                </a:blip>
                <a:srcRect/>
                <a:stretch/>
              </p:blipFill>
              <p:spPr>
                <a:xfrm>
                  <a:off x="7734184" y="4475202"/>
                  <a:ext cx="1723504" cy="404553"/>
                </a:xfrm>
                <a:prstGeom prst="rect">
                  <a:avLst/>
                </a:prstGeom>
                <a:noFill/>
                <a:ln>
                  <a:noFill/>
                </a:ln>
              </p:spPr>
            </p:pic>
            <p:pic>
              <p:nvPicPr>
                <p:cNvPr id="329" name="Google Shape;329;g3a981422744_2_144"/>
                <p:cNvPicPr preferRelativeResize="0"/>
                <p:nvPr/>
              </p:nvPicPr>
              <p:blipFill rotWithShape="1">
                <a:blip r:embed="rId9">
                  <a:alphaModFix/>
                </a:blip>
                <a:srcRect b="31992"/>
                <a:stretch/>
              </p:blipFill>
              <p:spPr>
                <a:xfrm>
                  <a:off x="7732447" y="4302004"/>
                  <a:ext cx="795251" cy="256273"/>
                </a:xfrm>
                <a:prstGeom prst="rect">
                  <a:avLst/>
                </a:prstGeom>
                <a:noFill/>
                <a:ln>
                  <a:noFill/>
                </a:ln>
              </p:spPr>
            </p:pic>
          </p:grpSp>
        </p:grpSp>
        <p:pic>
          <p:nvPicPr>
            <p:cNvPr id="330" name="Google Shape;330;g3a981422744_2_144"/>
            <p:cNvPicPr preferRelativeResize="0"/>
            <p:nvPr/>
          </p:nvPicPr>
          <p:blipFill rotWithShape="1">
            <a:blip r:embed="rId10">
              <a:alphaModFix/>
            </a:blip>
            <a:srcRect/>
            <a:stretch/>
          </p:blipFill>
          <p:spPr>
            <a:xfrm>
              <a:off x="2823000" y="5986650"/>
              <a:ext cx="936704" cy="371500"/>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8"/>
        <p:cNvGrpSpPr/>
        <p:nvPr/>
      </p:nvGrpSpPr>
      <p:grpSpPr>
        <a:xfrm>
          <a:off x="0" y="0"/>
          <a:ext cx="0" cy="0"/>
          <a:chOff x="0" y="0"/>
          <a:chExt cx="0" cy="0"/>
        </a:xfrm>
      </p:grpSpPr>
      <p:sp>
        <p:nvSpPr>
          <p:cNvPr id="169" name="Google Shape;169;g3a981422744_2_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0" name="Google Shape;170;g3a981422744_2_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1" name="Google Shape;171;g3a981422744_2_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2" name="Google Shape;172;g3a981422744_2_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3" name="Google Shape;173;g3a981422744_2_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6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1.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6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
          <p:cNvSpPr txBox="1">
            <a:spLocks noGrp="1"/>
          </p:cNvSpPr>
          <p:nvPr>
            <p:ph type="ctrTitle"/>
          </p:nvPr>
        </p:nvSpPr>
        <p:spPr>
          <a:xfrm>
            <a:off x="906718" y="1759449"/>
            <a:ext cx="8515895" cy="140863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0C4B05"/>
              </a:buClr>
              <a:buSzPts val="6000"/>
              <a:buFont typeface="League Spartan"/>
              <a:buNone/>
            </a:pPr>
            <a:r>
              <a:rPr lang="en-GB" sz="4500" dirty="0"/>
              <a:t>SKILLSENSE: SEMANTIC DRIVEN RESUME SCREENING SYSTEM</a:t>
            </a:r>
            <a:endParaRPr sz="4500" dirty="0"/>
          </a:p>
        </p:txBody>
      </p:sp>
      <p:sp>
        <p:nvSpPr>
          <p:cNvPr id="4" name="Subtitle 3">
            <a:extLst>
              <a:ext uri="{FF2B5EF4-FFF2-40B4-BE49-F238E27FC236}">
                <a16:creationId xmlns:a16="http://schemas.microsoft.com/office/drawing/2014/main" id="{B91BDF9C-D6D0-493D-A4F1-BDA7C0C40815}"/>
              </a:ext>
            </a:extLst>
          </p:cNvPr>
          <p:cNvSpPr>
            <a:spLocks noGrp="1"/>
          </p:cNvSpPr>
          <p:nvPr>
            <p:ph type="subTitle" idx="1"/>
          </p:nvPr>
        </p:nvSpPr>
        <p:spPr>
          <a:xfrm>
            <a:off x="2802465" y="3689920"/>
            <a:ext cx="4724400" cy="1408632"/>
          </a:xfrm>
        </p:spPr>
        <p:txBody>
          <a:bodyPr>
            <a:normAutofit/>
          </a:bodyPr>
          <a:lstStyle/>
          <a:p>
            <a:r>
              <a:rPr lang="en-US" sz="2400" b="1" dirty="0"/>
              <a:t>ACIDERA, LUCKY FRANCIS</a:t>
            </a:r>
          </a:p>
          <a:p>
            <a:r>
              <a:rPr lang="en-US" sz="2400" b="1" dirty="0"/>
              <a:t>ALBERTO, JOHN BENEDICT</a:t>
            </a:r>
          </a:p>
          <a:p>
            <a:r>
              <a:rPr lang="en-US" sz="2400" b="1" dirty="0"/>
              <a:t>CABUNGAN, MARK ALFRED</a:t>
            </a:r>
          </a:p>
          <a:p>
            <a:r>
              <a:rPr lang="en-US" sz="2400" b="1" dirty="0"/>
              <a:t>DAGUIMOL, RUSSEL </a:t>
            </a:r>
          </a:p>
          <a:p>
            <a:endParaRPr lang="en-US" sz="2400" b="1" dirty="0"/>
          </a:p>
        </p:txBody>
      </p:sp>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41ACDCBA-2DE5-3F46-6D01-2D0C61F68938}"/>
            </a:ext>
          </a:extLst>
        </p:cNvPr>
        <p:cNvGrpSpPr/>
        <p:nvPr/>
      </p:nvGrpSpPr>
      <p:grpSpPr>
        <a:xfrm>
          <a:off x="0" y="0"/>
          <a:ext cx="0" cy="0"/>
          <a:chOff x="0" y="0"/>
          <a:chExt cx="0" cy="0"/>
        </a:xfrm>
      </p:grpSpPr>
      <p:sp>
        <p:nvSpPr>
          <p:cNvPr id="339" name="Google Shape;339;p2">
            <a:extLst>
              <a:ext uri="{FF2B5EF4-FFF2-40B4-BE49-F238E27FC236}">
                <a16:creationId xmlns:a16="http://schemas.microsoft.com/office/drawing/2014/main" id="{97A41EF3-AE09-6097-AFA1-B70FA8D81DDA}"/>
              </a:ext>
            </a:extLst>
          </p:cNvPr>
          <p:cNvSpPr txBox="1">
            <a:spLocks noGrp="1"/>
          </p:cNvSpPr>
          <p:nvPr>
            <p:ph type="ctrTitle"/>
          </p:nvPr>
        </p:nvSpPr>
        <p:spPr>
          <a:xfrm>
            <a:off x="463982" y="864972"/>
            <a:ext cx="8515895" cy="896095"/>
          </a:xfrm>
          <a:prstGeom prst="rect">
            <a:avLst/>
          </a:prstGeom>
          <a:noFill/>
          <a:ln>
            <a:noFill/>
          </a:ln>
        </p:spPr>
        <p:txBody>
          <a:bodyPr spcFirstLastPara="1" wrap="square" lIns="91425" tIns="45700" rIns="91425" bIns="45700" anchor="b" anchorCtr="0">
            <a:noAutofit/>
          </a:bodyPr>
          <a:lstStyle/>
          <a:p>
            <a:pPr marL="0" lvl="0" indent="0" algn="ctr">
              <a:lnSpc>
                <a:spcPct val="90000"/>
              </a:lnSpc>
              <a:spcBef>
                <a:spcPts val="0"/>
              </a:spcBef>
              <a:spcAft>
                <a:spcPts val="0"/>
              </a:spcAft>
              <a:buNone/>
            </a:pPr>
            <a:r>
              <a:rPr lang="en-GB" sz="4500" dirty="0"/>
              <a:t>INTRODUCTION</a:t>
            </a:r>
            <a:endParaRPr lang="en-US" dirty="0"/>
          </a:p>
        </p:txBody>
      </p:sp>
      <p:sp>
        <p:nvSpPr>
          <p:cNvPr id="3" name="Subtitle 2">
            <a:extLst>
              <a:ext uri="{FF2B5EF4-FFF2-40B4-BE49-F238E27FC236}">
                <a16:creationId xmlns:a16="http://schemas.microsoft.com/office/drawing/2014/main" id="{503E5190-E456-E136-8EAD-56D4D291D0CD}"/>
              </a:ext>
            </a:extLst>
          </p:cNvPr>
          <p:cNvSpPr>
            <a:spLocks noGrp="1"/>
          </p:cNvSpPr>
          <p:nvPr>
            <p:ph type="subTitle" idx="1"/>
          </p:nvPr>
        </p:nvSpPr>
        <p:spPr>
          <a:xfrm>
            <a:off x="709516" y="2074403"/>
            <a:ext cx="8515895" cy="1655762"/>
          </a:xfrm>
        </p:spPr>
        <p:txBody>
          <a:bodyPr/>
          <a:lstStyle/>
          <a:p>
            <a:pPr marL="0" indent="0">
              <a:buNone/>
            </a:pPr>
            <a:r>
              <a:rPr lang="en-US" sz="2800" dirty="0">
                <a:solidFill>
                  <a:srgbClr val="1E293B"/>
                </a:solidFill>
                <a:latin typeface="Calibri" pitchFamily="34" charset="0"/>
                <a:ea typeface="Calibri" pitchFamily="34" charset="-122"/>
                <a:cs typeface="Calibri" pitchFamily="34" charset="-120"/>
              </a:rPr>
              <a:t>Conventional Applicant Tracking Systems (ATS) rely on keyword-based filtering — a rigid approach that overlooks qualified candidates whose resumes lack exact terminology.</a:t>
            </a:r>
            <a:endParaRPr lang="en-US" sz="2800" dirty="0"/>
          </a:p>
        </p:txBody>
      </p:sp>
    </p:spTree>
    <p:extLst>
      <p:ext uri="{BB962C8B-B14F-4D97-AF65-F5344CB8AC3E}">
        <p14:creationId xmlns:p14="http://schemas.microsoft.com/office/powerpoint/2010/main" val="3890129194"/>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
          <p:cNvSpPr txBox="1">
            <a:spLocks noGrp="1"/>
          </p:cNvSpPr>
          <p:nvPr>
            <p:ph type="ctrTitle" idx="4294967295"/>
          </p:nvPr>
        </p:nvSpPr>
        <p:spPr>
          <a:xfrm>
            <a:off x="0" y="0"/>
            <a:ext cx="5057700" cy="8943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C4B05"/>
              </a:buClr>
              <a:buSzPts val="6000"/>
              <a:buFont typeface="League Spartan"/>
              <a:buNone/>
            </a:pPr>
            <a:r>
              <a:rPr lang="en-US" sz="2900" b="1"/>
              <a:t>BACKGROUND OF THE STUDY</a:t>
            </a:r>
            <a:endParaRPr sz="2900" b="1"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9BDBEB54-399B-4772-85BD-4E8D16AFF942}"/>
              </a:ext>
            </a:extLst>
          </p:cNvPr>
          <p:cNvSpPr txBox="1"/>
          <p:nvPr/>
        </p:nvSpPr>
        <p:spPr>
          <a:xfrm>
            <a:off x="487679" y="966652"/>
            <a:ext cx="10868297" cy="3888244"/>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Problem/Gap</a:t>
            </a:r>
          </a:p>
          <a:p>
            <a:pPr marL="342900" indent="-342900">
              <a:spcAft>
                <a:spcPts val="400"/>
              </a:spcAft>
              <a:buSzPct val="100000"/>
              <a:buChar char="•"/>
            </a:pPr>
            <a:r>
              <a:rPr lang="en-US" sz="2000" dirty="0">
                <a:solidFill>
                  <a:srgbClr val="1E293B"/>
                </a:solidFill>
                <a:latin typeface="Arial" panose="020B0604020202020204" pitchFamily="34" charset="0"/>
                <a:ea typeface="Calibri" pitchFamily="34" charset="-122"/>
                <a:cs typeface="Calibri" pitchFamily="34" charset="-120"/>
              </a:rPr>
              <a:t>ATS keyword filters miss context-aware matches</a:t>
            </a:r>
            <a:endParaRPr lang="en-US" sz="2000" dirty="0">
              <a:latin typeface="Arial" panose="020B0604020202020204" pitchFamily="34" charset="0"/>
              <a:cs typeface="Arial" panose="020B0604020202020204" pitchFamily="34" charset="0"/>
            </a:endParaRPr>
          </a:p>
          <a:p>
            <a:pPr marL="342900" indent="-342900">
              <a:spcAft>
                <a:spcPts val="400"/>
              </a:spcAft>
              <a:buSzPct val="100000"/>
              <a:buChar char="•"/>
            </a:pPr>
            <a:r>
              <a:rPr lang="en-US" sz="2000" dirty="0">
                <a:solidFill>
                  <a:srgbClr val="1E293B"/>
                </a:solidFill>
                <a:latin typeface="Arial" panose="020B0604020202020204" pitchFamily="34" charset="0"/>
                <a:ea typeface="Calibri" pitchFamily="34" charset="-122"/>
                <a:cs typeface="Calibri" pitchFamily="34" charset="-120"/>
              </a:rPr>
              <a:t>High false-shortlisting from unstructured data</a:t>
            </a: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Motivation</a:t>
            </a:r>
          </a:p>
          <a:p>
            <a:pPr marL="285750" indent="-285750">
              <a:buFont typeface="Arial" panose="020B0604020202020204" pitchFamily="34" charset="0"/>
              <a:buChar char="•"/>
            </a:pPr>
            <a:r>
              <a:rPr lang="en-US" sz="2000" b="0" i="0" u="none" strike="noStrike" dirty="0">
                <a:solidFill>
                  <a:srgbClr val="000000"/>
                </a:solidFill>
                <a:effectLst/>
                <a:latin typeface="Arial" panose="020B0604020202020204" pitchFamily="34" charset="0"/>
                <a:cs typeface="Arial" panose="020B0604020202020204" pitchFamily="34" charset="0"/>
              </a:rPr>
              <a:t>To improve the accuracy and efficiency of candidate skill matching in ATS systems </a:t>
            </a:r>
          </a:p>
          <a:p>
            <a:pPr marL="285750" indent="-285750">
              <a:buFont typeface="Arial" panose="020B0604020202020204" pitchFamily="34" charset="0"/>
              <a:buChar char="•"/>
            </a:pPr>
            <a:r>
              <a:rPr lang="en-US" sz="2000" b="0" i="0" u="none" strike="noStrike" dirty="0">
                <a:solidFill>
                  <a:srgbClr val="000000"/>
                </a:solidFill>
                <a:effectLst/>
                <a:latin typeface="Arial" panose="020B0604020202020204" pitchFamily="34" charset="0"/>
                <a:cs typeface="Arial" panose="020B0604020202020204" pitchFamily="34" charset="0"/>
              </a:rPr>
              <a:t>To provide recruiters a more reliable and accurate resume screening system that evaluates based on contextual relevance</a:t>
            </a:r>
          </a:p>
          <a:p>
            <a:pPr marL="285750" indent="-285750">
              <a:buFont typeface="Arial" panose="020B0604020202020204" pitchFamily="34" charset="0"/>
              <a:buChar char="•"/>
            </a:pPr>
            <a:endParaRPr lang="en-US" sz="2000" b="1"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Solution</a:t>
            </a:r>
          </a:p>
          <a:p>
            <a:pPr marL="285750" indent="-285750">
              <a:buFont typeface="Arial" panose="020B0604020202020204" pitchFamily="34" charset="0"/>
              <a:buChar char="•"/>
            </a:pPr>
            <a:r>
              <a:rPr lang="en-US" sz="2000" b="0" i="0" u="none" strike="noStrike" dirty="0">
                <a:solidFill>
                  <a:srgbClr val="000000"/>
                </a:solidFill>
                <a:effectLst/>
                <a:latin typeface="Arial" panose="020B0604020202020204" pitchFamily="34" charset="0"/>
                <a:cs typeface="Arial" panose="020B0604020202020204" pitchFamily="34" charset="0"/>
              </a:rPr>
              <a:t>Develop a web-based resume screening system that integrates a </a:t>
            </a:r>
            <a:r>
              <a:rPr lang="en-US" sz="2000" i="0" u="none" strike="noStrike" dirty="0">
                <a:solidFill>
                  <a:srgbClr val="000000"/>
                </a:solidFill>
                <a:effectLst/>
                <a:latin typeface="Arial" panose="020B0604020202020204" pitchFamily="34" charset="0"/>
                <a:cs typeface="Arial" panose="020B0604020202020204" pitchFamily="34" charset="0"/>
              </a:rPr>
              <a:t>pretrained</a:t>
            </a:r>
            <a:r>
              <a:rPr lang="en-US" sz="2000" b="1"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a:solidFill>
                  <a:srgbClr val="000000"/>
                </a:solidFill>
                <a:effectLst/>
                <a:latin typeface="Arial" panose="020B0604020202020204" pitchFamily="34" charset="0"/>
                <a:cs typeface="Arial" panose="020B0604020202020204" pitchFamily="34" charset="0"/>
              </a:rPr>
              <a:t>Sentence-BERT (S-BERT) for semantic similarity matching and to capture contextual relationships</a:t>
            </a:r>
            <a:endParaRPr lang="en-US" sz="2000" b="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3a97d36dee9_0_0"/>
          <p:cNvSpPr txBox="1">
            <a:spLocks noGrp="1"/>
          </p:cNvSpPr>
          <p:nvPr>
            <p:ph type="ctrTitle" idx="4294967295"/>
          </p:nvPr>
        </p:nvSpPr>
        <p:spPr>
          <a:xfrm>
            <a:off x="0" y="0"/>
            <a:ext cx="3879000" cy="8943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C4B05"/>
              </a:buClr>
              <a:buSzPts val="6000"/>
              <a:buFont typeface="League Spartan"/>
              <a:buNone/>
            </a:pPr>
            <a:r>
              <a:rPr lang="en-US" sz="2900" b="1" i="0" u="none" strike="noStrike" cap="none">
                <a:solidFill>
                  <a:schemeClr val="dk1"/>
                </a:solidFill>
                <a:latin typeface="Calibri"/>
                <a:ea typeface="Calibri"/>
                <a:cs typeface="Calibri"/>
                <a:sym typeface="Calibri"/>
              </a:rPr>
              <a:t>ISHIKAWA DIAGRAM</a:t>
            </a:r>
            <a:endParaRPr sz="2900" b="1"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DE0EE240-234B-4355-AA76-76F505BE801D}"/>
              </a:ext>
            </a:extLst>
          </p:cNvPr>
          <p:cNvPicPr/>
          <p:nvPr/>
        </p:nvPicPr>
        <p:blipFill rotWithShape="1">
          <a:blip r:embed="rId3" cstate="print">
            <a:extLst>
              <a:ext uri="{28A0092B-C50C-407E-A947-70E740481C1C}">
                <a14:useLocalDpi xmlns:a14="http://schemas.microsoft.com/office/drawing/2010/main" val="0"/>
              </a:ext>
            </a:extLst>
          </a:blip>
          <a:srcRect t="25421" b="25707"/>
          <a:stretch/>
        </p:blipFill>
        <p:spPr bwMode="auto">
          <a:xfrm>
            <a:off x="757062" y="1199976"/>
            <a:ext cx="11263262" cy="4129670"/>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g3a97d36dee9_0_5"/>
          <p:cNvSpPr txBox="1">
            <a:spLocks noGrp="1"/>
          </p:cNvSpPr>
          <p:nvPr>
            <p:ph type="ctrTitle" idx="4294967295"/>
          </p:nvPr>
        </p:nvSpPr>
        <p:spPr>
          <a:xfrm>
            <a:off x="71000" y="0"/>
            <a:ext cx="5057700" cy="894300"/>
          </a:xfrm>
          <a:prstGeom prst="rect">
            <a:avLst/>
          </a:prstGeom>
          <a:noFill/>
          <a:ln>
            <a:noFill/>
          </a:ln>
        </p:spPr>
        <p:txBody>
          <a:bodyPr spcFirstLastPara="1" wrap="square" lIns="91425" tIns="45700" rIns="91425" bIns="45700" anchor="ctr" anchorCtr="0">
            <a:normAutofit/>
          </a:bodyPr>
          <a:lstStyle/>
          <a:p>
            <a:pPr>
              <a:buClr>
                <a:srgbClr val="0C4B05"/>
              </a:buClr>
              <a:buSzPts val="6000"/>
            </a:pPr>
            <a:r>
              <a:rPr lang="en-US" sz="2900" b="1" i="0" u="none" strike="noStrike" cap="none" dirty="0">
                <a:solidFill>
                  <a:schemeClr val="dk1"/>
                </a:solidFill>
                <a:latin typeface="Calibri"/>
                <a:ea typeface="Calibri"/>
                <a:cs typeface="Calibri"/>
                <a:sym typeface="Calibri"/>
              </a:rPr>
              <a:t>OBJECTIVES OF THE STUDY</a:t>
            </a:r>
            <a:endParaRPr sz="2900" b="1" i="0" u="none" strike="noStrike" cap="none" dirty="0">
              <a:solidFill>
                <a:schemeClr val="dk1"/>
              </a:solidFill>
              <a:latin typeface="Calibri"/>
              <a:ea typeface="Calibri"/>
              <a:cs typeface="Calibri"/>
              <a:sym typeface="Calibri"/>
            </a:endParaRPr>
          </a:p>
        </p:txBody>
      </p:sp>
      <p:sp>
        <p:nvSpPr>
          <p:cNvPr id="352" name="Google Shape;352;g3a97d36dee9_0_5"/>
          <p:cNvSpPr txBox="1"/>
          <p:nvPr/>
        </p:nvSpPr>
        <p:spPr>
          <a:xfrm>
            <a:off x="336000" y="796350"/>
            <a:ext cx="11525800" cy="6163195"/>
          </a:xfrm>
          <a:prstGeom prst="rect">
            <a:avLst/>
          </a:prstGeom>
          <a:noFill/>
          <a:ln>
            <a:noFill/>
          </a:ln>
        </p:spPr>
        <p:txBody>
          <a:bodyPr spcFirstLastPara="1" wrap="square" lIns="91425" tIns="91425" rIns="91425" bIns="91425" anchor="t" anchorCtr="0">
            <a:spAutoFit/>
          </a:bodyPr>
          <a:lstStyle/>
          <a:p>
            <a:pPr marL="63500" lvl="0" algn="just" rtl="0">
              <a:spcBef>
                <a:spcPts val="0"/>
              </a:spcBef>
              <a:spcAft>
                <a:spcPts val="0"/>
              </a:spcAft>
              <a:buClr>
                <a:schemeClr val="dk1"/>
              </a:buClr>
              <a:buSzPts val="2600"/>
            </a:pPr>
            <a:r>
              <a:rPr lang="en-GB" sz="2100" b="1" dirty="0">
                <a:solidFill>
                  <a:schemeClr val="dk1"/>
                </a:solidFill>
                <a:latin typeface="Arial" panose="020B0604020202020204" pitchFamily="34" charset="0"/>
                <a:ea typeface="Calibri"/>
                <a:cs typeface="Arial" panose="020B0604020202020204" pitchFamily="34" charset="0"/>
                <a:sym typeface="Calibri"/>
              </a:rPr>
              <a:t>Main Objective :</a:t>
            </a:r>
          </a:p>
          <a:p>
            <a:pPr marL="63500" algn="just">
              <a:buClr>
                <a:schemeClr val="dk1"/>
              </a:buClr>
              <a:buSzPts val="2600"/>
            </a:pPr>
            <a:endParaRPr lang="en-US" sz="2100" dirty="0">
              <a:effectLst/>
              <a:latin typeface="Arial" panose="020B0604020202020204" pitchFamily="34" charset="0"/>
              <a:ea typeface="Times New Roman" panose="02020603050405020304" pitchFamily="18" charset="0"/>
              <a:cs typeface="Arial" panose="020B0604020202020204" pitchFamily="34" charset="0"/>
            </a:endParaRPr>
          </a:p>
          <a:p>
            <a:pPr marL="63500" algn="just">
              <a:buClr>
                <a:schemeClr val="dk1"/>
              </a:buClr>
              <a:buSzPts val="2600"/>
            </a:pPr>
            <a:r>
              <a:rPr lang="en-US" sz="2100" dirty="0">
                <a:effectLst/>
                <a:latin typeface="Arial" panose="020B0604020202020204" pitchFamily="34" charset="0"/>
                <a:ea typeface="Times New Roman" panose="02020603050405020304" pitchFamily="18" charset="0"/>
                <a:cs typeface="Arial" panose="020B0604020202020204" pitchFamily="34" charset="0"/>
              </a:rPr>
              <a:t>The study aims to design, develop, and evaluate a </a:t>
            </a:r>
            <a:r>
              <a:rPr lang="en-US" sz="2100" b="0" i="0" u="none" strike="noStrike" dirty="0" err="1">
                <a:solidFill>
                  <a:srgbClr val="000000"/>
                </a:solidFill>
                <a:effectLst/>
                <a:latin typeface="Arial" panose="020B0604020202020204" pitchFamily="34" charset="0"/>
                <a:cs typeface="Arial" panose="020B0604020202020204" pitchFamily="34" charset="0"/>
              </a:rPr>
              <a:t>a</a:t>
            </a:r>
            <a:r>
              <a:rPr lang="en-US" sz="2100" b="0" i="0" u="none" strike="noStrike" dirty="0">
                <a:solidFill>
                  <a:srgbClr val="000000"/>
                </a:solidFill>
                <a:effectLst/>
                <a:latin typeface="Arial" panose="020B0604020202020204" pitchFamily="34" charset="0"/>
                <a:cs typeface="Arial" panose="020B0604020202020204" pitchFamily="34" charset="0"/>
              </a:rPr>
              <a:t> web-based resume screening and skill matching system with an integrated Sentence-BERT (S-BERT) model for automation and accurate evaluation</a:t>
            </a:r>
          </a:p>
          <a:p>
            <a:pPr marL="63500" algn="just">
              <a:buClr>
                <a:schemeClr val="dk1"/>
              </a:buClr>
              <a:buSzPts val="2600"/>
            </a:pPr>
            <a:endParaRPr lang="en-US" sz="2100" dirty="0">
              <a:latin typeface="Arial" panose="020B0604020202020204" pitchFamily="34" charset="0"/>
              <a:cs typeface="Arial" panose="020B0604020202020204" pitchFamily="34" charset="0"/>
            </a:endParaRPr>
          </a:p>
          <a:p>
            <a:pPr marL="63500" algn="just">
              <a:buClr>
                <a:schemeClr val="dk1"/>
              </a:buClr>
              <a:buSzPts val="2600"/>
            </a:pPr>
            <a:r>
              <a:rPr lang="en-US" sz="2100" b="1" i="0" u="none" strike="noStrike" dirty="0">
                <a:solidFill>
                  <a:srgbClr val="000000"/>
                </a:solidFill>
                <a:effectLst/>
                <a:latin typeface="Arial" panose="020B0604020202020204" pitchFamily="34" charset="0"/>
                <a:cs typeface="Arial" panose="020B0604020202020204" pitchFamily="34" charset="0"/>
              </a:rPr>
              <a:t>Specific Objectives</a:t>
            </a:r>
          </a:p>
          <a:p>
            <a:pPr marL="342900" marR="0" lvl="0" indent="-342900" algn="just">
              <a:lnSpc>
                <a:spcPct val="150000"/>
              </a:lnSpc>
              <a:buFont typeface="+mj-lt"/>
              <a:buAutoNum type="arabicPeriod"/>
            </a:pPr>
            <a:r>
              <a:rPr lang="en-US" sz="2100" dirty="0">
                <a:effectLst/>
                <a:latin typeface="Arial" panose="020B0604020202020204" pitchFamily="34" charset="0"/>
                <a:ea typeface="Times New Roman" panose="02020603050405020304" pitchFamily="18" charset="0"/>
                <a:cs typeface="Arial" panose="020B0604020202020204" pitchFamily="34" charset="0"/>
              </a:rPr>
              <a:t>Identify system requirements and datasets for mapping skillsets </a:t>
            </a:r>
          </a:p>
          <a:p>
            <a:pPr marL="342900" marR="0" lvl="0" indent="-342900" algn="just">
              <a:lnSpc>
                <a:spcPct val="150000"/>
              </a:lnSpc>
              <a:buFont typeface="+mj-lt"/>
              <a:buAutoNum type="arabicPeriod"/>
            </a:pPr>
            <a:r>
              <a:rPr lang="en-US" sz="2100" dirty="0">
                <a:effectLst/>
                <a:latin typeface="Arial" panose="020B0604020202020204" pitchFamily="34" charset="0"/>
                <a:ea typeface="Times New Roman" panose="02020603050405020304" pitchFamily="18" charset="0"/>
                <a:cs typeface="Arial" panose="020B0604020202020204" pitchFamily="34" charset="0"/>
              </a:rPr>
              <a:t>Implement a preprocessing pipeline that performs text cleaning, entity extraction, and normalization to convert raw inputs into structured, model-ready data.</a:t>
            </a:r>
          </a:p>
          <a:p>
            <a:pPr marL="342900" marR="0" lvl="0" indent="-342900" algn="just">
              <a:lnSpc>
                <a:spcPct val="150000"/>
              </a:lnSpc>
              <a:buFont typeface="+mj-lt"/>
              <a:buAutoNum type="arabicPeriod"/>
            </a:pPr>
            <a:r>
              <a:rPr lang="en-US" sz="2100" dirty="0">
                <a:effectLst/>
                <a:latin typeface="Arial" panose="020B0604020202020204" pitchFamily="34" charset="0"/>
                <a:ea typeface="Times New Roman" panose="02020603050405020304" pitchFamily="18" charset="0"/>
                <a:cs typeface="Arial" panose="020B0604020202020204" pitchFamily="34" charset="0"/>
              </a:rPr>
              <a:t>Utilize a pretrained S-BERT model to generate semantic embedding vectors for resumes and job postings, applying Cosine Similarity to measure candidate-to-job relevance.</a:t>
            </a:r>
          </a:p>
          <a:p>
            <a:pPr marL="63500" algn="just">
              <a:buClr>
                <a:schemeClr val="dk1"/>
              </a:buClr>
              <a:buSzPts val="2600"/>
            </a:pPr>
            <a:endParaRPr lang="en-US" sz="2100" b="1" i="0" u="none" strike="noStrike" dirty="0">
              <a:solidFill>
                <a:srgbClr val="000000"/>
              </a:solidFill>
              <a:effectLst/>
              <a:latin typeface="Arial" panose="020B0604020202020204" pitchFamily="34" charset="0"/>
              <a:cs typeface="Arial" panose="020B0604020202020204" pitchFamily="34" charset="0"/>
            </a:endParaRPr>
          </a:p>
          <a:p>
            <a:pPr marL="406400" indent="-342900" algn="just">
              <a:buClr>
                <a:schemeClr val="dk1"/>
              </a:buClr>
              <a:buSzPts val="2600"/>
              <a:buFont typeface="Arial" panose="020B0604020202020204" pitchFamily="34" charset="0"/>
              <a:buChar char="•"/>
            </a:pPr>
            <a:endParaRPr lang="en-US" sz="2100" b="0" i="0" u="none" strike="noStrike" dirty="0">
              <a:solidFill>
                <a:srgbClr val="000000"/>
              </a:solidFill>
              <a:effectLst/>
              <a:latin typeface="Arial" panose="020B0604020202020204" pitchFamily="34" charset="0"/>
              <a:cs typeface="Arial" panose="020B0604020202020204" pitchFamily="34" charset="0"/>
            </a:endParaRPr>
          </a:p>
          <a:p>
            <a:pPr marL="63500" algn="just">
              <a:buClr>
                <a:schemeClr val="dk1"/>
              </a:buClr>
              <a:buSzPts val="2600"/>
            </a:pPr>
            <a:r>
              <a:rPr lang="en-US" sz="2100" dirty="0">
                <a:effectLst/>
                <a:latin typeface="Arial" panose="020B0604020202020204" pitchFamily="34" charset="0"/>
                <a:ea typeface="Times New Roman" panose="02020603050405020304" pitchFamily="18" charset="0"/>
                <a:cs typeface="Arial" panose="020B0604020202020204" pitchFamily="34" charset="0"/>
              </a:rPr>
              <a:t>	</a:t>
            </a:r>
            <a:endParaRPr lang="en-US" sz="2100" dirty="0">
              <a:effectLst/>
              <a:latin typeface="Arial" panose="020B0604020202020204" pitchFamily="34" charset="0"/>
              <a:ea typeface="Calibri" panose="020F0502020204030204" pitchFamily="34" charset="0"/>
              <a:cs typeface="Arial" panose="020B0604020202020204" pitchFamily="34" charset="0"/>
            </a:endParaRPr>
          </a:p>
          <a:p>
            <a:pPr marL="63500" lvl="0" algn="just" rtl="0">
              <a:spcBef>
                <a:spcPts val="0"/>
              </a:spcBef>
              <a:spcAft>
                <a:spcPts val="0"/>
              </a:spcAft>
              <a:buClr>
                <a:schemeClr val="dk1"/>
              </a:buClr>
              <a:buSzPts val="2600"/>
            </a:pPr>
            <a:endParaRPr lang="en-GB" sz="2100" dirty="0">
              <a:solidFill>
                <a:schemeClr val="dk1"/>
              </a:solidFill>
              <a:latin typeface="Arial" panose="020B0604020202020204" pitchFamily="34" charset="0"/>
              <a:ea typeface="Calibri"/>
              <a:cs typeface="Arial" panose="020B0604020202020204" pitchFamily="34" charset="0"/>
              <a:sym typeface="Calibri"/>
            </a:endParaRPr>
          </a:p>
        </p:txBody>
      </p:sp>
    </p:spTree>
    <p:extLst>
      <p:ext uri="{BB962C8B-B14F-4D97-AF65-F5344CB8AC3E}">
        <p14:creationId xmlns:p14="http://schemas.microsoft.com/office/powerpoint/2010/main" val="3233953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g3a97d36dee9_0_5"/>
          <p:cNvSpPr txBox="1">
            <a:spLocks noGrp="1"/>
          </p:cNvSpPr>
          <p:nvPr>
            <p:ph type="ctrTitle" idx="4294967295"/>
          </p:nvPr>
        </p:nvSpPr>
        <p:spPr>
          <a:xfrm>
            <a:off x="71000" y="0"/>
            <a:ext cx="5057700" cy="894300"/>
          </a:xfrm>
          <a:prstGeom prst="rect">
            <a:avLst/>
          </a:prstGeom>
          <a:noFill/>
          <a:ln>
            <a:noFill/>
          </a:ln>
        </p:spPr>
        <p:txBody>
          <a:bodyPr spcFirstLastPara="1" wrap="square" lIns="91425" tIns="45700" rIns="91425" bIns="45700" anchor="ctr" anchorCtr="0">
            <a:normAutofit/>
          </a:bodyPr>
          <a:lstStyle/>
          <a:p>
            <a:pPr>
              <a:buClr>
                <a:srgbClr val="0C4B05"/>
              </a:buClr>
              <a:buSzPts val="6000"/>
            </a:pPr>
            <a:r>
              <a:rPr lang="en-US" sz="2900" b="1" i="0" u="none" strike="noStrike" cap="none" dirty="0">
                <a:solidFill>
                  <a:schemeClr val="dk1"/>
                </a:solidFill>
                <a:latin typeface="Calibri"/>
                <a:ea typeface="Calibri"/>
                <a:cs typeface="Calibri"/>
                <a:sym typeface="Calibri"/>
              </a:rPr>
              <a:t>OBJECTIVES OF THE STUDY</a:t>
            </a:r>
            <a:endParaRPr sz="2900" b="1" i="0" u="none" strike="noStrike" cap="none" dirty="0">
              <a:solidFill>
                <a:schemeClr val="dk1"/>
              </a:solidFill>
              <a:latin typeface="Calibri"/>
              <a:ea typeface="Calibri"/>
              <a:cs typeface="Calibri"/>
              <a:sym typeface="Calibri"/>
            </a:endParaRPr>
          </a:p>
        </p:txBody>
      </p:sp>
      <p:sp>
        <p:nvSpPr>
          <p:cNvPr id="352" name="Google Shape;352;g3a97d36dee9_0_5"/>
          <p:cNvSpPr txBox="1"/>
          <p:nvPr/>
        </p:nvSpPr>
        <p:spPr>
          <a:xfrm>
            <a:off x="336000" y="796350"/>
            <a:ext cx="10834200" cy="5786169"/>
          </a:xfrm>
          <a:prstGeom prst="rect">
            <a:avLst/>
          </a:prstGeom>
          <a:noFill/>
          <a:ln>
            <a:noFill/>
          </a:ln>
        </p:spPr>
        <p:txBody>
          <a:bodyPr spcFirstLastPara="1" wrap="square" lIns="91425" tIns="91425" rIns="91425" bIns="91425" anchor="t" anchorCtr="0">
            <a:spAutoFit/>
          </a:bodyPr>
          <a:lstStyle/>
          <a:p>
            <a:pPr marL="63500" algn="just">
              <a:buClr>
                <a:schemeClr val="dk1"/>
              </a:buClr>
              <a:buSzPts val="2600"/>
            </a:pPr>
            <a:r>
              <a:rPr lang="en-US" sz="2800" b="1" i="0" u="none" strike="noStrike" dirty="0">
                <a:solidFill>
                  <a:srgbClr val="000000"/>
                </a:solidFill>
                <a:effectLst/>
                <a:latin typeface="Arial" panose="020B0604020202020204" pitchFamily="34" charset="0"/>
                <a:cs typeface="Arial" panose="020B0604020202020204" pitchFamily="34" charset="0"/>
              </a:rPr>
              <a:t>Specific Objectives</a:t>
            </a:r>
          </a:p>
          <a:p>
            <a:pPr marL="342900" marR="0" lvl="0" indent="-342900" algn="just">
              <a:lnSpc>
                <a:spcPct val="150000"/>
              </a:lnSpc>
              <a:buFont typeface="+mj-lt"/>
              <a:buAutoNum type="arabicPeriod" startAt="4"/>
            </a:pPr>
            <a:r>
              <a:rPr lang="en-US" sz="2400" dirty="0">
                <a:effectLst/>
                <a:latin typeface="Arial" panose="020B0604020202020204" pitchFamily="34" charset="0"/>
                <a:ea typeface="Times New Roman" panose="02020603050405020304" pitchFamily="18" charset="0"/>
                <a:cs typeface="Arial" panose="020B0604020202020204" pitchFamily="34" charset="0"/>
              </a:rPr>
              <a:t>Evaluate matching performance using Top-K ranking evaluation and human review, with approximate precision/recall-style analysis, where labeled or inferred relevance is available.</a:t>
            </a:r>
          </a:p>
          <a:p>
            <a:pPr marL="342900" marR="0" lvl="0" indent="-342900" algn="just">
              <a:lnSpc>
                <a:spcPct val="150000"/>
              </a:lnSpc>
              <a:buFont typeface="+mj-lt"/>
              <a:buAutoNum type="arabicPeriod" startAt="4"/>
            </a:pPr>
            <a:r>
              <a:rPr lang="en-US" sz="2400" dirty="0">
                <a:effectLst/>
                <a:latin typeface="Arial" panose="020B0604020202020204" pitchFamily="34" charset="0"/>
                <a:ea typeface="Times New Roman" panose="02020603050405020304" pitchFamily="18" charset="0"/>
                <a:cs typeface="Arial" panose="020B0604020202020204" pitchFamily="34" charset="0"/>
              </a:rPr>
              <a:t>Refine system accuracy by tuning feature weights, improving data quality, and adjusting scoring logic based on evaluation outcomes.</a:t>
            </a:r>
          </a:p>
          <a:p>
            <a:pPr marL="342900" marR="0" lvl="0" indent="-342900" algn="just">
              <a:lnSpc>
                <a:spcPct val="150000"/>
              </a:lnSpc>
              <a:buFont typeface="+mj-lt"/>
              <a:buAutoNum type="arabicPeriod" startAt="4"/>
            </a:pPr>
            <a:r>
              <a:rPr lang="en-US" sz="2400" dirty="0">
                <a:effectLst/>
                <a:latin typeface="Arial" panose="020B0604020202020204" pitchFamily="34" charset="0"/>
                <a:ea typeface="Times New Roman" panose="02020603050405020304" pitchFamily="18" charset="0"/>
                <a:cs typeface="Arial" panose="020B0604020202020204" pitchFamily="34" charset="0"/>
              </a:rPr>
              <a:t>Deploy the refined system as a fully operational web-based resume screening platform accessible to HR personnel and job seekers.</a:t>
            </a:r>
          </a:p>
          <a:p>
            <a:pPr marL="63500" algn="just">
              <a:buClr>
                <a:schemeClr val="dk1"/>
              </a:buClr>
              <a:buSzPts val="2600"/>
            </a:pPr>
            <a:endParaRPr lang="en-US" sz="2100" b="1" i="0" u="none" strike="noStrike" dirty="0">
              <a:solidFill>
                <a:srgbClr val="000000"/>
              </a:solidFill>
              <a:effectLst/>
              <a:latin typeface="Arial" panose="020B0604020202020204" pitchFamily="34" charset="0"/>
              <a:cs typeface="Arial" panose="020B0604020202020204" pitchFamily="34" charset="0"/>
            </a:endParaRPr>
          </a:p>
          <a:p>
            <a:pPr marL="406400" indent="-342900" algn="just">
              <a:buClr>
                <a:schemeClr val="dk1"/>
              </a:buClr>
              <a:buSzPts val="2600"/>
              <a:buFont typeface="Arial" panose="020B0604020202020204" pitchFamily="34" charset="0"/>
              <a:buChar char="•"/>
            </a:pPr>
            <a:endParaRPr lang="en-US" sz="2100" b="0" i="0" u="none" strike="noStrike" dirty="0">
              <a:solidFill>
                <a:srgbClr val="000000"/>
              </a:solidFill>
              <a:effectLst/>
              <a:latin typeface="Arial" panose="020B0604020202020204" pitchFamily="34" charset="0"/>
              <a:cs typeface="Arial" panose="020B0604020202020204" pitchFamily="34" charset="0"/>
            </a:endParaRPr>
          </a:p>
          <a:p>
            <a:pPr marL="63500" algn="just">
              <a:buClr>
                <a:schemeClr val="dk1"/>
              </a:buClr>
              <a:buSzPts val="2600"/>
            </a:pPr>
            <a:r>
              <a:rPr lang="en-US" sz="2100" dirty="0">
                <a:effectLst/>
                <a:latin typeface="Arial" panose="020B0604020202020204" pitchFamily="34" charset="0"/>
                <a:ea typeface="Times New Roman" panose="02020603050405020304" pitchFamily="18" charset="0"/>
                <a:cs typeface="Arial" panose="020B0604020202020204" pitchFamily="34" charset="0"/>
              </a:rPr>
              <a:t>	</a:t>
            </a:r>
            <a:endParaRPr lang="en-US" sz="2100" dirty="0">
              <a:effectLst/>
              <a:latin typeface="Arial" panose="020B0604020202020204" pitchFamily="34" charset="0"/>
              <a:ea typeface="Calibri" panose="020F0502020204030204" pitchFamily="34" charset="0"/>
              <a:cs typeface="Arial" panose="020B0604020202020204" pitchFamily="34" charset="0"/>
            </a:endParaRPr>
          </a:p>
          <a:p>
            <a:pPr marL="63500" lvl="0" algn="just" rtl="0">
              <a:spcBef>
                <a:spcPts val="0"/>
              </a:spcBef>
              <a:spcAft>
                <a:spcPts val="0"/>
              </a:spcAft>
              <a:buClr>
                <a:schemeClr val="dk1"/>
              </a:buClr>
              <a:buSzPts val="2600"/>
            </a:pPr>
            <a:endParaRPr lang="en-GB" sz="2100" dirty="0">
              <a:solidFill>
                <a:schemeClr val="dk1"/>
              </a:solidFill>
              <a:latin typeface="Arial" panose="020B0604020202020204" pitchFamily="34" charset="0"/>
              <a:ea typeface="Calibri"/>
              <a:cs typeface="Calibri"/>
              <a:sym typeface="Calibri"/>
            </a:endParaRPr>
          </a:p>
        </p:txBody>
      </p:sp>
    </p:spTree>
    <p:extLst>
      <p:ext uri="{BB962C8B-B14F-4D97-AF65-F5344CB8AC3E}">
        <p14:creationId xmlns:p14="http://schemas.microsoft.com/office/powerpoint/2010/main" val="3881506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g3a97d36dee9_0_13"/>
          <p:cNvSpPr txBox="1">
            <a:spLocks noGrp="1"/>
          </p:cNvSpPr>
          <p:nvPr>
            <p:ph type="ctrTitle" idx="4294967295"/>
          </p:nvPr>
        </p:nvSpPr>
        <p:spPr>
          <a:xfrm>
            <a:off x="0" y="0"/>
            <a:ext cx="5057700" cy="8943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C4B05"/>
              </a:buClr>
              <a:buSzPts val="6000"/>
              <a:buFont typeface="League Spartan"/>
              <a:buNone/>
            </a:pPr>
            <a:r>
              <a:rPr lang="en-US" sz="2900" b="1" dirty="0"/>
              <a:t>SIGNIFICANCE OF THE STUDY</a:t>
            </a:r>
            <a:endParaRPr sz="2900" b="1" i="0" u="none" strike="noStrike" cap="none" dirty="0">
              <a:solidFill>
                <a:schemeClr val="dk1"/>
              </a:solidFill>
              <a:latin typeface="Calibri"/>
              <a:ea typeface="Calibri"/>
              <a:cs typeface="Calibri"/>
              <a:sym typeface="Calibri"/>
            </a:endParaRPr>
          </a:p>
        </p:txBody>
      </p:sp>
      <p:sp>
        <p:nvSpPr>
          <p:cNvPr id="364" name="Google Shape;364;g3a97d36dee9_0_13"/>
          <p:cNvSpPr txBox="1"/>
          <p:nvPr/>
        </p:nvSpPr>
        <p:spPr>
          <a:xfrm>
            <a:off x="418012" y="1058207"/>
            <a:ext cx="10621800" cy="4355008"/>
          </a:xfrm>
          <a:prstGeom prst="rect">
            <a:avLst/>
          </a:prstGeom>
          <a:noFill/>
          <a:ln>
            <a:noFill/>
          </a:ln>
        </p:spPr>
        <p:txBody>
          <a:bodyPr spcFirstLastPara="1" wrap="square" lIns="91425" tIns="91425" rIns="91425" bIns="91425" anchor="t" anchorCtr="0">
            <a:spAutoFit/>
          </a:bodyPr>
          <a:lstStyle/>
          <a:p>
            <a:pPr lvl="0">
              <a:spcBef>
                <a:spcPts val="1200"/>
              </a:spcBef>
            </a:pPr>
            <a:r>
              <a:rPr lang="en-US" sz="2400" b="1" dirty="0">
                <a:solidFill>
                  <a:schemeClr val="dk1"/>
                </a:solidFill>
                <a:latin typeface="Arial" panose="020B0604020202020204" pitchFamily="34" charset="0"/>
                <a:cs typeface="Arial" panose="020B0604020202020204" pitchFamily="34" charset="0"/>
              </a:rPr>
              <a:t>For HR Professionals</a:t>
            </a:r>
          </a:p>
          <a:p>
            <a:pPr marL="342900" indent="-342900">
              <a:spcAft>
                <a:spcPts val="500"/>
              </a:spcAft>
              <a:buSzPct val="100000"/>
              <a:buChar char="•"/>
            </a:pPr>
            <a:r>
              <a:rPr lang="en-US" sz="2400" dirty="0">
                <a:solidFill>
                  <a:srgbClr val="1E293B"/>
                </a:solidFill>
                <a:latin typeface="Arial" panose="020B0604020202020204" pitchFamily="34" charset="0"/>
                <a:ea typeface="Calibri" pitchFamily="34" charset="-122"/>
                <a:cs typeface="Calibri" pitchFamily="34" charset="-120"/>
              </a:rPr>
              <a:t>Reduces risk of qualified applications being overlooked</a:t>
            </a:r>
            <a:endParaRPr lang="en-US" sz="2400" dirty="0">
              <a:latin typeface="Arial" panose="020B0604020202020204" pitchFamily="34" charset="0"/>
              <a:cs typeface="Arial" panose="020B0604020202020204" pitchFamily="34" charset="0"/>
            </a:endParaRPr>
          </a:p>
          <a:p>
            <a:pPr marL="342900" indent="-342900">
              <a:spcAft>
                <a:spcPts val="500"/>
              </a:spcAft>
              <a:buSzPct val="100000"/>
              <a:buChar char="•"/>
            </a:pPr>
            <a:r>
              <a:rPr lang="en-US" sz="2400" dirty="0">
                <a:solidFill>
                  <a:srgbClr val="1E293B"/>
                </a:solidFill>
                <a:latin typeface="Arial" panose="020B0604020202020204" pitchFamily="34" charset="0"/>
                <a:ea typeface="Calibri" pitchFamily="34" charset="-122"/>
                <a:cs typeface="Calibri" pitchFamily="34" charset="-120"/>
              </a:rPr>
              <a:t>Skills evaluated by semantic relevance, not keyword luck</a:t>
            </a:r>
            <a:endParaRPr lang="en-US" sz="2400" dirty="0">
              <a:latin typeface="Arial" panose="020B0604020202020204" pitchFamily="34" charset="0"/>
              <a:cs typeface="Arial" panose="020B0604020202020204" pitchFamily="34" charset="0"/>
            </a:endParaRPr>
          </a:p>
          <a:p>
            <a:pPr lvl="0">
              <a:spcBef>
                <a:spcPts val="1200"/>
              </a:spcBef>
            </a:pPr>
            <a:r>
              <a:rPr lang="en-US" sz="2400" b="1" dirty="0">
                <a:solidFill>
                  <a:schemeClr val="dk1"/>
                </a:solidFill>
                <a:latin typeface="Arial" panose="020B0604020202020204" pitchFamily="34" charset="0"/>
                <a:cs typeface="Arial" panose="020B0604020202020204" pitchFamily="34" charset="0"/>
              </a:rPr>
              <a:t>For HR Professionals</a:t>
            </a:r>
            <a:endParaRPr sz="2400" b="1" dirty="0">
              <a:solidFill>
                <a:schemeClr val="dk1"/>
              </a:solidFill>
              <a:latin typeface="Arial" panose="020B0604020202020204" pitchFamily="34" charset="0"/>
              <a:cs typeface="Arial" panose="020B0604020202020204" pitchFamily="34" charset="0"/>
            </a:endParaRPr>
          </a:p>
          <a:p>
            <a:pPr marL="342900" indent="-342900">
              <a:spcAft>
                <a:spcPts val="500"/>
              </a:spcAft>
              <a:buSzPct val="100000"/>
              <a:buChar char="•"/>
            </a:pPr>
            <a:r>
              <a:rPr lang="en-US" sz="2400" dirty="0">
                <a:solidFill>
                  <a:srgbClr val="1E293B"/>
                </a:solidFill>
                <a:latin typeface="Arial" panose="020B0604020202020204" pitchFamily="34" charset="0"/>
                <a:ea typeface="Calibri" pitchFamily="34" charset="-122"/>
                <a:cs typeface="Calibri" pitchFamily="34" charset="-120"/>
              </a:rPr>
              <a:t>Automates initial screening of high-volume applications</a:t>
            </a:r>
            <a:endParaRPr lang="en-US" sz="2400" dirty="0">
              <a:latin typeface="Arial" panose="020B0604020202020204" pitchFamily="34" charset="0"/>
              <a:cs typeface="Arial" panose="020B0604020202020204" pitchFamily="34" charset="0"/>
            </a:endParaRPr>
          </a:p>
          <a:p>
            <a:pPr marL="342900" indent="-342900">
              <a:spcAft>
                <a:spcPts val="500"/>
              </a:spcAft>
              <a:buSzPct val="100000"/>
              <a:buChar char="•"/>
            </a:pPr>
            <a:r>
              <a:rPr lang="en-US" sz="2400" dirty="0">
                <a:solidFill>
                  <a:srgbClr val="1E293B"/>
                </a:solidFill>
                <a:latin typeface="Arial" panose="020B0604020202020204" pitchFamily="34" charset="0"/>
                <a:ea typeface="Calibri" pitchFamily="34" charset="-122"/>
                <a:cs typeface="Calibri" pitchFamily="34" charset="-120"/>
              </a:rPr>
              <a:t>Identifies relevant candidates with less manual effort</a:t>
            </a:r>
            <a:endParaRPr lang="en-US" sz="2400" dirty="0">
              <a:latin typeface="Arial" panose="020B0604020202020204" pitchFamily="34" charset="0"/>
              <a:cs typeface="Arial" panose="020B0604020202020204" pitchFamily="34" charset="0"/>
            </a:endParaRPr>
          </a:p>
          <a:p>
            <a:pPr lvl="0">
              <a:spcBef>
                <a:spcPts val="1200"/>
              </a:spcBef>
            </a:pPr>
            <a:r>
              <a:rPr lang="en-US" sz="2400" b="1" dirty="0">
                <a:solidFill>
                  <a:schemeClr val="dk1"/>
                </a:solidFill>
                <a:latin typeface="Arial" panose="020B0604020202020204" pitchFamily="34" charset="0"/>
                <a:cs typeface="Arial" panose="020B0604020202020204" pitchFamily="34" charset="0"/>
              </a:rPr>
              <a:t>For</a:t>
            </a:r>
            <a:r>
              <a:rPr lang="en-GB" sz="2400" b="1" dirty="0">
                <a:solidFill>
                  <a:schemeClr val="dk1"/>
                </a:solidFill>
                <a:latin typeface="Arial" panose="020B0604020202020204" pitchFamily="34" charset="0"/>
                <a:cs typeface="Arial" panose="020B0604020202020204" pitchFamily="34" charset="0"/>
              </a:rPr>
              <a:t> </a:t>
            </a:r>
            <a:r>
              <a:rPr lang="en-US" sz="2400" b="1" dirty="0">
                <a:solidFill>
                  <a:schemeClr val="dk1"/>
                </a:solidFill>
                <a:latin typeface="Arial" panose="020B0604020202020204" pitchFamily="34" charset="0"/>
                <a:cs typeface="Arial" panose="020B0604020202020204" pitchFamily="34" charset="0"/>
              </a:rPr>
              <a:t>Software Developers</a:t>
            </a:r>
          </a:p>
          <a:p>
            <a:pPr marL="342900" indent="-342900">
              <a:spcAft>
                <a:spcPts val="500"/>
              </a:spcAft>
              <a:buSzPct val="100000"/>
              <a:buChar char="•"/>
            </a:pPr>
            <a:r>
              <a:rPr lang="en-US" sz="2400" dirty="0">
                <a:solidFill>
                  <a:srgbClr val="1E293B"/>
                </a:solidFill>
                <a:latin typeface="Arial" panose="020B0604020202020204" pitchFamily="34" charset="0"/>
                <a:ea typeface="Calibri" pitchFamily="34" charset="-122"/>
                <a:cs typeface="Calibri" pitchFamily="34" charset="-120"/>
              </a:rPr>
              <a:t>Demonstrates S-BERT + rule-based hybrid scoring in a real app</a:t>
            </a:r>
            <a:endParaRPr lang="en-US" sz="2400" dirty="0">
              <a:latin typeface="Arial" panose="020B0604020202020204" pitchFamily="34" charset="0"/>
              <a:cs typeface="Arial" panose="020B0604020202020204" pitchFamily="34" charset="0"/>
            </a:endParaRPr>
          </a:p>
          <a:p>
            <a:pPr marL="342900" indent="-342900">
              <a:spcAft>
                <a:spcPts val="500"/>
              </a:spcAft>
              <a:buSzPct val="100000"/>
              <a:buChar char="•"/>
            </a:pPr>
            <a:r>
              <a:rPr lang="en-US" sz="2400" dirty="0">
                <a:solidFill>
                  <a:srgbClr val="1E293B"/>
                </a:solidFill>
                <a:latin typeface="Arial" panose="020B0604020202020204" pitchFamily="34" charset="0"/>
                <a:ea typeface="Calibri" pitchFamily="34" charset="-122"/>
                <a:cs typeface="Calibri" pitchFamily="34" charset="-120"/>
              </a:rPr>
              <a:t>Highlights challenges of integrating embeddings into recruitment systems</a:t>
            </a:r>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
          <p:cNvSpPr txBox="1"/>
          <p:nvPr/>
        </p:nvSpPr>
        <p:spPr>
          <a:xfrm>
            <a:off x="-113213" y="166949"/>
            <a:ext cx="8125098" cy="894300"/>
          </a:xfrm>
          <a:prstGeom prst="rect">
            <a:avLst/>
          </a:prstGeom>
          <a:noFill/>
          <a:ln>
            <a:noFill/>
          </a:ln>
        </p:spPr>
        <p:txBody>
          <a:bodyPr spcFirstLastPara="1" wrap="square" lIns="91425" tIns="45700" rIns="91425" bIns="45700" anchor="ctr" anchorCtr="0">
            <a:noAutofit/>
          </a:bodyPr>
          <a:lstStyle/>
          <a:p>
            <a:pPr algn="ctr">
              <a:lnSpc>
                <a:spcPct val="90000"/>
              </a:lnSpc>
              <a:buClr>
                <a:srgbClr val="0C4B05"/>
              </a:buClr>
              <a:buSzPts val="6000"/>
            </a:pPr>
            <a:r>
              <a:rPr lang="en-US" sz="3200" b="1" i="0" u="none" strike="noStrike" cap="none" dirty="0">
                <a:solidFill>
                  <a:schemeClr val="dk1"/>
                </a:solidFill>
                <a:latin typeface="Calibri"/>
                <a:ea typeface="Calibri"/>
                <a:cs typeface="Calibri"/>
                <a:sym typeface="Calibri"/>
              </a:rPr>
              <a:t>SCOPE </a:t>
            </a:r>
            <a:r>
              <a:rPr lang="en-US" sz="3200" b="1" dirty="0">
                <a:solidFill>
                  <a:schemeClr val="dk1"/>
                </a:solidFill>
                <a:latin typeface="Calibri"/>
                <a:ea typeface="Calibri"/>
                <a:cs typeface="Calibri"/>
                <a:sym typeface="Calibri"/>
              </a:rPr>
              <a:t>AND DELIMITATION OF</a:t>
            </a:r>
            <a:r>
              <a:rPr lang="en-US" sz="3200" b="1" i="0" u="none" strike="noStrike" cap="none" dirty="0">
                <a:solidFill>
                  <a:schemeClr val="dk1"/>
                </a:solidFill>
                <a:latin typeface="Calibri"/>
                <a:ea typeface="Calibri"/>
                <a:cs typeface="Calibri"/>
                <a:sym typeface="Calibri"/>
              </a:rPr>
              <a:t> THE STUDY</a:t>
            </a:r>
            <a:endParaRPr lang="en-US" sz="3200" b="1" i="0" u="none" strike="noStrike" cap="none" dirty="0">
              <a:solidFill>
                <a:schemeClr val="dk1"/>
              </a:solidFill>
              <a:latin typeface="Calibri"/>
              <a:ea typeface="Calibri"/>
              <a:cs typeface="Calibri"/>
            </a:endParaRPr>
          </a:p>
        </p:txBody>
      </p:sp>
      <p:sp>
        <p:nvSpPr>
          <p:cNvPr id="383" name="Google Shape;383;p4"/>
          <p:cNvSpPr txBox="1"/>
          <p:nvPr/>
        </p:nvSpPr>
        <p:spPr>
          <a:xfrm>
            <a:off x="418183" y="1245990"/>
            <a:ext cx="11329680" cy="442329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n-US" sz="2800" b="1" dirty="0">
                <a:solidFill>
                  <a:schemeClr val="dk1"/>
                </a:solidFill>
                <a:highlight>
                  <a:schemeClr val="lt1"/>
                </a:highlight>
                <a:latin typeface="Arial" panose="020B0604020202020204" pitchFamily="34" charset="0"/>
                <a:cs typeface="Arial" panose="020B0604020202020204" pitchFamily="34" charset="0"/>
              </a:rPr>
              <a:t>Scope of the Study</a:t>
            </a:r>
            <a:endParaRPr sz="2800" b="1" dirty="0">
              <a:solidFill>
                <a:schemeClr val="dk1"/>
              </a:solidFill>
              <a:highlight>
                <a:schemeClr val="lt1"/>
              </a:highlight>
              <a:latin typeface="Arial" panose="020B0604020202020204" pitchFamily="34" charset="0"/>
              <a:cs typeface="Arial" panose="020B0604020202020204" pitchFamily="34" charset="0"/>
            </a:endParaRPr>
          </a:p>
          <a:p>
            <a:pPr marL="457200" marR="0" lvl="0" indent="-457200" algn="just" rtl="0">
              <a:lnSpc>
                <a:spcPct val="100000"/>
              </a:lnSpc>
              <a:spcBef>
                <a:spcPts val="0"/>
              </a:spcBef>
              <a:spcAft>
                <a:spcPts val="0"/>
              </a:spcAft>
              <a:buFont typeface="Arial" panose="020B0604020202020204" pitchFamily="34" charset="0"/>
              <a:buChar char="•"/>
            </a:pPr>
            <a:r>
              <a:rPr lang="en-US" sz="2800" dirty="0">
                <a:solidFill>
                  <a:schemeClr val="dk1"/>
                </a:solidFill>
                <a:highlight>
                  <a:schemeClr val="lt1"/>
                </a:highlight>
                <a:latin typeface="Arial" panose="020B0604020202020204" pitchFamily="34" charset="0"/>
                <a:cs typeface="Arial" panose="020B0604020202020204" pitchFamily="34" charset="0"/>
              </a:rPr>
              <a:t>Web-based resume screening system for IT and Software Development roles</a:t>
            </a:r>
          </a:p>
          <a:p>
            <a:pPr marL="457200" marR="0" lvl="0" indent="-457200" algn="just" rtl="0">
              <a:lnSpc>
                <a:spcPct val="100000"/>
              </a:lnSpc>
              <a:spcBef>
                <a:spcPts val="0"/>
              </a:spcBef>
              <a:spcAft>
                <a:spcPts val="0"/>
              </a:spcAft>
              <a:buFont typeface="Arial" panose="020B0604020202020204" pitchFamily="34" charset="0"/>
              <a:buChar char="•"/>
            </a:pPr>
            <a:r>
              <a:rPr lang="en-US" sz="2800" dirty="0">
                <a:solidFill>
                  <a:schemeClr val="dk1"/>
                </a:solidFill>
                <a:highlight>
                  <a:schemeClr val="lt1"/>
                </a:highlight>
                <a:latin typeface="Arial" panose="020B0604020202020204" pitchFamily="34" charset="0"/>
                <a:cs typeface="Arial" panose="020B0604020202020204" pitchFamily="34" charset="0"/>
              </a:rPr>
              <a:t>Covers automated resume parsing, semantic matching, and candidate ranking</a:t>
            </a:r>
          </a:p>
          <a:p>
            <a:pPr marL="457200" marR="0" lvl="0" indent="-457200" algn="just" rtl="0">
              <a:lnSpc>
                <a:spcPct val="100000"/>
              </a:lnSpc>
              <a:spcBef>
                <a:spcPts val="0"/>
              </a:spcBef>
              <a:spcAft>
                <a:spcPts val="0"/>
              </a:spcAft>
              <a:buFont typeface="Arial" panose="020B0604020202020204" pitchFamily="34" charset="0"/>
              <a:buChar char="•"/>
            </a:pPr>
            <a:r>
              <a:rPr lang="en-US" sz="2800" dirty="0">
                <a:solidFill>
                  <a:schemeClr val="dk1"/>
                </a:solidFill>
                <a:highlight>
                  <a:schemeClr val="lt1"/>
                </a:highlight>
                <a:latin typeface="Arial" panose="020B0604020202020204" pitchFamily="34" charset="0"/>
                <a:cs typeface="Arial" panose="020B0604020202020204" pitchFamily="34" charset="0"/>
              </a:rPr>
              <a:t>Designed for HR personnel and job seekers in a simulated recruitment environment</a:t>
            </a:r>
          </a:p>
          <a:p>
            <a:pPr marL="457200" marR="0" lvl="0" indent="-457200" algn="just" rtl="0">
              <a:lnSpc>
                <a:spcPct val="100000"/>
              </a:lnSpc>
              <a:spcBef>
                <a:spcPts val="0"/>
              </a:spcBef>
              <a:spcAft>
                <a:spcPts val="0"/>
              </a:spcAft>
              <a:buFont typeface="Arial" panose="020B0604020202020204" pitchFamily="34" charset="0"/>
              <a:buChar char="•"/>
            </a:pPr>
            <a:r>
              <a:rPr lang="en-US" sz="2800" dirty="0">
                <a:solidFill>
                  <a:schemeClr val="dk1"/>
                </a:solidFill>
                <a:highlight>
                  <a:schemeClr val="lt1"/>
                </a:highlight>
                <a:latin typeface="Arial" panose="020B0604020202020204" pitchFamily="34" charset="0"/>
                <a:cs typeface="Arial" panose="020B0604020202020204" pitchFamily="34" charset="0"/>
              </a:rPr>
              <a:t>Validates S-BERT effectiveness as a proof-of-concept, not a commercial deployment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
          <p:cNvSpPr txBox="1"/>
          <p:nvPr/>
        </p:nvSpPr>
        <p:spPr>
          <a:xfrm>
            <a:off x="-113213" y="166949"/>
            <a:ext cx="8125098" cy="894300"/>
          </a:xfrm>
          <a:prstGeom prst="rect">
            <a:avLst/>
          </a:prstGeom>
          <a:noFill/>
          <a:ln>
            <a:noFill/>
          </a:ln>
        </p:spPr>
        <p:txBody>
          <a:bodyPr spcFirstLastPara="1" wrap="square" lIns="91425" tIns="45700" rIns="91425" bIns="45700" anchor="ctr" anchorCtr="0">
            <a:noAutofit/>
          </a:bodyPr>
          <a:lstStyle/>
          <a:p>
            <a:pPr algn="ctr">
              <a:lnSpc>
                <a:spcPct val="90000"/>
              </a:lnSpc>
              <a:buClr>
                <a:srgbClr val="0C4B05"/>
              </a:buClr>
              <a:buSzPts val="6000"/>
            </a:pPr>
            <a:r>
              <a:rPr lang="en-US" sz="3200" b="1" i="0" u="none" strike="noStrike" cap="none" dirty="0">
                <a:solidFill>
                  <a:schemeClr val="dk1"/>
                </a:solidFill>
                <a:latin typeface="Calibri"/>
                <a:ea typeface="Calibri"/>
                <a:cs typeface="Calibri"/>
                <a:sym typeface="Calibri"/>
              </a:rPr>
              <a:t>SCOPE </a:t>
            </a:r>
            <a:r>
              <a:rPr lang="en-US" sz="3200" b="1" dirty="0">
                <a:solidFill>
                  <a:schemeClr val="dk1"/>
                </a:solidFill>
                <a:latin typeface="Calibri"/>
                <a:ea typeface="Calibri"/>
                <a:cs typeface="Calibri"/>
                <a:sym typeface="Calibri"/>
              </a:rPr>
              <a:t>AND DELIMITATION OF</a:t>
            </a:r>
            <a:r>
              <a:rPr lang="en-US" sz="3200" b="1" i="0" u="none" strike="noStrike" cap="none" dirty="0">
                <a:solidFill>
                  <a:schemeClr val="dk1"/>
                </a:solidFill>
                <a:latin typeface="Calibri"/>
                <a:ea typeface="Calibri"/>
                <a:cs typeface="Calibri"/>
                <a:sym typeface="Calibri"/>
              </a:rPr>
              <a:t> THE STUDY</a:t>
            </a:r>
            <a:endParaRPr lang="en-US" sz="3200" b="1" i="0" u="none" strike="noStrike" cap="none" dirty="0">
              <a:solidFill>
                <a:schemeClr val="dk1"/>
              </a:solidFill>
              <a:latin typeface="Calibri"/>
              <a:ea typeface="Calibri"/>
              <a:cs typeface="Calibri"/>
            </a:endParaRPr>
          </a:p>
        </p:txBody>
      </p:sp>
      <p:sp>
        <p:nvSpPr>
          <p:cNvPr id="383" name="Google Shape;383;p4"/>
          <p:cNvSpPr txBox="1"/>
          <p:nvPr/>
        </p:nvSpPr>
        <p:spPr>
          <a:xfrm>
            <a:off x="418183" y="1245990"/>
            <a:ext cx="11329680" cy="442329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n-US" sz="2800" b="1" dirty="0">
                <a:solidFill>
                  <a:schemeClr val="dk1"/>
                </a:solidFill>
                <a:highlight>
                  <a:schemeClr val="lt1"/>
                </a:highlight>
                <a:latin typeface="Arial" panose="020B0604020202020204" pitchFamily="34" charset="0"/>
                <a:cs typeface="Arial" panose="020B0604020202020204" pitchFamily="34" charset="0"/>
              </a:rPr>
              <a:t>Delimitations</a:t>
            </a:r>
          </a:p>
          <a:p>
            <a:pPr marL="0" lvl="0" indent="0" algn="just" rtl="0">
              <a:spcBef>
                <a:spcPts val="0"/>
              </a:spcBef>
              <a:spcAft>
                <a:spcPts val="0"/>
              </a:spcAft>
              <a:buNone/>
            </a:pPr>
            <a:endParaRPr lang="en-US" sz="900" b="1" dirty="0">
              <a:solidFill>
                <a:schemeClr val="dk1"/>
              </a:solidFill>
              <a:highlight>
                <a:schemeClr val="lt1"/>
              </a:highlight>
              <a:latin typeface="Arial" panose="020B0604020202020204" pitchFamily="34" charset="0"/>
              <a:cs typeface="Arial" panose="020B0604020202020204" pitchFamily="34" charset="0"/>
            </a:endParaRPr>
          </a:p>
          <a:p>
            <a:pPr marL="457200" lvl="0" indent="-457200" algn="just" rtl="0">
              <a:spcBef>
                <a:spcPts val="0"/>
              </a:spcBef>
              <a:spcAft>
                <a:spcPts val="0"/>
              </a:spcAft>
              <a:buFont typeface="Arial" panose="020B0604020202020204" pitchFamily="34" charset="0"/>
              <a:buChar char="•"/>
            </a:pPr>
            <a:r>
              <a:rPr lang="en-US" sz="2400" b="1" dirty="0">
                <a:solidFill>
                  <a:schemeClr val="dk1"/>
                </a:solidFill>
                <a:highlight>
                  <a:schemeClr val="lt1"/>
                </a:highlight>
                <a:latin typeface="Arial" panose="020B0604020202020204" pitchFamily="34" charset="0"/>
                <a:cs typeface="Arial" panose="020B0604020202020204" pitchFamily="34" charset="0"/>
              </a:rPr>
              <a:t>Domain Coverage : </a:t>
            </a:r>
            <a:r>
              <a:rPr lang="en-US" sz="2400" dirty="0">
                <a:latin typeface="Arial" panose="020B0604020202020204" pitchFamily="34" charset="0"/>
                <a:cs typeface="Arial" panose="020B0604020202020204" pitchFamily="34" charset="0"/>
              </a:rPr>
              <a:t>Focused on IT and Software Development roles only, as the skill dictionary was built specifically for technical hiring.</a:t>
            </a:r>
          </a:p>
          <a:p>
            <a:pPr lvl="0" algn="just" rtl="0">
              <a:spcBef>
                <a:spcPts val="0"/>
              </a:spcBef>
              <a:spcAft>
                <a:spcPts val="0"/>
              </a:spcAft>
            </a:pPr>
            <a:endParaRPr lang="en-US" sz="1000" b="1" dirty="0">
              <a:solidFill>
                <a:schemeClr val="dk1"/>
              </a:solidFill>
              <a:highlight>
                <a:schemeClr val="lt1"/>
              </a:highlight>
              <a:latin typeface="Arial" panose="020B0604020202020204" pitchFamily="34" charset="0"/>
              <a:cs typeface="Arial" panose="020B0604020202020204" pitchFamily="34" charset="0"/>
            </a:endParaRPr>
          </a:p>
          <a:p>
            <a:pPr marL="457200" lvl="0" indent="-457200" algn="just" rtl="0">
              <a:spcBef>
                <a:spcPts val="0"/>
              </a:spcBef>
              <a:spcAft>
                <a:spcPts val="0"/>
              </a:spcAft>
              <a:buFont typeface="Arial" panose="020B0604020202020204" pitchFamily="34" charset="0"/>
              <a:buChar char="•"/>
            </a:pPr>
            <a:r>
              <a:rPr lang="en-US" sz="2400" b="1" dirty="0">
                <a:solidFill>
                  <a:schemeClr val="dk1"/>
                </a:solidFill>
                <a:highlight>
                  <a:schemeClr val="lt1"/>
                </a:highlight>
                <a:latin typeface="Arial" panose="020B0604020202020204" pitchFamily="34" charset="0"/>
                <a:cs typeface="Arial" panose="020B0604020202020204" pitchFamily="34" charset="0"/>
              </a:rPr>
              <a:t>Accepted File Formats: </a:t>
            </a:r>
            <a:r>
              <a:rPr lang="en-US" sz="2400" dirty="0">
                <a:solidFill>
                  <a:schemeClr val="dk1"/>
                </a:solidFill>
                <a:highlight>
                  <a:schemeClr val="lt1"/>
                </a:highlight>
                <a:latin typeface="Arial" panose="020B0604020202020204" pitchFamily="34" charset="0"/>
                <a:cs typeface="Arial" panose="020B0604020202020204" pitchFamily="34" charset="0"/>
              </a:rPr>
              <a:t>Limited to PDF and DOCX formats, as these are the standard file types in professional recruitment.</a:t>
            </a:r>
          </a:p>
          <a:p>
            <a:pPr marL="457200" lvl="0" indent="-457200" algn="just" rtl="0">
              <a:spcBef>
                <a:spcPts val="0"/>
              </a:spcBef>
              <a:spcAft>
                <a:spcPts val="0"/>
              </a:spcAft>
              <a:buFont typeface="Arial" panose="020B0604020202020204" pitchFamily="34" charset="0"/>
              <a:buChar char="•"/>
            </a:pPr>
            <a:endParaRPr lang="en-US" sz="800" dirty="0">
              <a:solidFill>
                <a:schemeClr val="dk1"/>
              </a:solidFill>
              <a:highlight>
                <a:schemeClr val="lt1"/>
              </a:highlight>
              <a:latin typeface="Arial" panose="020B0604020202020204" pitchFamily="34" charset="0"/>
              <a:cs typeface="Arial" panose="020B0604020202020204" pitchFamily="34" charset="0"/>
            </a:endParaRPr>
          </a:p>
          <a:p>
            <a:pPr marL="457200" lvl="0" indent="-457200" algn="just" rtl="0">
              <a:spcBef>
                <a:spcPts val="0"/>
              </a:spcBef>
              <a:spcAft>
                <a:spcPts val="0"/>
              </a:spcAft>
              <a:buFont typeface="Arial" panose="020B0604020202020204" pitchFamily="34" charset="0"/>
              <a:buChar char="•"/>
            </a:pPr>
            <a:r>
              <a:rPr lang="en-US" sz="2400" b="1" dirty="0">
                <a:solidFill>
                  <a:schemeClr val="dk1"/>
                </a:solidFill>
                <a:highlight>
                  <a:schemeClr val="lt1"/>
                </a:highlight>
                <a:latin typeface="Arial" panose="020B0604020202020204" pitchFamily="34" charset="0"/>
                <a:cs typeface="Arial" panose="020B0604020202020204" pitchFamily="34" charset="0"/>
              </a:rPr>
              <a:t>Language Input : </a:t>
            </a:r>
            <a:r>
              <a:rPr lang="en-US" sz="2400" dirty="0">
                <a:latin typeface="Arial" panose="020B0604020202020204" pitchFamily="34" charset="0"/>
                <a:cs typeface="Arial" panose="020B0604020202020204" pitchFamily="34" charset="0"/>
              </a:rPr>
              <a:t>English-only input, as the pre-trained S-BERT model is trained on English corpora.</a:t>
            </a:r>
          </a:p>
          <a:p>
            <a:pPr marL="457200" lvl="0" indent="-457200" algn="just" rtl="0">
              <a:spcBef>
                <a:spcPts val="0"/>
              </a:spcBef>
              <a:spcAft>
                <a:spcPts val="0"/>
              </a:spcAft>
              <a:buFont typeface="Arial" panose="020B0604020202020204" pitchFamily="34" charset="0"/>
              <a:buChar char="•"/>
            </a:pPr>
            <a:endParaRPr lang="en-US" sz="800" b="1" dirty="0">
              <a:solidFill>
                <a:schemeClr val="dk1"/>
              </a:solidFill>
              <a:highlight>
                <a:schemeClr val="lt1"/>
              </a:highlight>
              <a:latin typeface="Arial" panose="020B0604020202020204" pitchFamily="34" charset="0"/>
              <a:cs typeface="Arial" panose="020B0604020202020204" pitchFamily="34" charset="0"/>
            </a:endParaRPr>
          </a:p>
          <a:p>
            <a:pPr marL="457200" lvl="0" indent="-457200" algn="just" rtl="0">
              <a:spcBef>
                <a:spcPts val="0"/>
              </a:spcBef>
              <a:spcAft>
                <a:spcPts val="0"/>
              </a:spcAft>
              <a:buFont typeface="Arial" panose="020B0604020202020204" pitchFamily="34" charset="0"/>
              <a:buChar char="•"/>
            </a:pPr>
            <a:r>
              <a:rPr lang="en-US" sz="2400" b="1" dirty="0">
                <a:solidFill>
                  <a:schemeClr val="dk1"/>
                </a:solidFill>
                <a:highlight>
                  <a:schemeClr val="lt1"/>
                </a:highlight>
                <a:latin typeface="Arial" panose="020B0604020202020204" pitchFamily="34" charset="0"/>
                <a:cs typeface="Arial" panose="020B0604020202020204" pitchFamily="34" charset="0"/>
              </a:rPr>
              <a:t>Model Approach : </a:t>
            </a:r>
            <a:r>
              <a:rPr lang="en-US" sz="2400" dirty="0">
                <a:latin typeface="Arial" panose="020B0604020202020204" pitchFamily="34" charset="0"/>
                <a:cs typeface="Arial" panose="020B0604020202020204" pitchFamily="34" charset="0"/>
              </a:rPr>
              <a:t>Uses pre-trained S-BERT and fine-tuned scoring logic</a:t>
            </a:r>
          </a:p>
          <a:p>
            <a:pPr lvl="0" algn="just" rtl="0">
              <a:spcBef>
                <a:spcPts val="0"/>
              </a:spcBef>
              <a:spcAft>
                <a:spcPts val="0"/>
              </a:spcAft>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0405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7F1E4DA8-0E34-DDEC-5D4F-DC7D7A345722}"/>
            </a:ext>
          </a:extLst>
        </p:cNvPr>
        <p:cNvGrpSpPr/>
        <p:nvPr/>
      </p:nvGrpSpPr>
      <p:grpSpPr>
        <a:xfrm>
          <a:off x="0" y="0"/>
          <a:ext cx="0" cy="0"/>
          <a:chOff x="0" y="0"/>
          <a:chExt cx="0" cy="0"/>
        </a:xfrm>
      </p:grpSpPr>
      <p:sp>
        <p:nvSpPr>
          <p:cNvPr id="339" name="Google Shape;339;p2">
            <a:extLst>
              <a:ext uri="{FF2B5EF4-FFF2-40B4-BE49-F238E27FC236}">
                <a16:creationId xmlns:a16="http://schemas.microsoft.com/office/drawing/2014/main" id="{F65974DD-474E-F758-E867-39B6BA5AF9F7}"/>
              </a:ext>
            </a:extLst>
          </p:cNvPr>
          <p:cNvSpPr txBox="1">
            <a:spLocks noGrp="1"/>
          </p:cNvSpPr>
          <p:nvPr>
            <p:ph type="ctrTitle"/>
          </p:nvPr>
        </p:nvSpPr>
        <p:spPr>
          <a:xfrm>
            <a:off x="463982" y="864972"/>
            <a:ext cx="8515895" cy="2059193"/>
          </a:xfrm>
          <a:prstGeom prst="rect">
            <a:avLst/>
          </a:prstGeom>
          <a:noFill/>
          <a:ln>
            <a:noFill/>
          </a:ln>
        </p:spPr>
        <p:txBody>
          <a:bodyPr spcFirstLastPara="1" wrap="square" lIns="91425" tIns="45700" rIns="91425" bIns="45700" anchor="b" anchorCtr="0">
            <a:noAutofit/>
          </a:bodyPr>
          <a:lstStyle/>
          <a:p>
            <a:r>
              <a:rPr lang="en-GB" sz="4500"/>
              <a:t>REVIEW OF LITERATURE </a:t>
            </a:r>
            <a:endParaRPr lang="en-GB" sz="4500" dirty="0"/>
          </a:p>
        </p:txBody>
      </p:sp>
    </p:spTree>
    <p:extLst>
      <p:ext uri="{BB962C8B-B14F-4D97-AF65-F5344CB8AC3E}">
        <p14:creationId xmlns:p14="http://schemas.microsoft.com/office/powerpoint/2010/main" val="3089480802"/>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7">
          <a:extLst>
            <a:ext uri="{FF2B5EF4-FFF2-40B4-BE49-F238E27FC236}">
              <a16:creationId xmlns:a16="http://schemas.microsoft.com/office/drawing/2014/main" id="{777A507C-D9D5-9C81-F6E8-1E962C7408AB}"/>
            </a:ext>
          </a:extLst>
        </p:cNvPr>
        <p:cNvGrpSpPr/>
        <p:nvPr/>
      </p:nvGrpSpPr>
      <p:grpSpPr>
        <a:xfrm>
          <a:off x="0" y="0"/>
          <a:ext cx="0" cy="0"/>
          <a:chOff x="0" y="0"/>
          <a:chExt cx="0" cy="0"/>
        </a:xfrm>
      </p:grpSpPr>
      <p:sp>
        <p:nvSpPr>
          <p:cNvPr id="389" name="Google Shape;389;g3a981422744_3_4">
            <a:extLst>
              <a:ext uri="{FF2B5EF4-FFF2-40B4-BE49-F238E27FC236}">
                <a16:creationId xmlns:a16="http://schemas.microsoft.com/office/drawing/2014/main" id="{92F8CBEA-EE3A-51DA-AA6F-59CBDD7857A5}"/>
              </a:ext>
            </a:extLst>
          </p:cNvPr>
          <p:cNvSpPr txBox="1"/>
          <p:nvPr/>
        </p:nvSpPr>
        <p:spPr>
          <a:xfrm>
            <a:off x="143525" y="194375"/>
            <a:ext cx="5033700" cy="586500"/>
          </a:xfrm>
          <a:prstGeom prst="rect">
            <a:avLst/>
          </a:prstGeom>
          <a:noFill/>
          <a:ln>
            <a:noFill/>
          </a:ln>
        </p:spPr>
        <p:txBody>
          <a:bodyPr spcFirstLastPara="1" wrap="square" lIns="91425" tIns="91425" rIns="91425" bIns="91425" anchor="t" anchorCtr="0">
            <a:spAutoFit/>
          </a:bodyPr>
          <a:lstStyle/>
          <a:p>
            <a:pPr>
              <a:lnSpc>
                <a:spcPct val="90000"/>
              </a:lnSpc>
            </a:pPr>
            <a:r>
              <a:rPr lang="en-US" sz="2900" b="1" dirty="0">
                <a:solidFill>
                  <a:schemeClr val="dk1"/>
                </a:solidFill>
                <a:latin typeface="Calibri"/>
                <a:ea typeface="Calibri"/>
                <a:cs typeface="Calibri"/>
                <a:sym typeface="Calibri"/>
              </a:rPr>
              <a:t>LITERATURE REVIEWS</a:t>
            </a:r>
            <a:endParaRPr lang="en-US" dirty="0">
              <a:solidFill>
                <a:schemeClr val="dk1"/>
              </a:solidFill>
              <a:latin typeface="Arial" panose="020B0604020202020204" pitchFamily="34" charset="0"/>
              <a:cs typeface="Arial" panose="020B0604020202020204" pitchFamily="34" charset="0"/>
            </a:endParaRPr>
          </a:p>
        </p:txBody>
      </p:sp>
      <p:graphicFrame>
        <p:nvGraphicFramePr>
          <p:cNvPr id="2" name="Table 3">
            <a:extLst>
              <a:ext uri="{FF2B5EF4-FFF2-40B4-BE49-F238E27FC236}">
                <a16:creationId xmlns:a16="http://schemas.microsoft.com/office/drawing/2014/main" id="{09F88AFB-4BA7-4C6E-BDCD-D9ED3290C489}"/>
              </a:ext>
            </a:extLst>
          </p:cNvPr>
          <p:cNvGraphicFramePr>
            <a:graphicFrameLocks noGrp="1"/>
          </p:cNvGraphicFramePr>
          <p:nvPr>
            <p:extLst>
              <p:ext uri="{D42A27DB-BD31-4B8C-83A1-F6EECF244321}">
                <p14:modId xmlns:p14="http://schemas.microsoft.com/office/powerpoint/2010/main" val="3190976721"/>
              </p:ext>
            </p:extLst>
          </p:nvPr>
        </p:nvGraphicFramePr>
        <p:xfrm>
          <a:off x="281577" y="780875"/>
          <a:ext cx="11344368" cy="4934269"/>
        </p:xfrm>
        <a:graphic>
          <a:graphicData uri="http://schemas.openxmlformats.org/drawingml/2006/table">
            <a:tbl>
              <a:tblPr firstRow="1" bandRow="1">
                <a:tableStyleId>{5940675A-B579-460E-94D1-54222C63F5DA}</a:tableStyleId>
              </a:tblPr>
              <a:tblGrid>
                <a:gridCol w="2261326">
                  <a:extLst>
                    <a:ext uri="{9D8B030D-6E8A-4147-A177-3AD203B41FA5}">
                      <a16:colId xmlns:a16="http://schemas.microsoft.com/office/drawing/2014/main" val="1604992363"/>
                    </a:ext>
                  </a:extLst>
                </a:gridCol>
                <a:gridCol w="3788228">
                  <a:extLst>
                    <a:ext uri="{9D8B030D-6E8A-4147-A177-3AD203B41FA5}">
                      <a16:colId xmlns:a16="http://schemas.microsoft.com/office/drawing/2014/main" val="3896438664"/>
                    </a:ext>
                  </a:extLst>
                </a:gridCol>
                <a:gridCol w="2656115">
                  <a:extLst>
                    <a:ext uri="{9D8B030D-6E8A-4147-A177-3AD203B41FA5}">
                      <a16:colId xmlns:a16="http://schemas.microsoft.com/office/drawing/2014/main" val="3779179913"/>
                    </a:ext>
                  </a:extLst>
                </a:gridCol>
                <a:gridCol w="2638699">
                  <a:extLst>
                    <a:ext uri="{9D8B030D-6E8A-4147-A177-3AD203B41FA5}">
                      <a16:colId xmlns:a16="http://schemas.microsoft.com/office/drawing/2014/main" val="1809365460"/>
                    </a:ext>
                  </a:extLst>
                </a:gridCol>
              </a:tblGrid>
              <a:tr h="455742">
                <a:tc>
                  <a:txBody>
                    <a:bodyPr/>
                    <a:lstStyle/>
                    <a:p>
                      <a:pPr algn="ctr"/>
                      <a:r>
                        <a:rPr lang="en-US" sz="1400" b="1" dirty="0">
                          <a:latin typeface="Arial" panose="020B0604020202020204" pitchFamily="34" charset="0"/>
                        </a:rPr>
                        <a:t>Theme [Citations]</a:t>
                      </a:r>
                    </a:p>
                  </a:txBody>
                  <a:tcPr anchor="ctr"/>
                </a:tc>
                <a:tc>
                  <a:txBody>
                    <a:bodyPr/>
                    <a:lstStyle/>
                    <a:p>
                      <a:pPr algn="ctr"/>
                      <a:r>
                        <a:rPr lang="en-US" sz="1400" b="1" dirty="0">
                          <a:latin typeface="Arial" panose="020B0604020202020204" pitchFamily="34" charset="0"/>
                        </a:rPr>
                        <a:t>Key Insight from Literature</a:t>
                      </a:r>
                    </a:p>
                  </a:txBody>
                  <a:tcPr anchor="ctr"/>
                </a:tc>
                <a:tc>
                  <a:txBody>
                    <a:bodyPr/>
                    <a:lstStyle/>
                    <a:p>
                      <a:pPr algn="ctr"/>
                      <a:r>
                        <a:rPr lang="en-US" sz="1400" b="1" dirty="0">
                          <a:latin typeface="Arial" panose="020B0604020202020204" pitchFamily="34" charset="0"/>
                        </a:rPr>
                        <a:t>Adopted in this Study</a:t>
                      </a:r>
                    </a:p>
                  </a:txBody>
                  <a:tcPr anchor="ctr"/>
                </a:tc>
                <a:tc>
                  <a:txBody>
                    <a:bodyPr/>
                    <a:lstStyle/>
                    <a:p>
                      <a:pPr algn="ctr"/>
                      <a:r>
                        <a:rPr lang="en-US" sz="1400" b="1" dirty="0">
                          <a:latin typeface="Arial" panose="020B0604020202020204" pitchFamily="34" charset="0"/>
                        </a:rPr>
                        <a:t>Metric/Benchmark</a:t>
                      </a:r>
                    </a:p>
                  </a:txBody>
                  <a:tcPr anchor="ctr"/>
                </a:tc>
                <a:extLst>
                  <a:ext uri="{0D108BD9-81ED-4DB2-BD59-A6C34878D82A}">
                    <a16:rowId xmlns:a16="http://schemas.microsoft.com/office/drawing/2014/main" val="1913517177"/>
                  </a:ext>
                </a:extLst>
              </a:tr>
              <a:tr h="1003807">
                <a:tc>
                  <a:txBody>
                    <a:bodyPr/>
                    <a:lstStyle/>
                    <a:p>
                      <a:pPr marL="0" indent="0">
                        <a:buNone/>
                      </a:pPr>
                      <a:r>
                        <a:rPr lang="en-US" sz="1400" b="1" dirty="0">
                          <a:solidFill>
                            <a:schemeClr val="tx1"/>
                          </a:solidFill>
                          <a:latin typeface="Arial" panose="020B0604020202020204" pitchFamily="34" charset="0"/>
                          <a:ea typeface="Calibri" pitchFamily="34" charset="-122"/>
                          <a:cs typeface="Calibri" pitchFamily="34" charset="-120"/>
                        </a:rPr>
                        <a:t>ATS &amp; Keyword Matching</a:t>
                      </a:r>
                      <a:endParaRPr lang="en-US" sz="1400" dirty="0">
                        <a:solidFill>
                          <a:schemeClr val="tx1"/>
                        </a:solidFill>
                        <a:latin typeface="Arial" panose="020B0604020202020204" pitchFamily="34" charset="0"/>
                      </a:endParaRPr>
                    </a:p>
                    <a:p>
                      <a:pPr marL="0" indent="0">
                        <a:buNone/>
                      </a:pPr>
                      <a:r>
                        <a:rPr lang="en-US" sz="1400" b="1" dirty="0">
                          <a:solidFill>
                            <a:schemeClr val="tx1"/>
                          </a:solidFill>
                          <a:latin typeface="Arial" panose="020B0604020202020204" pitchFamily="34" charset="0"/>
                          <a:ea typeface="Calibri" pitchFamily="34" charset="-122"/>
                          <a:cs typeface="Calibri" pitchFamily="34" charset="-120"/>
                        </a:rPr>
                        <a:t>[1][2]</a:t>
                      </a:r>
                      <a:endParaRPr lang="en-US" sz="1400" dirty="0">
                        <a:solidFill>
                          <a:schemeClr val="tx1"/>
                        </a:solidFill>
                        <a:latin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1E293B"/>
                          </a:solidFill>
                          <a:latin typeface="Arial" panose="020B0604020202020204" pitchFamily="34" charset="0"/>
                          <a:ea typeface="Calibri" pitchFamily="34" charset="-122"/>
                          <a:cs typeface="Calibri" pitchFamily="34" charset="-120"/>
                        </a:rPr>
                        <a:t>Keyword filters are time-intensive, bias-prone, and miss contextual meaning, causing false rejection of qualified candidates</a:t>
                      </a:r>
                      <a:endParaRPr lang="en-US" sz="1400" dirty="0">
                        <a:latin typeface="Arial" panose="020B0604020202020204" pitchFamily="34" charset="0"/>
                      </a:endParaRPr>
                    </a:p>
                    <a:p>
                      <a:endParaRPr lang="en-US" sz="1400" dirty="0">
                        <a:latin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1E293B"/>
                          </a:solidFill>
                          <a:latin typeface="Arial" panose="020B0604020202020204" pitchFamily="34" charset="0"/>
                          <a:ea typeface="Calibri" pitchFamily="34" charset="-122"/>
                          <a:cs typeface="Calibri" pitchFamily="34" charset="-120"/>
                        </a:rPr>
                        <a:t>Motivated the shift to S-BERT over keyword matching as the core screening engine</a:t>
                      </a:r>
                      <a:endParaRPr lang="en-US" sz="1400" dirty="0">
                        <a:latin typeface="Arial" panose="020B0604020202020204" pitchFamily="34" charset="0"/>
                      </a:endParaRPr>
                    </a:p>
                    <a:p>
                      <a:endParaRPr lang="en-US" sz="1400" dirty="0">
                        <a:latin typeface="Arial" panose="020B0604020202020204" pitchFamily="34" charset="0"/>
                      </a:endParaRPr>
                    </a:p>
                  </a:txBody>
                  <a:tcPr anchor="ctr"/>
                </a:tc>
                <a:tc>
                  <a:txBody>
                    <a:bodyPr/>
                    <a:lstStyle/>
                    <a:p>
                      <a:pPr algn="ctr"/>
                      <a:r>
                        <a:rPr lang="en-US" sz="1400" dirty="0">
                          <a:latin typeface="Arial" panose="020B0604020202020204" pitchFamily="34" charset="0"/>
                        </a:rPr>
                        <a:t>--</a:t>
                      </a:r>
                    </a:p>
                  </a:txBody>
                  <a:tcPr anchor="ctr"/>
                </a:tc>
                <a:extLst>
                  <a:ext uri="{0D108BD9-81ED-4DB2-BD59-A6C34878D82A}">
                    <a16:rowId xmlns:a16="http://schemas.microsoft.com/office/drawing/2014/main" val="1990284979"/>
                  </a:ext>
                </a:extLst>
              </a:tr>
              <a:tr h="1003807">
                <a:tc>
                  <a:txBody>
                    <a:bodyPr/>
                    <a:lstStyle/>
                    <a:p>
                      <a:pPr marL="0" indent="0">
                        <a:buNone/>
                      </a:pPr>
                      <a:r>
                        <a:rPr lang="en-US" sz="1400" b="1" dirty="0">
                          <a:solidFill>
                            <a:schemeClr val="tx1"/>
                          </a:solidFill>
                          <a:latin typeface="Arial" panose="020B0604020202020204" pitchFamily="34" charset="0"/>
                          <a:ea typeface="Calibri" pitchFamily="34" charset="-122"/>
                          <a:cs typeface="Calibri" pitchFamily="34" charset="-120"/>
                        </a:rPr>
                        <a:t>NLP &amp; Semantic Models</a:t>
                      </a:r>
                      <a:endParaRPr lang="en-US" sz="1400" dirty="0">
                        <a:solidFill>
                          <a:schemeClr val="tx1"/>
                        </a:solidFill>
                        <a:latin typeface="Arial" panose="020B0604020202020204" pitchFamily="34" charset="0"/>
                      </a:endParaRPr>
                    </a:p>
                    <a:p>
                      <a:pPr marL="0" indent="0">
                        <a:buNone/>
                      </a:pPr>
                      <a:r>
                        <a:rPr lang="en-US" sz="1400" b="1" dirty="0">
                          <a:solidFill>
                            <a:schemeClr val="tx1"/>
                          </a:solidFill>
                          <a:latin typeface="Arial" panose="020B0604020202020204" pitchFamily="34" charset="0"/>
                          <a:ea typeface="Calibri" pitchFamily="34" charset="-122"/>
                          <a:cs typeface="Calibri" pitchFamily="34" charset="-120"/>
                        </a:rPr>
                        <a:t>[6][7][8]</a:t>
                      </a:r>
                      <a:endParaRPr lang="en-US" sz="1400" dirty="0">
                        <a:solidFill>
                          <a:schemeClr val="tx1"/>
                        </a:solidFill>
                        <a:latin typeface="Arial" panose="020B0604020202020204" pitchFamily="34" charset="0"/>
                      </a:endParaRPr>
                    </a:p>
                    <a:p>
                      <a:endParaRPr lang="en-US" sz="1400" dirty="0">
                        <a:solidFill>
                          <a:schemeClr val="tx1"/>
                        </a:solidFill>
                        <a:latin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1E293B"/>
                          </a:solidFill>
                          <a:latin typeface="Arial" panose="020B0604020202020204" pitchFamily="34" charset="0"/>
                          <a:ea typeface="Calibri" pitchFamily="34" charset="-122"/>
                          <a:cs typeface="Calibri" pitchFamily="34" charset="-120"/>
                        </a:rPr>
                        <a:t>BERT provides bidirectional contextual understanding; semantic models reached 0.74 similarity score in Software Engineering vs. 0.35 for keyword-based</a:t>
                      </a:r>
                      <a:endParaRPr lang="en-US" sz="1400" dirty="0">
                        <a:latin typeface="Arial" panose="020B0604020202020204" pitchFamily="34" charset="0"/>
                      </a:endParaRPr>
                    </a:p>
                    <a:p>
                      <a:endParaRPr lang="en-US" sz="1400" dirty="0">
                        <a:latin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1E293B"/>
                          </a:solidFill>
                          <a:latin typeface="Arial" panose="020B0604020202020204" pitchFamily="34" charset="0"/>
                          <a:ea typeface="Calibri" pitchFamily="34" charset="-122"/>
                          <a:cs typeface="Calibri" pitchFamily="34" charset="-120"/>
                        </a:rPr>
                        <a:t>Semantic cosine similarity adopted; 0.74 domain benchmark directly informed similarity threshold calibration</a:t>
                      </a:r>
                      <a:endParaRPr lang="en-US" sz="1400" dirty="0">
                        <a:latin typeface="Arial" panose="020B0604020202020204" pitchFamily="34" charset="0"/>
                      </a:endParaRPr>
                    </a:p>
                    <a:p>
                      <a:endParaRPr lang="en-US" sz="1400" dirty="0">
                        <a:latin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rgbClr val="0D1B3E"/>
                          </a:solidFill>
                          <a:latin typeface="Arial" panose="020B0604020202020204" pitchFamily="34" charset="0"/>
                          <a:ea typeface="Calibri" pitchFamily="34" charset="-122"/>
                          <a:cs typeface="Calibri" pitchFamily="34" charset="-120"/>
                        </a:rPr>
                        <a:t>0.74 vs 0.35 similarity score</a:t>
                      </a:r>
                      <a:endParaRPr lang="en-US" sz="1400" dirty="0">
                        <a:latin typeface="Arial" panose="020B0604020202020204" pitchFamily="34" charset="0"/>
                      </a:endParaRPr>
                    </a:p>
                    <a:p>
                      <a:pPr algn="ctr"/>
                      <a:endParaRPr lang="en-US" sz="1400" dirty="0">
                        <a:latin typeface="Arial" panose="020B0604020202020204" pitchFamily="34" charset="0"/>
                      </a:endParaRPr>
                    </a:p>
                  </a:txBody>
                  <a:tcPr anchor="ctr"/>
                </a:tc>
                <a:extLst>
                  <a:ext uri="{0D108BD9-81ED-4DB2-BD59-A6C34878D82A}">
                    <a16:rowId xmlns:a16="http://schemas.microsoft.com/office/drawing/2014/main" val="548959306"/>
                  </a:ext>
                </a:extLst>
              </a:tr>
              <a:tr h="1003807">
                <a:tc>
                  <a:txBody>
                    <a:bodyPr/>
                    <a:lstStyle/>
                    <a:p>
                      <a:pPr marL="0" indent="0">
                        <a:buNone/>
                      </a:pPr>
                      <a:r>
                        <a:rPr lang="en-US" sz="1400" b="1" dirty="0">
                          <a:solidFill>
                            <a:schemeClr val="tx1"/>
                          </a:solidFill>
                          <a:latin typeface="Arial" panose="020B0604020202020204" pitchFamily="34" charset="0"/>
                          <a:ea typeface="Calibri" pitchFamily="34" charset="-122"/>
                          <a:cs typeface="Calibri" pitchFamily="34" charset="-120"/>
                        </a:rPr>
                        <a:t>Skill Extraction &amp; Normalization</a:t>
                      </a:r>
                      <a:endParaRPr lang="en-US" sz="1400" dirty="0">
                        <a:solidFill>
                          <a:schemeClr val="tx1"/>
                        </a:solidFill>
                        <a:latin typeface="Arial" panose="020B0604020202020204" pitchFamily="34" charset="0"/>
                      </a:endParaRPr>
                    </a:p>
                    <a:p>
                      <a:pPr marL="0" indent="0">
                        <a:buNone/>
                      </a:pPr>
                      <a:r>
                        <a:rPr lang="en-US" sz="1400" b="1" dirty="0">
                          <a:solidFill>
                            <a:schemeClr val="tx1"/>
                          </a:solidFill>
                          <a:latin typeface="Arial" panose="020B0604020202020204" pitchFamily="34" charset="0"/>
                          <a:ea typeface="Calibri" pitchFamily="34" charset="-122"/>
                          <a:cs typeface="Calibri" pitchFamily="34" charset="-120"/>
                        </a:rPr>
                        <a:t>[3][4][5]</a:t>
                      </a:r>
                      <a:endParaRPr lang="en-US" sz="1400" dirty="0">
                        <a:solidFill>
                          <a:schemeClr val="tx1"/>
                        </a:solidFill>
                        <a:latin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1E293B"/>
                          </a:solidFill>
                          <a:latin typeface="Arial" panose="020B0604020202020204" pitchFamily="34" charset="0"/>
                          <a:ea typeface="Calibri" pitchFamily="34" charset="-122"/>
                          <a:cs typeface="Calibri" pitchFamily="34" charset="-120"/>
                        </a:rPr>
                        <a:t>Inconsistent skill labeling reduces matching accuracy; NLP automates tokenization, normalization, and entity extraction</a:t>
                      </a:r>
                      <a:endParaRPr lang="en-US" sz="1400" dirty="0">
                        <a:latin typeface="Arial" panose="020B0604020202020204" pitchFamily="34" charset="0"/>
                      </a:endParaRPr>
                    </a:p>
                    <a:p>
                      <a:endParaRPr lang="en-US" sz="1400" dirty="0">
                        <a:latin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1E293B"/>
                          </a:solidFill>
                          <a:latin typeface="Arial" panose="020B0604020202020204" pitchFamily="34" charset="0"/>
                          <a:ea typeface="Calibri" pitchFamily="34" charset="-122"/>
                          <a:cs typeface="Calibri" pitchFamily="34" charset="-120"/>
                        </a:rPr>
                        <a:t>Skill aliasing mechanism and NLP preprocessing pipeline adopted in the resume parsing module</a:t>
                      </a:r>
                      <a:endParaRPr lang="en-US" sz="1400" dirty="0">
                        <a:latin typeface="Arial" panose="020B0604020202020204" pitchFamily="34" charset="0"/>
                      </a:endParaRPr>
                    </a:p>
                    <a:p>
                      <a:endParaRPr lang="en-US" sz="1400" dirty="0">
                        <a:latin typeface="Arial" panose="020B0604020202020204" pitchFamily="34" charset="0"/>
                      </a:endParaRPr>
                    </a:p>
                  </a:txBody>
                  <a:tcPr anchor="ctr"/>
                </a:tc>
                <a:tc>
                  <a:txBody>
                    <a:bodyPr/>
                    <a:lstStyle/>
                    <a:p>
                      <a:pPr algn="ctr"/>
                      <a:r>
                        <a:rPr lang="en-US" sz="1400" dirty="0">
                          <a:latin typeface="Arial" panose="020B0604020202020204" pitchFamily="34" charset="0"/>
                        </a:rPr>
                        <a:t>--</a:t>
                      </a:r>
                    </a:p>
                  </a:txBody>
                  <a:tcPr anchor="ctr"/>
                </a:tc>
                <a:extLst>
                  <a:ext uri="{0D108BD9-81ED-4DB2-BD59-A6C34878D82A}">
                    <a16:rowId xmlns:a16="http://schemas.microsoft.com/office/drawing/2014/main" val="1753764550"/>
                  </a:ext>
                </a:extLst>
              </a:tr>
              <a:tr h="1003807">
                <a:tc>
                  <a:txBody>
                    <a:bodyPr/>
                    <a:lstStyle/>
                    <a:p>
                      <a:pPr marL="0" indent="0">
                        <a:buNone/>
                      </a:pPr>
                      <a:r>
                        <a:rPr lang="en-US" sz="1400" b="1" dirty="0">
                          <a:solidFill>
                            <a:schemeClr val="tx1"/>
                          </a:solidFill>
                          <a:latin typeface="Arial" panose="020B0604020202020204" pitchFamily="34" charset="0"/>
                          <a:ea typeface="Calibri" pitchFamily="34" charset="-122"/>
                          <a:cs typeface="Calibri" pitchFamily="34" charset="-120"/>
                        </a:rPr>
                        <a:t>Evaluation &amp; Fairness</a:t>
                      </a:r>
                      <a:endParaRPr lang="en-US" sz="1400" dirty="0">
                        <a:solidFill>
                          <a:schemeClr val="tx1"/>
                        </a:solidFill>
                        <a:latin typeface="Arial" panose="020B0604020202020204" pitchFamily="34" charset="0"/>
                      </a:endParaRPr>
                    </a:p>
                    <a:p>
                      <a:pPr marL="0" indent="0">
                        <a:buNone/>
                      </a:pPr>
                      <a:r>
                        <a:rPr lang="en-US" sz="1400" b="1" dirty="0">
                          <a:solidFill>
                            <a:schemeClr val="tx1"/>
                          </a:solidFill>
                          <a:latin typeface="Arial" panose="020B0604020202020204" pitchFamily="34" charset="0"/>
                          <a:ea typeface="Calibri" pitchFamily="34" charset="-122"/>
                          <a:cs typeface="Calibri" pitchFamily="34" charset="-120"/>
                        </a:rPr>
                        <a:t>[16][17][22][25]</a:t>
                      </a:r>
                      <a:endParaRPr lang="en-US" sz="1400" dirty="0">
                        <a:solidFill>
                          <a:schemeClr val="tx1"/>
                        </a:solidFill>
                        <a:latin typeface="Arial" panose="020B0604020202020204" pitchFamily="34" charset="0"/>
                      </a:endParaRPr>
                    </a:p>
                    <a:p>
                      <a:endParaRPr lang="en-US" sz="1400" dirty="0">
                        <a:solidFill>
                          <a:schemeClr val="tx1"/>
                        </a:solidFill>
                        <a:latin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1E293B"/>
                          </a:solidFill>
                          <a:latin typeface="Arial" panose="020B0604020202020204" pitchFamily="34" charset="0"/>
                          <a:ea typeface="Calibri" pitchFamily="34" charset="-122"/>
                          <a:cs typeface="Calibri" pitchFamily="34" charset="-120"/>
                        </a:rPr>
                        <a:t>Precision, Recall, F1, and nDCG are standard metrics; transformer models achieve up to 92% top-1 accuracy; bias from keyword dependency requires explainable design</a:t>
                      </a:r>
                      <a:endParaRPr lang="en-US" sz="1400" dirty="0">
                        <a:latin typeface="Arial" panose="020B0604020202020204" pitchFamily="34" charset="0"/>
                      </a:endParaRPr>
                    </a:p>
                    <a:p>
                      <a:endParaRPr lang="en-US" sz="1400" dirty="0">
                        <a:latin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1E293B"/>
                          </a:solidFill>
                          <a:latin typeface="Arial" panose="020B0604020202020204" pitchFamily="34" charset="0"/>
                          <a:ea typeface="Calibri" pitchFamily="34" charset="-122"/>
                          <a:cs typeface="Calibri" pitchFamily="34" charset="-120"/>
                        </a:rPr>
                        <a:t>P / R / F1 + Top-K (nDCG) adopted as evaluation framework; weighted scoring improves explainability</a:t>
                      </a:r>
                      <a:endParaRPr lang="en-US" sz="1400" dirty="0">
                        <a:latin typeface="Arial" panose="020B0604020202020204" pitchFamily="34" charset="0"/>
                      </a:endParaRPr>
                    </a:p>
                    <a:p>
                      <a:endParaRPr lang="en-US" sz="1400" dirty="0">
                        <a:latin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rgbClr val="0D1B3E"/>
                          </a:solidFill>
                          <a:latin typeface="Arial" panose="020B0604020202020204" pitchFamily="34" charset="0"/>
                          <a:ea typeface="Calibri" pitchFamily="34" charset="-122"/>
                          <a:cs typeface="Calibri" pitchFamily="34" charset="-120"/>
                        </a:rPr>
                        <a:t>92% top-1 accuracy [17]</a:t>
                      </a:r>
                      <a:endParaRPr lang="en-US" sz="1400" dirty="0">
                        <a:latin typeface="Arial" panose="020B0604020202020204" pitchFamily="34" charset="0"/>
                      </a:endParaRPr>
                    </a:p>
                    <a:p>
                      <a:pPr algn="ctr"/>
                      <a:endParaRPr lang="en-US" sz="1400" dirty="0">
                        <a:latin typeface="Arial" panose="020B0604020202020204" pitchFamily="34" charset="0"/>
                      </a:endParaRPr>
                    </a:p>
                  </a:txBody>
                  <a:tcPr anchor="ctr"/>
                </a:tc>
                <a:extLst>
                  <a:ext uri="{0D108BD9-81ED-4DB2-BD59-A6C34878D82A}">
                    <a16:rowId xmlns:a16="http://schemas.microsoft.com/office/drawing/2014/main" val="476231804"/>
                  </a:ext>
                </a:extLst>
              </a:tr>
            </a:tbl>
          </a:graphicData>
        </a:graphic>
      </p:graphicFrame>
    </p:spTree>
    <p:extLst>
      <p:ext uri="{BB962C8B-B14F-4D97-AF65-F5344CB8AC3E}">
        <p14:creationId xmlns:p14="http://schemas.microsoft.com/office/powerpoint/2010/main" val="1563688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7">
          <a:extLst>
            <a:ext uri="{FF2B5EF4-FFF2-40B4-BE49-F238E27FC236}">
              <a16:creationId xmlns:a16="http://schemas.microsoft.com/office/drawing/2014/main" id="{777A507C-D9D5-9C81-F6E8-1E962C7408AB}"/>
            </a:ext>
          </a:extLst>
        </p:cNvPr>
        <p:cNvGrpSpPr/>
        <p:nvPr/>
      </p:nvGrpSpPr>
      <p:grpSpPr>
        <a:xfrm>
          <a:off x="0" y="0"/>
          <a:ext cx="0" cy="0"/>
          <a:chOff x="0" y="0"/>
          <a:chExt cx="0" cy="0"/>
        </a:xfrm>
      </p:grpSpPr>
      <p:sp>
        <p:nvSpPr>
          <p:cNvPr id="389" name="Google Shape;389;g3a981422744_3_4">
            <a:extLst>
              <a:ext uri="{FF2B5EF4-FFF2-40B4-BE49-F238E27FC236}">
                <a16:creationId xmlns:a16="http://schemas.microsoft.com/office/drawing/2014/main" id="{92F8CBEA-EE3A-51DA-AA6F-59CBDD7857A5}"/>
              </a:ext>
            </a:extLst>
          </p:cNvPr>
          <p:cNvSpPr txBox="1"/>
          <p:nvPr/>
        </p:nvSpPr>
        <p:spPr>
          <a:xfrm>
            <a:off x="143525" y="194375"/>
            <a:ext cx="5033700" cy="586500"/>
          </a:xfrm>
          <a:prstGeom prst="rect">
            <a:avLst/>
          </a:prstGeom>
          <a:noFill/>
          <a:ln>
            <a:noFill/>
          </a:ln>
        </p:spPr>
        <p:txBody>
          <a:bodyPr spcFirstLastPara="1" wrap="square" lIns="91425" tIns="91425" rIns="91425" bIns="91425" anchor="t" anchorCtr="0">
            <a:spAutoFit/>
          </a:bodyPr>
          <a:lstStyle/>
          <a:p>
            <a:pPr>
              <a:lnSpc>
                <a:spcPct val="90000"/>
              </a:lnSpc>
            </a:pPr>
            <a:r>
              <a:rPr lang="en-US" sz="2900" b="1" dirty="0">
                <a:solidFill>
                  <a:schemeClr val="dk1"/>
                </a:solidFill>
                <a:latin typeface="Calibri"/>
                <a:ea typeface="Calibri"/>
                <a:cs typeface="Calibri"/>
                <a:sym typeface="Calibri"/>
              </a:rPr>
              <a:t>REVIEW OF RELATED SYSTEMS</a:t>
            </a:r>
            <a:endParaRPr lang="en-US" dirty="0">
              <a:solidFill>
                <a:schemeClr val="dk1"/>
              </a:solidFill>
              <a:latin typeface="Arial" panose="020B0604020202020204" pitchFamily="34" charset="0"/>
              <a:cs typeface="Arial" panose="020B0604020202020204" pitchFamily="34" charset="0"/>
            </a:endParaRPr>
          </a:p>
        </p:txBody>
      </p:sp>
      <p:graphicFrame>
        <p:nvGraphicFramePr>
          <p:cNvPr id="2" name="Table 3">
            <a:extLst>
              <a:ext uri="{FF2B5EF4-FFF2-40B4-BE49-F238E27FC236}">
                <a16:creationId xmlns:a16="http://schemas.microsoft.com/office/drawing/2014/main" id="{09F88AFB-4BA7-4C6E-BDCD-D9ED3290C489}"/>
              </a:ext>
            </a:extLst>
          </p:cNvPr>
          <p:cNvGraphicFramePr>
            <a:graphicFrameLocks noGrp="1"/>
          </p:cNvGraphicFramePr>
          <p:nvPr>
            <p:extLst>
              <p:ext uri="{D42A27DB-BD31-4B8C-83A1-F6EECF244321}">
                <p14:modId xmlns:p14="http://schemas.microsoft.com/office/powerpoint/2010/main" val="2447005761"/>
              </p:ext>
            </p:extLst>
          </p:nvPr>
        </p:nvGraphicFramePr>
        <p:xfrm>
          <a:off x="281577" y="780875"/>
          <a:ext cx="11170194" cy="4958074"/>
        </p:xfrm>
        <a:graphic>
          <a:graphicData uri="http://schemas.openxmlformats.org/drawingml/2006/table">
            <a:tbl>
              <a:tblPr firstRow="1" bandRow="1">
                <a:tableStyleId>{5940675A-B579-460E-94D1-54222C63F5DA}</a:tableStyleId>
              </a:tblPr>
              <a:tblGrid>
                <a:gridCol w="2226607">
                  <a:extLst>
                    <a:ext uri="{9D8B030D-6E8A-4147-A177-3AD203B41FA5}">
                      <a16:colId xmlns:a16="http://schemas.microsoft.com/office/drawing/2014/main" val="1604992363"/>
                    </a:ext>
                  </a:extLst>
                </a:gridCol>
                <a:gridCol w="3730066">
                  <a:extLst>
                    <a:ext uri="{9D8B030D-6E8A-4147-A177-3AD203B41FA5}">
                      <a16:colId xmlns:a16="http://schemas.microsoft.com/office/drawing/2014/main" val="3896438664"/>
                    </a:ext>
                  </a:extLst>
                </a:gridCol>
                <a:gridCol w="2615335">
                  <a:extLst>
                    <a:ext uri="{9D8B030D-6E8A-4147-A177-3AD203B41FA5}">
                      <a16:colId xmlns:a16="http://schemas.microsoft.com/office/drawing/2014/main" val="3779179913"/>
                    </a:ext>
                  </a:extLst>
                </a:gridCol>
                <a:gridCol w="2598186">
                  <a:extLst>
                    <a:ext uri="{9D8B030D-6E8A-4147-A177-3AD203B41FA5}">
                      <a16:colId xmlns:a16="http://schemas.microsoft.com/office/drawing/2014/main" val="1809365460"/>
                    </a:ext>
                  </a:extLst>
                </a:gridCol>
              </a:tblGrid>
              <a:tr h="623925">
                <a:tc>
                  <a:txBody>
                    <a:bodyPr/>
                    <a:lstStyle/>
                    <a:p>
                      <a:pPr algn="ctr"/>
                      <a:r>
                        <a:rPr lang="en-US" sz="1400" b="1" dirty="0">
                          <a:latin typeface="Arial" panose="020B0604020202020204" pitchFamily="34" charset="0"/>
                        </a:rPr>
                        <a:t>Theme [Citations]</a:t>
                      </a:r>
                    </a:p>
                  </a:txBody>
                  <a:tcPr anchor="ctr"/>
                </a:tc>
                <a:tc>
                  <a:txBody>
                    <a:bodyPr/>
                    <a:lstStyle/>
                    <a:p>
                      <a:pPr algn="ctr"/>
                      <a:r>
                        <a:rPr lang="en-US" sz="1400" b="1" dirty="0">
                          <a:latin typeface="Arial" panose="020B0604020202020204" pitchFamily="34" charset="0"/>
                        </a:rPr>
                        <a:t>Key Feature</a:t>
                      </a:r>
                    </a:p>
                  </a:txBody>
                  <a:tcPr anchor="ctr"/>
                </a:tc>
                <a:tc>
                  <a:txBody>
                    <a:bodyPr/>
                    <a:lstStyle/>
                    <a:p>
                      <a:pPr algn="ctr"/>
                      <a:r>
                        <a:rPr lang="en-US" sz="1400" b="1" dirty="0">
                          <a:latin typeface="Arial" panose="020B0604020202020204" pitchFamily="34" charset="0"/>
                        </a:rPr>
                        <a:t>Adopted in this Study</a:t>
                      </a:r>
                    </a:p>
                  </a:txBody>
                  <a:tcPr anchor="ctr"/>
                </a:tc>
                <a:tc>
                  <a:txBody>
                    <a:bodyPr/>
                    <a:lstStyle/>
                    <a:p>
                      <a:pPr algn="ctr"/>
                      <a:r>
                        <a:rPr lang="en-US" sz="1400" b="1" dirty="0">
                          <a:latin typeface="Arial" panose="020B0604020202020204" pitchFamily="34" charset="0"/>
                        </a:rPr>
                        <a:t>Gap/Limitation</a:t>
                      </a:r>
                    </a:p>
                  </a:txBody>
                  <a:tcPr anchor="ctr"/>
                </a:tc>
                <a:extLst>
                  <a:ext uri="{0D108BD9-81ED-4DB2-BD59-A6C34878D82A}">
                    <a16:rowId xmlns:a16="http://schemas.microsoft.com/office/drawing/2014/main" val="1913517177"/>
                  </a:ext>
                </a:extLst>
              </a:tr>
              <a:tr h="1585665">
                <a:tc>
                  <a:txBody>
                    <a:bodyPr/>
                    <a:lstStyle/>
                    <a:p>
                      <a:pPr marL="0" indent="0">
                        <a:buNone/>
                      </a:pPr>
                      <a:r>
                        <a:rPr lang="en-US" sz="1400" b="1" dirty="0">
                          <a:solidFill>
                            <a:schemeClr val="tx1"/>
                          </a:solidFill>
                          <a:latin typeface="Arial" panose="020B0604020202020204" pitchFamily="34" charset="0"/>
                          <a:ea typeface="Calibri" pitchFamily="34" charset="-122"/>
                          <a:cs typeface="Arial" panose="020B0604020202020204" pitchFamily="34" charset="0"/>
                        </a:rPr>
                        <a:t>IDSS / I-Recruiter</a:t>
                      </a:r>
                      <a:endParaRPr lang="en-US" sz="1400" dirty="0">
                        <a:solidFill>
                          <a:schemeClr val="tx1"/>
                        </a:solidFill>
                        <a:latin typeface="Arial" panose="020B0604020202020204" pitchFamily="34" charset="0"/>
                        <a:cs typeface="Arial" panose="020B0604020202020204" pitchFamily="34" charset="0"/>
                      </a:endParaRPr>
                    </a:p>
                    <a:p>
                      <a:pPr marL="0" indent="0">
                        <a:buNone/>
                      </a:pPr>
                      <a:r>
                        <a:rPr lang="en-US" sz="1400" b="1" dirty="0">
                          <a:solidFill>
                            <a:schemeClr val="tx1"/>
                          </a:solidFill>
                          <a:latin typeface="Arial" panose="020B0604020202020204" pitchFamily="34" charset="0"/>
                          <a:ea typeface="Calibri" pitchFamily="34" charset="-122"/>
                          <a:cs typeface="Arial" panose="020B0604020202020204" pitchFamily="34" charset="0"/>
                        </a:rPr>
                        <a:t>[Najjar et al.]</a:t>
                      </a:r>
                      <a:endParaRPr lang="en-US" sz="1400" dirty="0">
                        <a:solidFill>
                          <a:schemeClr val="tx1"/>
                        </a:solidFill>
                        <a:latin typeface="Arial" panose="020B0604020202020204" pitchFamily="34" charset="0"/>
                        <a:cs typeface="Arial" panose="020B0604020202020204" pitchFamily="34" charset="0"/>
                      </a:endParaRPr>
                    </a:p>
                    <a:p>
                      <a:pPr marL="0" indent="0">
                        <a:buNone/>
                      </a:pPr>
                      <a:endParaRPr lang="en-US" sz="14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Arial" panose="020B0604020202020204" pitchFamily="34" charset="0"/>
                          <a:ea typeface="Calibri" pitchFamily="34" charset="-122"/>
                          <a:cs typeface="Arial" panose="020B0604020202020204" pitchFamily="34" charset="0"/>
                        </a:rPr>
                        <a:t>Word2Vec Skip-Gram + Cosine Similarity ranking; three-block NLP pipeline; semantic vector-based matching</a:t>
                      </a:r>
                      <a:endParaRPr lang="en-US" sz="1400" dirty="0">
                        <a:solidFill>
                          <a:schemeClr val="tx1"/>
                        </a:solidFill>
                        <a:latin typeface="Arial" panose="020B0604020202020204" pitchFamily="34" charset="0"/>
                        <a:cs typeface="Arial" panose="020B0604020202020204" pitchFamily="34" charset="0"/>
                      </a:endParaRPr>
                    </a:p>
                    <a:p>
                      <a:endParaRPr lang="en-US" sz="14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Arial" panose="020B0604020202020204" pitchFamily="34" charset="0"/>
                          <a:ea typeface="Calibri" pitchFamily="34" charset="-122"/>
                          <a:cs typeface="Arial" panose="020B0604020202020204" pitchFamily="34" charset="0"/>
                        </a:rPr>
                        <a:t>Cosine Similarity as core ranking metric; semantic vector matching between resumes and job descriptions</a:t>
                      </a:r>
                      <a:endParaRPr lang="en-US" sz="1400" dirty="0">
                        <a:solidFill>
                          <a:schemeClr val="tx1"/>
                        </a:solidFill>
                        <a:latin typeface="Arial" panose="020B0604020202020204" pitchFamily="34" charset="0"/>
                        <a:cs typeface="Arial" panose="020B0604020202020204" pitchFamily="34" charset="0"/>
                      </a:endParaRPr>
                    </a:p>
                    <a:p>
                      <a:endParaRPr lang="en-US" sz="1400" dirty="0">
                        <a:solidFill>
                          <a:schemeClr val="tx1"/>
                        </a:solidFill>
                        <a:latin typeface="Arial" panose="020B0604020202020204" pitchFamily="34" charset="0"/>
                        <a:cs typeface="Arial" panose="020B0604020202020204" pitchFamily="34" charset="0"/>
                      </a:endParaRPr>
                    </a:p>
                  </a:txBody>
                  <a:tcPr anchor="ctr"/>
                </a:tc>
                <a:tc>
                  <a:txBody>
                    <a:bodyPr/>
                    <a:lstStyle/>
                    <a:p>
                      <a:pPr marL="0" indent="0">
                        <a:buNone/>
                      </a:pPr>
                      <a:r>
                        <a:rPr lang="en-US" sz="1400" dirty="0">
                          <a:solidFill>
                            <a:schemeClr val="tx1"/>
                          </a:solidFill>
                          <a:latin typeface="Arial" panose="020B0604020202020204" pitchFamily="34" charset="0"/>
                          <a:ea typeface="Calibri" pitchFamily="34" charset="-122"/>
                          <a:cs typeface="Arial" panose="020B0604020202020204" pitchFamily="34" charset="0"/>
                        </a:rPr>
                        <a:t>8% error from noisy bigrams; flat scoring only; no decay factor or skill aliasing</a:t>
                      </a:r>
                      <a:endParaRPr lang="en-US" sz="140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990284979"/>
                  </a:ext>
                </a:extLst>
              </a:tr>
              <a:tr h="1374242">
                <a:tc>
                  <a:txBody>
                    <a:bodyPr/>
                    <a:lstStyle/>
                    <a:p>
                      <a:pPr marL="0" indent="0">
                        <a:buNone/>
                      </a:pPr>
                      <a:r>
                        <a:rPr lang="en-US" sz="1400" b="1" dirty="0">
                          <a:solidFill>
                            <a:schemeClr val="tx1"/>
                          </a:solidFill>
                          <a:latin typeface="Arial" panose="020B0604020202020204" pitchFamily="34" charset="0"/>
                          <a:ea typeface="Calibri" pitchFamily="34" charset="-122"/>
                          <a:cs typeface="Arial" panose="020B0604020202020204" pitchFamily="34" charset="0"/>
                        </a:rPr>
                        <a:t>Efficient Resume Screening Tool</a:t>
                      </a:r>
                      <a:endParaRPr lang="en-US" sz="1400" dirty="0">
                        <a:solidFill>
                          <a:schemeClr val="tx1"/>
                        </a:solidFill>
                        <a:latin typeface="Arial" panose="020B0604020202020204" pitchFamily="34" charset="0"/>
                        <a:cs typeface="Arial" panose="020B0604020202020204" pitchFamily="34" charset="0"/>
                      </a:endParaRPr>
                    </a:p>
                    <a:p>
                      <a:pPr marL="0" indent="0">
                        <a:buNone/>
                      </a:pPr>
                      <a:r>
                        <a:rPr lang="en-US" sz="1400" b="1" dirty="0">
                          <a:solidFill>
                            <a:schemeClr val="tx1"/>
                          </a:solidFill>
                          <a:latin typeface="Arial" panose="020B0604020202020204" pitchFamily="34" charset="0"/>
                          <a:ea typeface="Calibri" pitchFamily="34" charset="-122"/>
                          <a:cs typeface="Arial" panose="020B0604020202020204" pitchFamily="34" charset="0"/>
                        </a:rPr>
                        <a:t>[</a:t>
                      </a:r>
                      <a:r>
                        <a:rPr lang="en-US" sz="1400" b="1" dirty="0" err="1">
                          <a:solidFill>
                            <a:schemeClr val="tx1"/>
                          </a:solidFill>
                          <a:latin typeface="Arial" panose="020B0604020202020204" pitchFamily="34" charset="0"/>
                          <a:ea typeface="Calibri" pitchFamily="34" charset="-122"/>
                          <a:cs typeface="Arial" panose="020B0604020202020204" pitchFamily="34" charset="0"/>
                        </a:rPr>
                        <a:t>Hatt</a:t>
                      </a:r>
                      <a:r>
                        <a:rPr lang="en-US" sz="1400" b="1" dirty="0">
                          <a:solidFill>
                            <a:schemeClr val="tx1"/>
                          </a:solidFill>
                          <a:latin typeface="Arial" panose="020B0604020202020204" pitchFamily="34" charset="0"/>
                          <a:ea typeface="Calibri" pitchFamily="34" charset="-122"/>
                          <a:cs typeface="Arial" panose="020B0604020202020204" pitchFamily="34" charset="0"/>
                        </a:rPr>
                        <a:t> et al.]</a:t>
                      </a:r>
                      <a:endParaRPr lang="en-US" sz="1400" dirty="0">
                        <a:solidFill>
                          <a:schemeClr val="tx1"/>
                        </a:solidFill>
                        <a:latin typeface="Arial" panose="020B0604020202020204" pitchFamily="34" charset="0"/>
                        <a:cs typeface="Arial" panose="020B0604020202020204" pitchFamily="34" charset="0"/>
                      </a:endParaRPr>
                    </a:p>
                    <a:p>
                      <a:endParaRPr lang="en-US" sz="14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Arial" panose="020B0604020202020204" pitchFamily="34" charset="0"/>
                          <a:ea typeface="Calibri" pitchFamily="34" charset="-122"/>
                          <a:cs typeface="Arial" panose="020B0604020202020204" pitchFamily="34" charset="0"/>
                        </a:rPr>
                        <a:t>TF-IDF vectorization; SVM + Logistic Regression classifiers; PDF intake; Precision, Recall, F1 evaluation</a:t>
                      </a:r>
                      <a:endParaRPr lang="en-US" sz="1400" dirty="0">
                        <a:solidFill>
                          <a:schemeClr val="tx1"/>
                        </a:solidFill>
                        <a:latin typeface="Arial" panose="020B0604020202020204" pitchFamily="34" charset="0"/>
                        <a:cs typeface="Arial" panose="020B0604020202020204" pitchFamily="34" charset="0"/>
                      </a:endParaRPr>
                    </a:p>
                    <a:p>
                      <a:endParaRPr lang="en-US" sz="14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Arial" panose="020B0604020202020204" pitchFamily="34" charset="0"/>
                          <a:ea typeface="Calibri" pitchFamily="34" charset="-122"/>
                          <a:cs typeface="Arial" panose="020B0604020202020204" pitchFamily="34" charset="0"/>
                        </a:rPr>
                        <a:t>PDF resume support; Precision, Recall, and F1-Score as primary evaluation metrics</a:t>
                      </a:r>
                      <a:endParaRPr lang="en-US" sz="1400" dirty="0">
                        <a:solidFill>
                          <a:schemeClr val="tx1"/>
                        </a:solidFill>
                        <a:latin typeface="Arial" panose="020B0604020202020204" pitchFamily="34" charset="0"/>
                        <a:cs typeface="Arial" panose="020B0604020202020204" pitchFamily="34" charset="0"/>
                      </a:endParaRPr>
                    </a:p>
                    <a:p>
                      <a:endParaRPr lang="en-US" sz="14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Arial" panose="020B0604020202020204" pitchFamily="34" charset="0"/>
                          <a:ea typeface="Calibri" pitchFamily="34" charset="-122"/>
                          <a:cs typeface="Arial" panose="020B0604020202020204" pitchFamily="34" charset="0"/>
                        </a:rPr>
                        <a:t>No semantic understanding; PDF only and no DOCX; no contextual embeddings</a:t>
                      </a:r>
                      <a:endParaRPr lang="en-US" sz="1400" dirty="0">
                        <a:solidFill>
                          <a:schemeClr val="tx1"/>
                        </a:solidFill>
                        <a:latin typeface="Arial" panose="020B0604020202020204" pitchFamily="34" charset="0"/>
                        <a:cs typeface="Arial" panose="020B0604020202020204" pitchFamily="34" charset="0"/>
                      </a:endParaRPr>
                    </a:p>
                    <a:p>
                      <a:pPr algn="ctr"/>
                      <a:endParaRPr lang="en-US" sz="140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548959306"/>
                  </a:ext>
                </a:extLst>
              </a:tr>
              <a:tr h="1374242">
                <a:tc>
                  <a:txBody>
                    <a:bodyPr/>
                    <a:lstStyle/>
                    <a:p>
                      <a:pPr marL="0" indent="0">
                        <a:buNone/>
                      </a:pPr>
                      <a:r>
                        <a:rPr lang="en-US" sz="1400" b="1" dirty="0">
                          <a:solidFill>
                            <a:schemeClr val="tx1"/>
                          </a:solidFill>
                          <a:latin typeface="Arial" panose="020B0604020202020204" pitchFamily="34" charset="0"/>
                          <a:ea typeface="Calibri" pitchFamily="34" charset="-122"/>
                          <a:cs typeface="Arial" panose="020B0604020202020204" pitchFamily="34" charset="0"/>
                        </a:rPr>
                        <a:t>Resume Screening Automation</a:t>
                      </a:r>
                      <a:endParaRPr lang="en-US" sz="1400" dirty="0">
                        <a:solidFill>
                          <a:schemeClr val="tx1"/>
                        </a:solidFill>
                        <a:latin typeface="Arial" panose="020B0604020202020204" pitchFamily="34" charset="0"/>
                        <a:cs typeface="Arial" panose="020B0604020202020204" pitchFamily="34" charset="0"/>
                      </a:endParaRPr>
                    </a:p>
                    <a:p>
                      <a:pPr marL="0" indent="0">
                        <a:buNone/>
                      </a:pPr>
                      <a:r>
                        <a:rPr lang="en-US" sz="1400" b="1" dirty="0">
                          <a:solidFill>
                            <a:schemeClr val="tx1"/>
                          </a:solidFill>
                          <a:latin typeface="Arial" panose="020B0604020202020204" pitchFamily="34" charset="0"/>
                          <a:ea typeface="Calibri" pitchFamily="34" charset="-122"/>
                          <a:cs typeface="Arial" panose="020B0604020202020204" pitchFamily="34" charset="0"/>
                        </a:rPr>
                        <a:t>[</a:t>
                      </a:r>
                      <a:r>
                        <a:rPr lang="en-US" sz="1400" b="1" dirty="0" err="1">
                          <a:solidFill>
                            <a:schemeClr val="tx1"/>
                          </a:solidFill>
                          <a:latin typeface="Arial" panose="020B0604020202020204" pitchFamily="34" charset="0"/>
                          <a:ea typeface="Calibri" pitchFamily="34" charset="-122"/>
                          <a:cs typeface="Arial" panose="020B0604020202020204" pitchFamily="34" charset="0"/>
                        </a:rPr>
                        <a:t>Paranthaman</a:t>
                      </a:r>
                      <a:r>
                        <a:rPr lang="en-US" sz="1400" b="1" dirty="0">
                          <a:solidFill>
                            <a:schemeClr val="tx1"/>
                          </a:solidFill>
                          <a:latin typeface="Arial" panose="020B0604020202020204" pitchFamily="34" charset="0"/>
                          <a:ea typeface="Calibri" pitchFamily="34" charset="-122"/>
                          <a:cs typeface="Arial" panose="020B0604020202020204" pitchFamily="34" charset="0"/>
                        </a:rPr>
                        <a:t> et al.]</a:t>
                      </a:r>
                      <a:endParaRPr lang="en-US" sz="1400" dirty="0">
                        <a:solidFill>
                          <a:schemeClr val="tx1"/>
                        </a:solidFill>
                        <a:latin typeface="Arial" panose="020B0604020202020204" pitchFamily="34" charset="0"/>
                        <a:cs typeface="Arial" panose="020B0604020202020204" pitchFamily="34" charset="0"/>
                      </a:endParaRPr>
                    </a:p>
                    <a:p>
                      <a:pPr marL="0" indent="0">
                        <a:buNone/>
                      </a:pPr>
                      <a:endParaRPr lang="en-US" sz="14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Arial" panose="020B0604020202020204" pitchFamily="34" charset="0"/>
                          <a:ea typeface="Calibri" pitchFamily="34" charset="-122"/>
                          <a:cs typeface="Arial" panose="020B0604020202020204" pitchFamily="34" charset="0"/>
                        </a:rPr>
                        <a:t>Random Forest + SVM classifiers; NLP contextual interpretation; 88.3% accuracy; continuous learning</a:t>
                      </a:r>
                      <a:endParaRPr lang="en-US" sz="1400" dirty="0">
                        <a:solidFill>
                          <a:schemeClr val="tx1"/>
                        </a:solidFill>
                        <a:latin typeface="Arial" panose="020B0604020202020204" pitchFamily="34" charset="0"/>
                        <a:cs typeface="Arial" panose="020B0604020202020204" pitchFamily="34" charset="0"/>
                      </a:endParaRPr>
                    </a:p>
                    <a:p>
                      <a:endParaRPr lang="en-US" sz="14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Arial" panose="020B0604020202020204" pitchFamily="34" charset="0"/>
                          <a:ea typeface="Calibri" pitchFamily="34" charset="-122"/>
                          <a:cs typeface="Arial" panose="020B0604020202020204" pitchFamily="34" charset="0"/>
                        </a:rPr>
                        <a:t>NLP-based contextual interpretation of resume and job description content</a:t>
                      </a:r>
                      <a:endParaRPr lang="en-US" sz="1400" dirty="0">
                        <a:solidFill>
                          <a:schemeClr val="tx1"/>
                        </a:solidFill>
                        <a:latin typeface="Arial" panose="020B0604020202020204" pitchFamily="34" charset="0"/>
                        <a:cs typeface="Arial" panose="020B0604020202020204" pitchFamily="34" charset="0"/>
                      </a:endParaRPr>
                    </a:p>
                    <a:p>
                      <a:endParaRPr lang="en-US" sz="1400" dirty="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Arial" panose="020B0604020202020204" pitchFamily="34" charset="0"/>
                          <a:ea typeface="Calibri" pitchFamily="34" charset="-122"/>
                          <a:cs typeface="Arial" panose="020B0604020202020204" pitchFamily="34" charset="0"/>
                        </a:rPr>
                        <a:t>Inherits historical bias; text-only and no multi-format support; no ranking metric beyond accuracy</a:t>
                      </a:r>
                      <a:endParaRPr lang="en-US" sz="1400" dirty="0">
                        <a:solidFill>
                          <a:schemeClr val="tx1"/>
                        </a:solidFill>
                        <a:latin typeface="Arial" panose="020B0604020202020204" pitchFamily="34" charset="0"/>
                        <a:cs typeface="Arial" panose="020B0604020202020204" pitchFamily="34" charset="0"/>
                      </a:endParaRPr>
                    </a:p>
                    <a:p>
                      <a:pPr algn="ctr"/>
                      <a:endParaRPr lang="en-US" sz="140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753764550"/>
                  </a:ext>
                </a:extLst>
              </a:tr>
            </a:tbl>
          </a:graphicData>
        </a:graphic>
      </p:graphicFrame>
    </p:spTree>
    <p:extLst>
      <p:ext uri="{BB962C8B-B14F-4D97-AF65-F5344CB8AC3E}">
        <p14:creationId xmlns:p14="http://schemas.microsoft.com/office/powerpoint/2010/main" val="1759031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9" name="Google Shape;389;g3a981422744_3_4"/>
          <p:cNvSpPr txBox="1"/>
          <p:nvPr/>
        </p:nvSpPr>
        <p:spPr>
          <a:xfrm>
            <a:off x="143525" y="194375"/>
            <a:ext cx="9593508" cy="586284"/>
          </a:xfrm>
          <a:prstGeom prst="rect">
            <a:avLst/>
          </a:prstGeom>
          <a:noFill/>
          <a:ln>
            <a:noFill/>
          </a:ln>
        </p:spPr>
        <p:txBody>
          <a:bodyPr spcFirstLastPara="1" wrap="square" lIns="91425" tIns="91425" rIns="91425" bIns="91425" anchor="t" anchorCtr="0">
            <a:spAutoFit/>
          </a:bodyPr>
          <a:lstStyle/>
          <a:p>
            <a:pPr>
              <a:lnSpc>
                <a:spcPct val="90000"/>
              </a:lnSpc>
            </a:pPr>
            <a:r>
              <a:rPr lang="en-US" sz="2900" b="1" dirty="0">
                <a:solidFill>
                  <a:schemeClr val="dk1"/>
                </a:solidFill>
                <a:latin typeface="Calibri"/>
                <a:ea typeface="Calibri"/>
                <a:cs typeface="Calibri"/>
                <a:sym typeface="Calibri"/>
              </a:rPr>
              <a:t>CONCEPTUAL FRAMEWORK</a:t>
            </a:r>
            <a:endParaRPr sz="2900" b="1" dirty="0">
              <a:solidFill>
                <a:schemeClr val="dk1"/>
              </a:solidFill>
              <a:latin typeface="Calibri"/>
              <a:ea typeface="Calibri"/>
              <a:cs typeface="Calibri"/>
              <a:sym typeface="Calibri"/>
            </a:endParaRPr>
          </a:p>
        </p:txBody>
      </p:sp>
      <p:grpSp>
        <p:nvGrpSpPr>
          <p:cNvPr id="4" name="Group 3">
            <a:extLst>
              <a:ext uri="{FF2B5EF4-FFF2-40B4-BE49-F238E27FC236}">
                <a16:creationId xmlns:a16="http://schemas.microsoft.com/office/drawing/2014/main" id="{BD232B76-F695-4C96-B0D9-C59E975FA082}"/>
              </a:ext>
            </a:extLst>
          </p:cNvPr>
          <p:cNvGrpSpPr/>
          <p:nvPr/>
        </p:nvGrpSpPr>
        <p:grpSpPr>
          <a:xfrm>
            <a:off x="286295" y="1571988"/>
            <a:ext cx="1737360" cy="3100070"/>
            <a:chOff x="34925" y="-20957"/>
            <a:chExt cx="1592580" cy="2842055"/>
          </a:xfrm>
        </p:grpSpPr>
        <p:grpSp>
          <p:nvGrpSpPr>
            <p:cNvPr id="5" name="Group 4">
              <a:extLst>
                <a:ext uri="{FF2B5EF4-FFF2-40B4-BE49-F238E27FC236}">
                  <a16:creationId xmlns:a16="http://schemas.microsoft.com/office/drawing/2014/main" id="{756CCB22-BF0C-478C-9616-01190F683CA6}"/>
                </a:ext>
              </a:extLst>
            </p:cNvPr>
            <p:cNvGrpSpPr/>
            <p:nvPr/>
          </p:nvGrpSpPr>
          <p:grpSpPr>
            <a:xfrm>
              <a:off x="121920" y="480060"/>
              <a:ext cx="1431235" cy="2232417"/>
              <a:chOff x="0" y="0"/>
              <a:chExt cx="1201004" cy="2232417"/>
            </a:xfrm>
          </p:grpSpPr>
          <p:grpSp>
            <p:nvGrpSpPr>
              <p:cNvPr id="8" name="Group 7">
                <a:extLst>
                  <a:ext uri="{FF2B5EF4-FFF2-40B4-BE49-F238E27FC236}">
                    <a16:creationId xmlns:a16="http://schemas.microsoft.com/office/drawing/2014/main" id="{B9841414-736A-4D8E-96BF-8889C034D1BB}"/>
                  </a:ext>
                </a:extLst>
              </p:cNvPr>
              <p:cNvGrpSpPr/>
              <p:nvPr/>
            </p:nvGrpSpPr>
            <p:grpSpPr>
              <a:xfrm>
                <a:off x="0" y="0"/>
                <a:ext cx="1201004" cy="300250"/>
                <a:chOff x="-1" y="0"/>
                <a:chExt cx="1201004" cy="300250"/>
              </a:xfrm>
            </p:grpSpPr>
            <p:sp>
              <p:nvSpPr>
                <p:cNvPr id="18" name="Rectangle: Rounded Corners 17">
                  <a:extLst>
                    <a:ext uri="{FF2B5EF4-FFF2-40B4-BE49-F238E27FC236}">
                      <a16:creationId xmlns:a16="http://schemas.microsoft.com/office/drawing/2014/main" id="{794D3EE7-53EB-4529-BD7F-5D1804530D9F}"/>
                    </a:ext>
                  </a:extLst>
                </p:cNvPr>
                <p:cNvSpPr/>
                <p:nvPr/>
              </p:nvSpPr>
              <p:spPr>
                <a:xfrm>
                  <a:off x="0" y="0"/>
                  <a:ext cx="1201003" cy="300250"/>
                </a:xfrm>
                <a:prstGeom prst="roundRect">
                  <a:avLst>
                    <a:gd name="adj" fmla="val 10640"/>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19" name="Text Box 14">
                  <a:extLst>
                    <a:ext uri="{FF2B5EF4-FFF2-40B4-BE49-F238E27FC236}">
                      <a16:creationId xmlns:a16="http://schemas.microsoft.com/office/drawing/2014/main" id="{09743843-5DFF-41F4-94F4-72CD084B1781}"/>
                    </a:ext>
                  </a:extLst>
                </p:cNvPr>
                <p:cNvSpPr txBox="1"/>
                <p:nvPr/>
              </p:nvSpPr>
              <p:spPr>
                <a:xfrm>
                  <a:off x="-1" y="27151"/>
                  <a:ext cx="1200785" cy="25248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Applicant Resumes</a:t>
                  </a:r>
                  <a:endParaRPr lang="en-US" sz="1100" kern="100" dirty="0">
                    <a:effectLst/>
                    <a:latin typeface="Arial" panose="020B0604020202020204" pitchFamily="34" charset="0"/>
                    <a:ea typeface="Aptos"/>
                    <a:cs typeface="Times New Roman" panose="02020603050405020304" pitchFamily="18" charset="0"/>
                  </a:endParaRPr>
                </a:p>
              </p:txBody>
            </p:sp>
          </p:grpSp>
          <p:grpSp>
            <p:nvGrpSpPr>
              <p:cNvPr id="9" name="Group 8">
                <a:extLst>
                  <a:ext uri="{FF2B5EF4-FFF2-40B4-BE49-F238E27FC236}">
                    <a16:creationId xmlns:a16="http://schemas.microsoft.com/office/drawing/2014/main" id="{61DF52A0-C5F1-4A57-9DA6-C942FA4FC1DF}"/>
                  </a:ext>
                </a:extLst>
              </p:cNvPr>
              <p:cNvGrpSpPr/>
              <p:nvPr/>
            </p:nvGrpSpPr>
            <p:grpSpPr>
              <a:xfrm>
                <a:off x="0" y="365760"/>
                <a:ext cx="1201003" cy="1125940"/>
                <a:chOff x="0" y="0"/>
                <a:chExt cx="1201003" cy="300250"/>
              </a:xfrm>
            </p:grpSpPr>
            <p:sp>
              <p:nvSpPr>
                <p:cNvPr id="16" name="Rectangle: Rounded Corners 15">
                  <a:extLst>
                    <a:ext uri="{FF2B5EF4-FFF2-40B4-BE49-F238E27FC236}">
                      <a16:creationId xmlns:a16="http://schemas.microsoft.com/office/drawing/2014/main" id="{19505446-F2EF-45DF-AC7E-D4F3EBFD9A0B}"/>
                    </a:ext>
                  </a:extLst>
                </p:cNvPr>
                <p:cNvSpPr/>
                <p:nvPr/>
              </p:nvSpPr>
              <p:spPr>
                <a:xfrm>
                  <a:off x="0" y="0"/>
                  <a:ext cx="1201003" cy="300250"/>
                </a:xfrm>
                <a:prstGeom prst="roundRect">
                  <a:avLst>
                    <a:gd name="adj" fmla="val 4956"/>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17" name="Text Box 17">
                  <a:extLst>
                    <a:ext uri="{FF2B5EF4-FFF2-40B4-BE49-F238E27FC236}">
                      <a16:creationId xmlns:a16="http://schemas.microsoft.com/office/drawing/2014/main" id="{DBBF8A83-E54D-4F44-AD2B-2875EB8341A3}"/>
                    </a:ext>
                  </a:extLst>
                </p:cNvPr>
                <p:cNvSpPr txBox="1"/>
                <p:nvPr/>
              </p:nvSpPr>
              <p:spPr>
                <a:xfrm>
                  <a:off x="218" y="2225"/>
                  <a:ext cx="1200785" cy="27893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Job Descriptions</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Skills</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Qualifications</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Experience</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Requirements</a:t>
                  </a:r>
                  <a:endParaRPr lang="en-US" sz="1100" kern="100" dirty="0">
                    <a:effectLst/>
                    <a:latin typeface="Arial" panose="020B0604020202020204" pitchFamily="34" charset="0"/>
                    <a:ea typeface="Aptos"/>
                    <a:cs typeface="Times New Roman" panose="02020603050405020304" pitchFamily="18" charset="0"/>
                  </a:endParaRPr>
                </a:p>
                <a:p>
                  <a:pPr marL="0" marR="0">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 </a:t>
                  </a:r>
                  <a:endParaRPr lang="en-US" sz="1100" kern="100" dirty="0">
                    <a:effectLst/>
                    <a:latin typeface="Arial" panose="020B0604020202020204" pitchFamily="34" charset="0"/>
                    <a:ea typeface="Aptos"/>
                    <a:cs typeface="Times New Roman" panose="02020603050405020304" pitchFamily="18" charset="0"/>
                  </a:endParaRPr>
                </a:p>
              </p:txBody>
            </p:sp>
          </p:grpSp>
          <p:grpSp>
            <p:nvGrpSpPr>
              <p:cNvPr id="10" name="Group 9">
                <a:extLst>
                  <a:ext uri="{FF2B5EF4-FFF2-40B4-BE49-F238E27FC236}">
                    <a16:creationId xmlns:a16="http://schemas.microsoft.com/office/drawing/2014/main" id="{21AC95F2-F8CC-4993-9DE0-977979658A25}"/>
                  </a:ext>
                </a:extLst>
              </p:cNvPr>
              <p:cNvGrpSpPr/>
              <p:nvPr/>
            </p:nvGrpSpPr>
            <p:grpSpPr>
              <a:xfrm>
                <a:off x="0" y="1566407"/>
                <a:ext cx="1201004" cy="300250"/>
                <a:chOff x="-1" y="0"/>
                <a:chExt cx="1201004" cy="300250"/>
              </a:xfrm>
            </p:grpSpPr>
            <p:sp>
              <p:nvSpPr>
                <p:cNvPr id="14" name="Rectangle: Rounded Corners 13">
                  <a:extLst>
                    <a:ext uri="{FF2B5EF4-FFF2-40B4-BE49-F238E27FC236}">
                      <a16:creationId xmlns:a16="http://schemas.microsoft.com/office/drawing/2014/main" id="{F6BE87FE-9F65-4225-9580-F631D33B90EC}"/>
                    </a:ext>
                  </a:extLst>
                </p:cNvPr>
                <p:cNvSpPr/>
                <p:nvPr/>
              </p:nvSpPr>
              <p:spPr>
                <a:xfrm>
                  <a:off x="0" y="0"/>
                  <a:ext cx="1201003" cy="300250"/>
                </a:xfrm>
                <a:prstGeom prst="roundRect">
                  <a:avLst>
                    <a:gd name="adj" fmla="val 10640"/>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15" name="Text Box 32">
                  <a:extLst>
                    <a:ext uri="{FF2B5EF4-FFF2-40B4-BE49-F238E27FC236}">
                      <a16:creationId xmlns:a16="http://schemas.microsoft.com/office/drawing/2014/main" id="{652C83E9-4E9B-438A-9BFD-6A3E8095416E}"/>
                    </a:ext>
                  </a:extLst>
                </p:cNvPr>
                <p:cNvSpPr txBox="1"/>
                <p:nvPr/>
              </p:nvSpPr>
              <p:spPr>
                <a:xfrm>
                  <a:off x="-1" y="27151"/>
                  <a:ext cx="1200785" cy="25248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Skill Taxonomies</a:t>
                  </a:r>
                  <a:endParaRPr lang="en-US" sz="1100" kern="100" dirty="0">
                    <a:effectLst/>
                    <a:latin typeface="Arial" panose="020B0604020202020204" pitchFamily="34" charset="0"/>
                    <a:ea typeface="Aptos"/>
                    <a:cs typeface="Times New Roman" panose="02020603050405020304" pitchFamily="18" charset="0"/>
                  </a:endParaRPr>
                </a:p>
              </p:txBody>
            </p:sp>
          </p:grpSp>
          <p:grpSp>
            <p:nvGrpSpPr>
              <p:cNvPr id="11" name="Group 10">
                <a:extLst>
                  <a:ext uri="{FF2B5EF4-FFF2-40B4-BE49-F238E27FC236}">
                    <a16:creationId xmlns:a16="http://schemas.microsoft.com/office/drawing/2014/main" id="{E7BA9AD5-802A-4AB5-A530-100AB38F4EDF}"/>
                  </a:ext>
                </a:extLst>
              </p:cNvPr>
              <p:cNvGrpSpPr/>
              <p:nvPr/>
            </p:nvGrpSpPr>
            <p:grpSpPr>
              <a:xfrm>
                <a:off x="0" y="1932167"/>
                <a:ext cx="1201004" cy="300250"/>
                <a:chOff x="-1" y="0"/>
                <a:chExt cx="1201004" cy="300250"/>
              </a:xfrm>
            </p:grpSpPr>
            <p:sp>
              <p:nvSpPr>
                <p:cNvPr id="12" name="Rectangle: Rounded Corners 11">
                  <a:extLst>
                    <a:ext uri="{FF2B5EF4-FFF2-40B4-BE49-F238E27FC236}">
                      <a16:creationId xmlns:a16="http://schemas.microsoft.com/office/drawing/2014/main" id="{044579DC-C84F-4511-80AF-AF2D39CA3269}"/>
                    </a:ext>
                  </a:extLst>
                </p:cNvPr>
                <p:cNvSpPr/>
                <p:nvPr/>
              </p:nvSpPr>
              <p:spPr>
                <a:xfrm>
                  <a:off x="0" y="0"/>
                  <a:ext cx="1201003" cy="300250"/>
                </a:xfrm>
                <a:prstGeom prst="roundRect">
                  <a:avLst>
                    <a:gd name="adj" fmla="val 10640"/>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13" name="Text Box 36">
                  <a:extLst>
                    <a:ext uri="{FF2B5EF4-FFF2-40B4-BE49-F238E27FC236}">
                      <a16:creationId xmlns:a16="http://schemas.microsoft.com/office/drawing/2014/main" id="{97845F16-72F3-4A82-A98D-DA11562724F6}"/>
                    </a:ext>
                  </a:extLst>
                </p:cNvPr>
                <p:cNvSpPr txBox="1"/>
                <p:nvPr/>
              </p:nvSpPr>
              <p:spPr>
                <a:xfrm>
                  <a:off x="-1" y="27151"/>
                  <a:ext cx="1200785" cy="25248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Skill Ontologies</a:t>
                  </a:r>
                  <a:endParaRPr lang="en-US" sz="1100" kern="100" dirty="0">
                    <a:effectLst/>
                    <a:latin typeface="Arial" panose="020B0604020202020204" pitchFamily="34" charset="0"/>
                    <a:ea typeface="Aptos"/>
                    <a:cs typeface="Times New Roman" panose="02020603050405020304" pitchFamily="18" charset="0"/>
                  </a:endParaRPr>
                </a:p>
              </p:txBody>
            </p:sp>
          </p:grpSp>
        </p:grpSp>
        <p:sp>
          <p:nvSpPr>
            <p:cNvPr id="6" name="Rectangle: Rounded Corners 5">
              <a:extLst>
                <a:ext uri="{FF2B5EF4-FFF2-40B4-BE49-F238E27FC236}">
                  <a16:creationId xmlns:a16="http://schemas.microsoft.com/office/drawing/2014/main" id="{041528CA-9445-4858-AF43-20427DB36ECC}"/>
                </a:ext>
              </a:extLst>
            </p:cNvPr>
            <p:cNvSpPr/>
            <p:nvPr/>
          </p:nvSpPr>
          <p:spPr>
            <a:xfrm>
              <a:off x="34925" y="384135"/>
              <a:ext cx="1592580" cy="2436963"/>
            </a:xfrm>
            <a:prstGeom prst="roundRect">
              <a:avLst>
                <a:gd name="adj" fmla="val 6189"/>
              </a:avLst>
            </a:prstGeom>
            <a:no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7" name="Text Box 86">
              <a:extLst>
                <a:ext uri="{FF2B5EF4-FFF2-40B4-BE49-F238E27FC236}">
                  <a16:creationId xmlns:a16="http://schemas.microsoft.com/office/drawing/2014/main" id="{7ABA1F9C-6D74-4007-AB1B-E8FC0C0C973D}"/>
                </a:ext>
              </a:extLst>
            </p:cNvPr>
            <p:cNvSpPr txBox="1"/>
            <p:nvPr/>
          </p:nvSpPr>
          <p:spPr>
            <a:xfrm>
              <a:off x="292734" y="-20957"/>
              <a:ext cx="1090295" cy="278296"/>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900" kern="100" dirty="0">
                  <a:effectLst/>
                  <a:latin typeface="Poppins" panose="00000500000000000000" pitchFamily="2" charset="0"/>
                  <a:ea typeface="Aptos"/>
                  <a:cs typeface="Times New Roman" panose="02020603050405020304" pitchFamily="18" charset="0"/>
                </a:rPr>
                <a:t>DATA GATHERING</a:t>
              </a:r>
              <a:endParaRPr lang="en-US" sz="1100" kern="100" dirty="0">
                <a:effectLst/>
                <a:latin typeface="Arial" panose="020B0604020202020204" pitchFamily="34" charset="0"/>
                <a:ea typeface="Aptos"/>
                <a:cs typeface="Times New Roman" panose="02020603050405020304" pitchFamily="18" charset="0"/>
              </a:endParaRPr>
            </a:p>
          </p:txBody>
        </p:sp>
      </p:grpSp>
      <p:grpSp>
        <p:nvGrpSpPr>
          <p:cNvPr id="20" name="Group 19">
            <a:extLst>
              <a:ext uri="{FF2B5EF4-FFF2-40B4-BE49-F238E27FC236}">
                <a16:creationId xmlns:a16="http://schemas.microsoft.com/office/drawing/2014/main" id="{91D230D4-045E-4085-B112-CE5D37908779}"/>
              </a:ext>
            </a:extLst>
          </p:cNvPr>
          <p:cNvGrpSpPr/>
          <p:nvPr/>
        </p:nvGrpSpPr>
        <p:grpSpPr>
          <a:xfrm>
            <a:off x="2259419" y="1672190"/>
            <a:ext cx="1929176" cy="2647261"/>
            <a:chOff x="0" y="0"/>
            <a:chExt cx="1820545" cy="2498718"/>
          </a:xfrm>
        </p:grpSpPr>
        <p:grpSp>
          <p:nvGrpSpPr>
            <p:cNvPr id="21" name="Group 20">
              <a:extLst>
                <a:ext uri="{FF2B5EF4-FFF2-40B4-BE49-F238E27FC236}">
                  <a16:creationId xmlns:a16="http://schemas.microsoft.com/office/drawing/2014/main" id="{68EF334F-499C-46B0-B0F8-759AAEB0F882}"/>
                </a:ext>
              </a:extLst>
            </p:cNvPr>
            <p:cNvGrpSpPr/>
            <p:nvPr/>
          </p:nvGrpSpPr>
          <p:grpSpPr>
            <a:xfrm>
              <a:off x="99060" y="441960"/>
              <a:ext cx="1603463" cy="1575771"/>
              <a:chOff x="0" y="0"/>
              <a:chExt cx="1201003" cy="300250"/>
            </a:xfrm>
          </p:grpSpPr>
          <p:sp>
            <p:nvSpPr>
              <p:cNvPr id="30" name="Rectangle: Rounded Corners 29">
                <a:extLst>
                  <a:ext uri="{FF2B5EF4-FFF2-40B4-BE49-F238E27FC236}">
                    <a16:creationId xmlns:a16="http://schemas.microsoft.com/office/drawing/2014/main" id="{5207A707-6FCA-4B10-8E06-B0EC616FABBE}"/>
                  </a:ext>
                </a:extLst>
              </p:cNvPr>
              <p:cNvSpPr/>
              <p:nvPr/>
            </p:nvSpPr>
            <p:spPr>
              <a:xfrm>
                <a:off x="0" y="0"/>
                <a:ext cx="1201003" cy="300250"/>
              </a:xfrm>
              <a:prstGeom prst="roundRect">
                <a:avLst>
                  <a:gd name="adj" fmla="val 4956"/>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31" name="Text Box 23">
                <a:extLst>
                  <a:ext uri="{FF2B5EF4-FFF2-40B4-BE49-F238E27FC236}">
                    <a16:creationId xmlns:a16="http://schemas.microsoft.com/office/drawing/2014/main" id="{072DDB0C-C642-42E9-B949-2C288835ECB0}"/>
                  </a:ext>
                </a:extLst>
              </p:cNvPr>
              <p:cNvSpPr txBox="1"/>
              <p:nvPr/>
            </p:nvSpPr>
            <p:spPr>
              <a:xfrm>
                <a:off x="218" y="2225"/>
                <a:ext cx="1200785" cy="2980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Processes</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Text Extraction</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Text Cleaning</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Tokenization</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Stop-word removal</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err="1">
                    <a:effectLst/>
                    <a:latin typeface="Poppins" panose="00000500000000000000" pitchFamily="2" charset="0"/>
                    <a:ea typeface="Aptos"/>
                    <a:cs typeface="Times New Roman" panose="02020603050405020304" pitchFamily="18" charset="0"/>
                  </a:rPr>
                  <a:t>Lematization</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Sentence Segmentation</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Text Normalization</a:t>
                </a:r>
                <a:endParaRPr lang="en-US" sz="1100" kern="100" dirty="0">
                  <a:effectLst/>
                  <a:latin typeface="Arial" panose="020B0604020202020204" pitchFamily="34" charset="0"/>
                  <a:ea typeface="Aptos"/>
                  <a:cs typeface="Times New Roman" panose="02020603050405020304" pitchFamily="18" charset="0"/>
                </a:endParaRPr>
              </a:p>
            </p:txBody>
          </p:sp>
        </p:grpSp>
        <p:grpSp>
          <p:nvGrpSpPr>
            <p:cNvPr id="22" name="Group 21">
              <a:extLst>
                <a:ext uri="{FF2B5EF4-FFF2-40B4-BE49-F238E27FC236}">
                  <a16:creationId xmlns:a16="http://schemas.microsoft.com/office/drawing/2014/main" id="{78186BCA-0040-40E1-8686-379C0E9D7438}"/>
                </a:ext>
              </a:extLst>
            </p:cNvPr>
            <p:cNvGrpSpPr/>
            <p:nvPr/>
          </p:nvGrpSpPr>
          <p:grpSpPr>
            <a:xfrm>
              <a:off x="83820" y="2103120"/>
              <a:ext cx="1623695" cy="300178"/>
              <a:chOff x="-1" y="0"/>
              <a:chExt cx="1201004" cy="300250"/>
            </a:xfrm>
          </p:grpSpPr>
          <p:sp>
            <p:nvSpPr>
              <p:cNvPr id="28" name="Rectangle: Rounded Corners 27">
                <a:extLst>
                  <a:ext uri="{FF2B5EF4-FFF2-40B4-BE49-F238E27FC236}">
                    <a16:creationId xmlns:a16="http://schemas.microsoft.com/office/drawing/2014/main" id="{265BFBE6-4DE5-4B54-A44D-5B1244B72664}"/>
                  </a:ext>
                </a:extLst>
              </p:cNvPr>
              <p:cNvSpPr/>
              <p:nvPr/>
            </p:nvSpPr>
            <p:spPr>
              <a:xfrm>
                <a:off x="0" y="0"/>
                <a:ext cx="1201003" cy="300250"/>
              </a:xfrm>
              <a:prstGeom prst="roundRect">
                <a:avLst>
                  <a:gd name="adj" fmla="val 10640"/>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29" name="Text Box 39">
                <a:extLst>
                  <a:ext uri="{FF2B5EF4-FFF2-40B4-BE49-F238E27FC236}">
                    <a16:creationId xmlns:a16="http://schemas.microsoft.com/office/drawing/2014/main" id="{B437FE2B-92A8-48D3-8629-7C1B84115875}"/>
                  </a:ext>
                </a:extLst>
              </p:cNvPr>
              <p:cNvSpPr txBox="1"/>
              <p:nvPr/>
            </p:nvSpPr>
            <p:spPr>
              <a:xfrm>
                <a:off x="-1" y="27151"/>
                <a:ext cx="1200785" cy="25248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Feature Extraction</a:t>
                </a:r>
                <a:endParaRPr lang="en-US" sz="1100" kern="100" dirty="0">
                  <a:effectLst/>
                  <a:latin typeface="Arial" panose="020B0604020202020204" pitchFamily="34" charset="0"/>
                  <a:ea typeface="Aptos"/>
                  <a:cs typeface="Times New Roman" panose="02020603050405020304" pitchFamily="18" charset="0"/>
                </a:endParaRPr>
              </a:p>
            </p:txBody>
          </p:sp>
        </p:grpSp>
        <p:sp>
          <p:nvSpPr>
            <p:cNvPr id="24" name="Rectangle: Rounded Corners 23">
              <a:extLst>
                <a:ext uri="{FF2B5EF4-FFF2-40B4-BE49-F238E27FC236}">
                  <a16:creationId xmlns:a16="http://schemas.microsoft.com/office/drawing/2014/main" id="{E85D5226-08D6-4E2B-893E-14C81ECBC9CF}"/>
                </a:ext>
              </a:extLst>
            </p:cNvPr>
            <p:cNvSpPr/>
            <p:nvPr/>
          </p:nvSpPr>
          <p:spPr>
            <a:xfrm>
              <a:off x="0" y="350520"/>
              <a:ext cx="1820545" cy="2148198"/>
            </a:xfrm>
            <a:prstGeom prst="roundRect">
              <a:avLst>
                <a:gd name="adj" fmla="val 6189"/>
              </a:avLst>
            </a:prstGeom>
            <a:no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25" name="Text Box 87">
              <a:extLst>
                <a:ext uri="{FF2B5EF4-FFF2-40B4-BE49-F238E27FC236}">
                  <a16:creationId xmlns:a16="http://schemas.microsoft.com/office/drawing/2014/main" id="{C78BAFB7-2B74-4244-A56F-002117C59EFB}"/>
                </a:ext>
              </a:extLst>
            </p:cNvPr>
            <p:cNvSpPr txBox="1"/>
            <p:nvPr/>
          </p:nvSpPr>
          <p:spPr>
            <a:xfrm>
              <a:off x="144780" y="0"/>
              <a:ext cx="1470687" cy="278296"/>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900" kern="100" dirty="0">
                  <a:effectLst/>
                  <a:latin typeface="Poppins" panose="00000500000000000000" pitchFamily="2" charset="0"/>
                  <a:ea typeface="Aptos"/>
                  <a:cs typeface="Times New Roman" panose="02020603050405020304" pitchFamily="18" charset="0"/>
                </a:rPr>
                <a:t>DATA PREPROCESSING</a:t>
              </a:r>
              <a:endParaRPr lang="en-US" sz="1100" kern="100" dirty="0">
                <a:effectLst/>
                <a:latin typeface="Arial" panose="020B0604020202020204" pitchFamily="34" charset="0"/>
                <a:ea typeface="Aptos"/>
                <a:cs typeface="Times New Roman" panose="02020603050405020304" pitchFamily="18" charset="0"/>
              </a:endParaRPr>
            </a:p>
          </p:txBody>
        </p:sp>
      </p:grpSp>
      <p:grpSp>
        <p:nvGrpSpPr>
          <p:cNvPr id="3" name="Group 2">
            <a:extLst>
              <a:ext uri="{FF2B5EF4-FFF2-40B4-BE49-F238E27FC236}">
                <a16:creationId xmlns:a16="http://schemas.microsoft.com/office/drawing/2014/main" id="{30687094-55BA-4194-9578-68D74E39C390}"/>
              </a:ext>
            </a:extLst>
          </p:cNvPr>
          <p:cNvGrpSpPr/>
          <p:nvPr/>
        </p:nvGrpSpPr>
        <p:grpSpPr>
          <a:xfrm>
            <a:off x="4424359" y="1658818"/>
            <a:ext cx="2103120" cy="2739011"/>
            <a:chOff x="4424359" y="1658818"/>
            <a:chExt cx="2103120" cy="2739011"/>
          </a:xfrm>
        </p:grpSpPr>
        <p:grpSp>
          <p:nvGrpSpPr>
            <p:cNvPr id="32" name="Group 31">
              <a:extLst>
                <a:ext uri="{FF2B5EF4-FFF2-40B4-BE49-F238E27FC236}">
                  <a16:creationId xmlns:a16="http://schemas.microsoft.com/office/drawing/2014/main" id="{63BE314A-AAB4-40CC-9BA1-113682D8BD1C}"/>
                </a:ext>
              </a:extLst>
            </p:cNvPr>
            <p:cNvGrpSpPr/>
            <p:nvPr/>
          </p:nvGrpSpPr>
          <p:grpSpPr>
            <a:xfrm>
              <a:off x="4424359" y="2046754"/>
              <a:ext cx="2103120" cy="2351075"/>
              <a:chOff x="0" y="0"/>
              <a:chExt cx="2103120" cy="2310113"/>
            </a:xfrm>
          </p:grpSpPr>
          <p:grpSp>
            <p:nvGrpSpPr>
              <p:cNvPr id="33" name="Group 32">
                <a:extLst>
                  <a:ext uri="{FF2B5EF4-FFF2-40B4-BE49-F238E27FC236}">
                    <a16:creationId xmlns:a16="http://schemas.microsoft.com/office/drawing/2014/main" id="{D10DF34A-DDCA-4C61-9503-E20D5BE3CD6F}"/>
                  </a:ext>
                </a:extLst>
              </p:cNvPr>
              <p:cNvGrpSpPr/>
              <p:nvPr/>
            </p:nvGrpSpPr>
            <p:grpSpPr>
              <a:xfrm>
                <a:off x="68580" y="91440"/>
                <a:ext cx="1964690" cy="2117488"/>
                <a:chOff x="0" y="0"/>
                <a:chExt cx="1965277" cy="2117595"/>
              </a:xfrm>
            </p:grpSpPr>
            <p:grpSp>
              <p:nvGrpSpPr>
                <p:cNvPr id="35" name="Group 34">
                  <a:extLst>
                    <a:ext uri="{FF2B5EF4-FFF2-40B4-BE49-F238E27FC236}">
                      <a16:creationId xmlns:a16="http://schemas.microsoft.com/office/drawing/2014/main" id="{DD61A835-BBE8-474F-8012-6FA6A1E80015}"/>
                    </a:ext>
                  </a:extLst>
                </p:cNvPr>
                <p:cNvGrpSpPr/>
                <p:nvPr/>
              </p:nvGrpSpPr>
              <p:grpSpPr>
                <a:xfrm>
                  <a:off x="0" y="0"/>
                  <a:ext cx="1964690" cy="299720"/>
                  <a:chOff x="-1" y="0"/>
                  <a:chExt cx="1201004" cy="300250"/>
                </a:xfrm>
              </p:grpSpPr>
              <p:sp>
                <p:nvSpPr>
                  <p:cNvPr id="42" name="Rectangle: Rounded Corners 41">
                    <a:extLst>
                      <a:ext uri="{FF2B5EF4-FFF2-40B4-BE49-F238E27FC236}">
                        <a16:creationId xmlns:a16="http://schemas.microsoft.com/office/drawing/2014/main" id="{B899A505-DD9F-4BE3-B7ED-4E68AFF5ACB6}"/>
                      </a:ext>
                    </a:extLst>
                  </p:cNvPr>
                  <p:cNvSpPr/>
                  <p:nvPr/>
                </p:nvSpPr>
                <p:spPr>
                  <a:xfrm>
                    <a:off x="0" y="0"/>
                    <a:ext cx="1201003" cy="300250"/>
                  </a:xfrm>
                  <a:prstGeom prst="roundRect">
                    <a:avLst>
                      <a:gd name="adj" fmla="val 10640"/>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43" name="Text Box 47">
                    <a:extLst>
                      <a:ext uri="{FF2B5EF4-FFF2-40B4-BE49-F238E27FC236}">
                        <a16:creationId xmlns:a16="http://schemas.microsoft.com/office/drawing/2014/main" id="{CCA82397-0CBC-424D-9B44-15E543B8992B}"/>
                      </a:ext>
                    </a:extLst>
                  </p:cNvPr>
                  <p:cNvSpPr txBox="1"/>
                  <p:nvPr/>
                </p:nvSpPr>
                <p:spPr>
                  <a:xfrm>
                    <a:off x="-1" y="27151"/>
                    <a:ext cx="1200784" cy="25248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S-BERT Model</a:t>
                    </a:r>
                    <a:endParaRPr lang="en-US" sz="1100" kern="100" dirty="0">
                      <a:effectLst/>
                      <a:latin typeface="Arial" panose="020B0604020202020204" pitchFamily="34" charset="0"/>
                      <a:ea typeface="Aptos"/>
                      <a:cs typeface="Times New Roman" panose="02020603050405020304" pitchFamily="18" charset="0"/>
                    </a:endParaRPr>
                  </a:p>
                </p:txBody>
              </p:sp>
            </p:grpSp>
            <p:grpSp>
              <p:nvGrpSpPr>
                <p:cNvPr id="36" name="Group 35">
                  <a:extLst>
                    <a:ext uri="{FF2B5EF4-FFF2-40B4-BE49-F238E27FC236}">
                      <a16:creationId xmlns:a16="http://schemas.microsoft.com/office/drawing/2014/main" id="{84B48829-5647-4FBA-AAF3-E935D9C8D0CB}"/>
                    </a:ext>
                  </a:extLst>
                </p:cNvPr>
                <p:cNvGrpSpPr/>
                <p:nvPr/>
              </p:nvGrpSpPr>
              <p:grpSpPr>
                <a:xfrm>
                  <a:off x="0" y="389613"/>
                  <a:ext cx="1965277" cy="900752"/>
                  <a:chOff x="0" y="0"/>
                  <a:chExt cx="1201003" cy="300250"/>
                </a:xfrm>
              </p:grpSpPr>
              <p:sp>
                <p:nvSpPr>
                  <p:cNvPr id="40" name="Rectangle: Rounded Corners 39">
                    <a:extLst>
                      <a:ext uri="{FF2B5EF4-FFF2-40B4-BE49-F238E27FC236}">
                        <a16:creationId xmlns:a16="http://schemas.microsoft.com/office/drawing/2014/main" id="{2C62727D-2F11-4AE6-9850-17F67C38B9A7}"/>
                      </a:ext>
                    </a:extLst>
                  </p:cNvPr>
                  <p:cNvSpPr/>
                  <p:nvPr/>
                </p:nvSpPr>
                <p:spPr>
                  <a:xfrm>
                    <a:off x="0" y="0"/>
                    <a:ext cx="1201003" cy="300250"/>
                  </a:xfrm>
                  <a:prstGeom prst="roundRect">
                    <a:avLst>
                      <a:gd name="adj" fmla="val 4956"/>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41" name="Text Box 53">
                    <a:extLst>
                      <a:ext uri="{FF2B5EF4-FFF2-40B4-BE49-F238E27FC236}">
                        <a16:creationId xmlns:a16="http://schemas.microsoft.com/office/drawing/2014/main" id="{E145AFF0-4DB3-4C8F-89FE-302F3AEA6283}"/>
                      </a:ext>
                    </a:extLst>
                  </p:cNvPr>
                  <p:cNvSpPr txBox="1"/>
                  <p:nvPr/>
                </p:nvSpPr>
                <p:spPr>
                  <a:xfrm>
                    <a:off x="218" y="2225"/>
                    <a:ext cx="1200785" cy="2980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Semantic Features</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Resume embedding vector</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Job posting embedding vector</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Cosine Similarity Score</a:t>
                    </a:r>
                    <a:endParaRPr lang="en-US" sz="1100" kern="100" dirty="0">
                      <a:effectLst/>
                      <a:latin typeface="Arial" panose="020B0604020202020204" pitchFamily="34" charset="0"/>
                      <a:ea typeface="Aptos"/>
                      <a:cs typeface="Times New Roman" panose="02020603050405020304" pitchFamily="18" charset="0"/>
                    </a:endParaRPr>
                  </a:p>
                  <a:p>
                    <a:pPr marL="91440" marR="0">
                      <a:lnSpc>
                        <a:spcPct val="107000"/>
                      </a:lnSpc>
                      <a:spcBef>
                        <a:spcPts val="0"/>
                      </a:spcBef>
                      <a:spcAft>
                        <a:spcPts val="800"/>
                      </a:spcAft>
                    </a:pPr>
                    <a:r>
                      <a:rPr lang="en-US" sz="800" kern="100" dirty="0">
                        <a:effectLst/>
                        <a:latin typeface="Poppins" panose="00000500000000000000" pitchFamily="2" charset="0"/>
                        <a:ea typeface="Aptos"/>
                        <a:cs typeface="Times New Roman" panose="02020603050405020304" pitchFamily="18" charset="0"/>
                      </a:rPr>
                      <a:t> </a:t>
                    </a:r>
                    <a:endParaRPr lang="en-US" sz="1100" kern="100" dirty="0">
                      <a:effectLst/>
                      <a:latin typeface="Arial" panose="020B0604020202020204" pitchFamily="34" charset="0"/>
                      <a:ea typeface="Aptos"/>
                      <a:cs typeface="Times New Roman" panose="02020603050405020304" pitchFamily="18" charset="0"/>
                    </a:endParaRPr>
                  </a:p>
                </p:txBody>
              </p:sp>
            </p:grpSp>
            <p:grpSp>
              <p:nvGrpSpPr>
                <p:cNvPr id="37" name="Group 36">
                  <a:extLst>
                    <a:ext uri="{FF2B5EF4-FFF2-40B4-BE49-F238E27FC236}">
                      <a16:creationId xmlns:a16="http://schemas.microsoft.com/office/drawing/2014/main" id="{A90FAAC0-1634-41E1-907E-FC48C7D35FBB}"/>
                    </a:ext>
                  </a:extLst>
                </p:cNvPr>
                <p:cNvGrpSpPr/>
                <p:nvPr/>
              </p:nvGrpSpPr>
              <p:grpSpPr>
                <a:xfrm>
                  <a:off x="0" y="1359673"/>
                  <a:ext cx="1964690" cy="757922"/>
                  <a:chOff x="0" y="0"/>
                  <a:chExt cx="1201003" cy="156631"/>
                </a:xfrm>
              </p:grpSpPr>
              <p:sp>
                <p:nvSpPr>
                  <p:cNvPr id="38" name="Rectangle: Rounded Corners 37">
                    <a:extLst>
                      <a:ext uri="{FF2B5EF4-FFF2-40B4-BE49-F238E27FC236}">
                        <a16:creationId xmlns:a16="http://schemas.microsoft.com/office/drawing/2014/main" id="{7D359047-C8A0-4982-8665-3535437DFB37}"/>
                      </a:ext>
                    </a:extLst>
                  </p:cNvPr>
                  <p:cNvSpPr/>
                  <p:nvPr/>
                </p:nvSpPr>
                <p:spPr>
                  <a:xfrm>
                    <a:off x="0" y="0"/>
                    <a:ext cx="1201003" cy="156631"/>
                  </a:xfrm>
                  <a:prstGeom prst="roundRect">
                    <a:avLst>
                      <a:gd name="adj" fmla="val 4956"/>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39" name="Text Box 59">
                    <a:extLst>
                      <a:ext uri="{FF2B5EF4-FFF2-40B4-BE49-F238E27FC236}">
                        <a16:creationId xmlns:a16="http://schemas.microsoft.com/office/drawing/2014/main" id="{CBF33D8B-AE6A-48CD-97D3-246CEDE8F3F3}"/>
                      </a:ext>
                    </a:extLst>
                  </p:cNvPr>
                  <p:cNvSpPr txBox="1"/>
                  <p:nvPr/>
                </p:nvSpPr>
                <p:spPr>
                  <a:xfrm>
                    <a:off x="218" y="2225"/>
                    <a:ext cx="1200785" cy="14828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800" kern="100" dirty="0" err="1">
                        <a:effectLst/>
                        <a:latin typeface="Poppins" panose="00000500000000000000" pitchFamily="2" charset="0"/>
                        <a:ea typeface="Aptos"/>
                        <a:cs typeface="Times New Roman" panose="02020603050405020304" pitchFamily="18" charset="0"/>
                      </a:rPr>
                      <a:t>Stuctured</a:t>
                    </a:r>
                    <a:r>
                      <a:rPr lang="en-US" sz="800" kern="100" dirty="0">
                        <a:effectLst/>
                        <a:latin typeface="Poppins" panose="00000500000000000000" pitchFamily="2" charset="0"/>
                        <a:ea typeface="Aptos"/>
                        <a:cs typeface="Times New Roman" panose="02020603050405020304" pitchFamily="18" charset="0"/>
                      </a:rPr>
                      <a:t> Features</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Years of experience</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Education level</a:t>
                    </a:r>
                    <a:endParaRPr lang="en-US" sz="1100" kern="100" dirty="0">
                      <a:effectLst/>
                      <a:latin typeface="Arial"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a:cs typeface="Times New Roman" panose="02020603050405020304" pitchFamily="18" charset="0"/>
                      </a:rPr>
                      <a:t>Semantic Skill matches</a:t>
                    </a:r>
                    <a:endParaRPr lang="en-US" sz="1100" kern="100" dirty="0">
                      <a:effectLst/>
                      <a:latin typeface="Arial" panose="020B0604020202020204" pitchFamily="34" charset="0"/>
                      <a:ea typeface="Aptos"/>
                      <a:cs typeface="Times New Roman" panose="02020603050405020304" pitchFamily="18" charset="0"/>
                    </a:endParaRPr>
                  </a:p>
                </p:txBody>
              </p:sp>
            </p:grpSp>
          </p:grpSp>
          <p:sp>
            <p:nvSpPr>
              <p:cNvPr id="34" name="Rectangle: Rounded Corners 33">
                <a:extLst>
                  <a:ext uri="{FF2B5EF4-FFF2-40B4-BE49-F238E27FC236}">
                    <a16:creationId xmlns:a16="http://schemas.microsoft.com/office/drawing/2014/main" id="{7E41ABB5-7820-4494-A44A-8652F03DDF6C}"/>
                  </a:ext>
                </a:extLst>
              </p:cNvPr>
              <p:cNvSpPr/>
              <p:nvPr/>
            </p:nvSpPr>
            <p:spPr>
              <a:xfrm>
                <a:off x="0" y="0"/>
                <a:ext cx="2103120" cy="2310113"/>
              </a:xfrm>
              <a:prstGeom prst="roundRect">
                <a:avLst>
                  <a:gd name="adj" fmla="val 6189"/>
                </a:avLst>
              </a:prstGeom>
              <a:no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grpSp>
        <p:sp>
          <p:nvSpPr>
            <p:cNvPr id="44" name="Text Box 87">
              <a:extLst>
                <a:ext uri="{FF2B5EF4-FFF2-40B4-BE49-F238E27FC236}">
                  <a16:creationId xmlns:a16="http://schemas.microsoft.com/office/drawing/2014/main" id="{CCF0F31F-A181-43DA-834B-C78F21F7FE49}"/>
                </a:ext>
              </a:extLst>
            </p:cNvPr>
            <p:cNvSpPr txBox="1"/>
            <p:nvPr/>
          </p:nvSpPr>
          <p:spPr>
            <a:xfrm>
              <a:off x="4695589" y="1658818"/>
              <a:ext cx="1558442" cy="29484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900" kern="100" dirty="0">
                  <a:effectLst/>
                  <a:latin typeface="Poppins" panose="00000500000000000000" pitchFamily="2" charset="0"/>
                  <a:ea typeface="Aptos"/>
                  <a:cs typeface="Times New Roman" panose="02020603050405020304" pitchFamily="18" charset="0"/>
                </a:rPr>
                <a:t>MODEL CONSTRUCTION</a:t>
              </a:r>
              <a:endParaRPr lang="en-US" sz="1100" kern="100" dirty="0">
                <a:effectLst/>
                <a:latin typeface="Arial" panose="020B0604020202020204" pitchFamily="34" charset="0"/>
                <a:ea typeface="Aptos"/>
                <a:cs typeface="Times New Roman" panose="02020603050405020304" pitchFamily="18" charset="0"/>
              </a:endParaRPr>
            </a:p>
          </p:txBody>
        </p:sp>
      </p:grpSp>
      <p:grpSp>
        <p:nvGrpSpPr>
          <p:cNvPr id="63" name="Group 62">
            <a:extLst>
              <a:ext uri="{FF2B5EF4-FFF2-40B4-BE49-F238E27FC236}">
                <a16:creationId xmlns:a16="http://schemas.microsoft.com/office/drawing/2014/main" id="{C421023F-7C95-4571-A8C4-3421AE217C9A}"/>
              </a:ext>
            </a:extLst>
          </p:cNvPr>
          <p:cNvGrpSpPr/>
          <p:nvPr/>
        </p:nvGrpSpPr>
        <p:grpSpPr>
          <a:xfrm>
            <a:off x="6715096" y="1723768"/>
            <a:ext cx="1505626" cy="1672590"/>
            <a:chOff x="254000" y="0"/>
            <a:chExt cx="1127573" cy="1672590"/>
          </a:xfrm>
        </p:grpSpPr>
        <p:grpSp>
          <p:nvGrpSpPr>
            <p:cNvPr id="64" name="Group 63">
              <a:extLst>
                <a:ext uri="{FF2B5EF4-FFF2-40B4-BE49-F238E27FC236}">
                  <a16:creationId xmlns:a16="http://schemas.microsoft.com/office/drawing/2014/main" id="{8C8DCD8D-C2CD-4F31-90F5-AD52D5102F8D}"/>
                </a:ext>
              </a:extLst>
            </p:cNvPr>
            <p:cNvGrpSpPr/>
            <p:nvPr/>
          </p:nvGrpSpPr>
          <p:grpSpPr>
            <a:xfrm>
              <a:off x="355600" y="419100"/>
              <a:ext cx="919714" cy="1253490"/>
              <a:chOff x="-26930" y="0"/>
              <a:chExt cx="1201003" cy="238786"/>
            </a:xfrm>
          </p:grpSpPr>
          <p:sp>
            <p:nvSpPr>
              <p:cNvPr id="67" name="Rectangle: Rounded Corners 66">
                <a:extLst>
                  <a:ext uri="{FF2B5EF4-FFF2-40B4-BE49-F238E27FC236}">
                    <a16:creationId xmlns:a16="http://schemas.microsoft.com/office/drawing/2014/main" id="{BF289D41-F8EF-4C75-A736-D4E9524C6F82}"/>
                  </a:ext>
                </a:extLst>
              </p:cNvPr>
              <p:cNvSpPr/>
              <p:nvPr/>
            </p:nvSpPr>
            <p:spPr>
              <a:xfrm>
                <a:off x="-26930" y="0"/>
                <a:ext cx="1201003" cy="219687"/>
              </a:xfrm>
              <a:prstGeom prst="roundRect">
                <a:avLst>
                  <a:gd name="adj" fmla="val 4956"/>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68" name="Text Box 62">
                <a:extLst>
                  <a:ext uri="{FF2B5EF4-FFF2-40B4-BE49-F238E27FC236}">
                    <a16:creationId xmlns:a16="http://schemas.microsoft.com/office/drawing/2014/main" id="{76E23757-2F72-41EB-924D-88F9CA26938B}"/>
                  </a:ext>
                </a:extLst>
              </p:cNvPr>
              <p:cNvSpPr txBox="1"/>
              <p:nvPr/>
            </p:nvSpPr>
            <p:spPr>
              <a:xfrm>
                <a:off x="26690" y="11578"/>
                <a:ext cx="1016838" cy="22720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800" kern="100" dirty="0">
                    <a:effectLst/>
                    <a:latin typeface="Poppins" panose="00000500000000000000" pitchFamily="2" charset="0"/>
                    <a:ea typeface="Aptos" panose="02110004020202020204"/>
                    <a:cs typeface="Times New Roman" panose="02020603050405020304" pitchFamily="18" charset="0"/>
                  </a:rPr>
                  <a:t>Processes</a:t>
                </a:r>
                <a:endParaRPr lang="en-US" sz="1100" kern="100" dirty="0">
                  <a:effectLst/>
                  <a:latin typeface="Arial" panose="020B0604020202020204" pitchFamily="34" charset="0"/>
                  <a:ea typeface="Aptos" panose="02110004020202020204"/>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panose="02110004020202020204"/>
                    <a:cs typeface="Times New Roman" panose="02020603050405020304" pitchFamily="18" charset="0"/>
                  </a:rPr>
                  <a:t>Accuracy</a:t>
                </a:r>
                <a:endParaRPr lang="en-US" sz="1100" kern="100" dirty="0">
                  <a:effectLst/>
                  <a:latin typeface="Arial" panose="020B0604020202020204" pitchFamily="34" charset="0"/>
                  <a:ea typeface="Aptos" panose="02110004020202020204"/>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panose="02110004020202020204"/>
                    <a:cs typeface="Times New Roman" panose="02020603050405020304" pitchFamily="18" charset="0"/>
                  </a:rPr>
                  <a:t>Precision                      </a:t>
                </a:r>
                <a:endParaRPr lang="en-US" sz="1100" kern="100" dirty="0">
                  <a:effectLst/>
                  <a:latin typeface="Arial" panose="020B0604020202020204" pitchFamily="34" charset="0"/>
                  <a:ea typeface="Aptos" panose="02110004020202020204"/>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panose="02110004020202020204"/>
                    <a:cs typeface="Times New Roman" panose="02020603050405020304" pitchFamily="18" charset="0"/>
                  </a:rPr>
                  <a:t>Recall                       </a:t>
                </a:r>
                <a:endParaRPr lang="en-US" sz="1100" kern="100" dirty="0">
                  <a:effectLst/>
                  <a:latin typeface="Arial" panose="020B0604020202020204" pitchFamily="34" charset="0"/>
                  <a:ea typeface="Aptos" panose="02110004020202020204"/>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800" kern="100" dirty="0">
                    <a:effectLst/>
                    <a:latin typeface="Poppins" panose="00000500000000000000" pitchFamily="2" charset="0"/>
                    <a:ea typeface="Aptos" panose="02110004020202020204"/>
                    <a:cs typeface="Times New Roman" panose="02020603050405020304" pitchFamily="18" charset="0"/>
                  </a:rPr>
                  <a:t>F1-Score</a:t>
                </a:r>
                <a:endParaRPr lang="en-US" sz="1100" kern="100" dirty="0">
                  <a:effectLst/>
                  <a:latin typeface="Arial" panose="020B0604020202020204" pitchFamily="34" charset="0"/>
                  <a:ea typeface="Aptos" panose="02110004020202020204"/>
                  <a:cs typeface="Times New Roman" panose="02020603050405020304" pitchFamily="18" charset="0"/>
                </a:endParaRPr>
              </a:p>
            </p:txBody>
          </p:sp>
        </p:grpSp>
        <p:sp>
          <p:nvSpPr>
            <p:cNvPr id="65" name="Rectangle: Rounded Corners 64">
              <a:extLst>
                <a:ext uri="{FF2B5EF4-FFF2-40B4-BE49-F238E27FC236}">
                  <a16:creationId xmlns:a16="http://schemas.microsoft.com/office/drawing/2014/main" id="{672574C1-2ABA-40DC-BC68-2DD5C72D8155}"/>
                </a:ext>
              </a:extLst>
            </p:cNvPr>
            <p:cNvSpPr/>
            <p:nvPr/>
          </p:nvSpPr>
          <p:spPr>
            <a:xfrm>
              <a:off x="254000" y="311150"/>
              <a:ext cx="1127573" cy="1356360"/>
            </a:xfrm>
            <a:prstGeom prst="roundRect">
              <a:avLst>
                <a:gd name="adj" fmla="val 6189"/>
              </a:avLst>
            </a:prstGeom>
            <a:no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66" name="Text Box 89">
              <a:extLst>
                <a:ext uri="{FF2B5EF4-FFF2-40B4-BE49-F238E27FC236}">
                  <a16:creationId xmlns:a16="http://schemas.microsoft.com/office/drawing/2014/main" id="{4DCAC0EB-AF7F-40F8-8BC3-B70BFAAE72B9}"/>
                </a:ext>
              </a:extLst>
            </p:cNvPr>
            <p:cNvSpPr txBox="1"/>
            <p:nvPr/>
          </p:nvSpPr>
          <p:spPr>
            <a:xfrm>
              <a:off x="254000" y="0"/>
              <a:ext cx="1127573" cy="27813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900" kern="100" dirty="0">
                  <a:effectLst/>
                  <a:latin typeface="Poppins" panose="00000500000000000000" pitchFamily="2" charset="0"/>
                  <a:ea typeface="Aptos" panose="02110004020202020204"/>
                  <a:cs typeface="Times New Roman" panose="02020603050405020304" pitchFamily="18" charset="0"/>
                </a:rPr>
                <a:t>TESTING</a:t>
              </a:r>
              <a:endParaRPr lang="en-US" sz="1100" kern="100" dirty="0">
                <a:effectLst/>
                <a:latin typeface="Arial" panose="020B0604020202020204" pitchFamily="34" charset="0"/>
                <a:ea typeface="Aptos" panose="02110004020202020204"/>
                <a:cs typeface="Times New Roman" panose="02020603050405020304" pitchFamily="18" charset="0"/>
              </a:endParaRPr>
            </a:p>
          </p:txBody>
        </p:sp>
      </p:grpSp>
      <p:grpSp>
        <p:nvGrpSpPr>
          <p:cNvPr id="69" name="Group 68">
            <a:extLst>
              <a:ext uri="{FF2B5EF4-FFF2-40B4-BE49-F238E27FC236}">
                <a16:creationId xmlns:a16="http://schemas.microsoft.com/office/drawing/2014/main" id="{963CA574-6168-4967-9990-CAF55136EBD1}"/>
              </a:ext>
            </a:extLst>
          </p:cNvPr>
          <p:cNvGrpSpPr/>
          <p:nvPr/>
        </p:nvGrpSpPr>
        <p:grpSpPr>
          <a:xfrm>
            <a:off x="8369553" y="1672190"/>
            <a:ext cx="1505626" cy="1672590"/>
            <a:chOff x="254000" y="0"/>
            <a:chExt cx="1127573" cy="1672590"/>
          </a:xfrm>
        </p:grpSpPr>
        <p:grpSp>
          <p:nvGrpSpPr>
            <p:cNvPr id="70" name="Group 69">
              <a:extLst>
                <a:ext uri="{FF2B5EF4-FFF2-40B4-BE49-F238E27FC236}">
                  <a16:creationId xmlns:a16="http://schemas.microsoft.com/office/drawing/2014/main" id="{AAB4CB6F-8939-4CF5-B660-5C9ACF268E06}"/>
                </a:ext>
              </a:extLst>
            </p:cNvPr>
            <p:cNvGrpSpPr/>
            <p:nvPr/>
          </p:nvGrpSpPr>
          <p:grpSpPr>
            <a:xfrm>
              <a:off x="355600" y="419100"/>
              <a:ext cx="960774" cy="1253490"/>
              <a:chOff x="-26930" y="0"/>
              <a:chExt cx="1254621" cy="238786"/>
            </a:xfrm>
          </p:grpSpPr>
          <p:sp>
            <p:nvSpPr>
              <p:cNvPr id="73" name="Rectangle: Rounded Corners 72">
                <a:extLst>
                  <a:ext uri="{FF2B5EF4-FFF2-40B4-BE49-F238E27FC236}">
                    <a16:creationId xmlns:a16="http://schemas.microsoft.com/office/drawing/2014/main" id="{E3B2C5AD-78F8-482A-9904-DEB6E64F512B}"/>
                  </a:ext>
                </a:extLst>
              </p:cNvPr>
              <p:cNvSpPr/>
              <p:nvPr/>
            </p:nvSpPr>
            <p:spPr>
              <a:xfrm>
                <a:off x="-26930" y="0"/>
                <a:ext cx="1201003" cy="219687"/>
              </a:xfrm>
              <a:prstGeom prst="roundRect">
                <a:avLst>
                  <a:gd name="adj" fmla="val 4956"/>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74" name="Text Box 62">
                <a:extLst>
                  <a:ext uri="{FF2B5EF4-FFF2-40B4-BE49-F238E27FC236}">
                    <a16:creationId xmlns:a16="http://schemas.microsoft.com/office/drawing/2014/main" id="{2ABAE5BA-34AE-4392-9D21-E6A874275C0C}"/>
                  </a:ext>
                </a:extLst>
              </p:cNvPr>
              <p:cNvSpPr txBox="1"/>
              <p:nvPr/>
            </p:nvSpPr>
            <p:spPr>
              <a:xfrm>
                <a:off x="26689" y="11578"/>
                <a:ext cx="1201002" cy="22720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800" kern="100" dirty="0">
                    <a:effectLst/>
                    <a:latin typeface="Poppins" panose="00000500000000000000" pitchFamily="2" charset="0"/>
                    <a:ea typeface="Aptos" panose="02110004020202020204"/>
                    <a:cs typeface="Times New Roman" panose="02020603050405020304" pitchFamily="18" charset="0"/>
                  </a:rPr>
                  <a:t>Processes</a:t>
                </a:r>
                <a:endParaRPr lang="en-US" sz="1100" kern="100" dirty="0">
                  <a:effectLst/>
                  <a:latin typeface="Arial" panose="020B0604020202020204" pitchFamily="34" charset="0"/>
                  <a:ea typeface="Aptos" panose="02110004020202020204"/>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800" kern="100" dirty="0">
                    <a:effectLst/>
                    <a:latin typeface="Poppins" panose="00000500000000000000" pitchFamily="2" charset="0"/>
                    <a:ea typeface="Aptos" panose="02110004020202020204"/>
                    <a:cs typeface="Times New Roman" panose="02020603050405020304" pitchFamily="18" charset="0"/>
                  </a:rPr>
                  <a:t>Fine Tune Scoring Logic</a:t>
                </a:r>
              </a:p>
              <a:p>
                <a:pPr marL="342900" marR="0" lvl="0" indent="-342900">
                  <a:lnSpc>
                    <a:spcPct val="107000"/>
                  </a:lnSpc>
                  <a:spcBef>
                    <a:spcPts val="0"/>
                  </a:spcBef>
                  <a:spcAft>
                    <a:spcPts val="0"/>
                  </a:spcAft>
                  <a:buFont typeface="Symbol" panose="05050102010706020507" pitchFamily="18" charset="2"/>
                  <a:buChar char=""/>
                </a:pPr>
                <a:r>
                  <a:rPr lang="en-US" sz="800" kern="100" dirty="0">
                    <a:latin typeface="Poppins" panose="00000500000000000000" pitchFamily="2" charset="0"/>
                    <a:ea typeface="Aptos" panose="02110004020202020204"/>
                    <a:cs typeface="Times New Roman" panose="02020603050405020304" pitchFamily="18" charset="0"/>
                  </a:rPr>
                  <a:t>Tuning feature weights</a:t>
                </a:r>
                <a:endParaRPr lang="en-US" sz="1100" kern="100" dirty="0">
                  <a:effectLst/>
                  <a:latin typeface="Arial" panose="020B0604020202020204" pitchFamily="34" charset="0"/>
                  <a:ea typeface="Aptos" panose="02110004020202020204"/>
                  <a:cs typeface="Times New Roman" panose="02020603050405020304" pitchFamily="18" charset="0"/>
                </a:endParaRPr>
              </a:p>
            </p:txBody>
          </p:sp>
        </p:grpSp>
        <p:sp>
          <p:nvSpPr>
            <p:cNvPr id="71" name="Rectangle: Rounded Corners 70">
              <a:extLst>
                <a:ext uri="{FF2B5EF4-FFF2-40B4-BE49-F238E27FC236}">
                  <a16:creationId xmlns:a16="http://schemas.microsoft.com/office/drawing/2014/main" id="{74B5F762-FD10-40E6-B617-C529C24FD6F5}"/>
                </a:ext>
              </a:extLst>
            </p:cNvPr>
            <p:cNvSpPr/>
            <p:nvPr/>
          </p:nvSpPr>
          <p:spPr>
            <a:xfrm>
              <a:off x="254000" y="311150"/>
              <a:ext cx="1127573" cy="1356360"/>
            </a:xfrm>
            <a:prstGeom prst="roundRect">
              <a:avLst>
                <a:gd name="adj" fmla="val 6189"/>
              </a:avLst>
            </a:prstGeom>
            <a:no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72" name="Text Box 89">
              <a:extLst>
                <a:ext uri="{FF2B5EF4-FFF2-40B4-BE49-F238E27FC236}">
                  <a16:creationId xmlns:a16="http://schemas.microsoft.com/office/drawing/2014/main" id="{22F30FFB-B7CD-4705-9886-7F13A5DD6F4C}"/>
                </a:ext>
              </a:extLst>
            </p:cNvPr>
            <p:cNvSpPr txBox="1"/>
            <p:nvPr/>
          </p:nvSpPr>
          <p:spPr>
            <a:xfrm>
              <a:off x="254000" y="0"/>
              <a:ext cx="1127573" cy="27813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900" kern="100" dirty="0">
                  <a:effectLst/>
                  <a:latin typeface="Poppins" panose="00000500000000000000" pitchFamily="2" charset="0"/>
                  <a:ea typeface="Aptos" panose="02110004020202020204"/>
                  <a:cs typeface="Times New Roman" panose="02020603050405020304" pitchFamily="18" charset="0"/>
                </a:rPr>
                <a:t>Model Utilization </a:t>
              </a:r>
              <a:endParaRPr lang="en-US" sz="1100" kern="100" dirty="0">
                <a:effectLst/>
                <a:latin typeface="Arial" panose="020B0604020202020204" pitchFamily="34" charset="0"/>
                <a:ea typeface="Aptos" panose="02110004020202020204"/>
                <a:cs typeface="Times New Roman" panose="02020603050405020304" pitchFamily="18" charset="0"/>
              </a:endParaRPr>
            </a:p>
          </p:txBody>
        </p:sp>
      </p:grpSp>
      <p:grpSp>
        <p:nvGrpSpPr>
          <p:cNvPr id="2" name="Group 1">
            <a:extLst>
              <a:ext uri="{FF2B5EF4-FFF2-40B4-BE49-F238E27FC236}">
                <a16:creationId xmlns:a16="http://schemas.microsoft.com/office/drawing/2014/main" id="{6D8F411C-F452-4BCE-A6D2-B5708DB2C65B}"/>
              </a:ext>
            </a:extLst>
          </p:cNvPr>
          <p:cNvGrpSpPr/>
          <p:nvPr/>
        </p:nvGrpSpPr>
        <p:grpSpPr>
          <a:xfrm>
            <a:off x="10122512" y="1950320"/>
            <a:ext cx="1645920" cy="1113155"/>
            <a:chOff x="5273040" y="2872422"/>
            <a:chExt cx="1645920" cy="1113155"/>
          </a:xfrm>
        </p:grpSpPr>
        <p:grpSp>
          <p:nvGrpSpPr>
            <p:cNvPr id="87" name="Group 86">
              <a:extLst>
                <a:ext uri="{FF2B5EF4-FFF2-40B4-BE49-F238E27FC236}">
                  <a16:creationId xmlns:a16="http://schemas.microsoft.com/office/drawing/2014/main" id="{8EC5BB59-87E1-45AD-9B33-4A88C4B1FDA9}"/>
                </a:ext>
              </a:extLst>
            </p:cNvPr>
            <p:cNvGrpSpPr/>
            <p:nvPr/>
          </p:nvGrpSpPr>
          <p:grpSpPr>
            <a:xfrm>
              <a:off x="5360670" y="2959417"/>
              <a:ext cx="1454150" cy="936625"/>
              <a:chOff x="0" y="0"/>
              <a:chExt cx="1201003" cy="300250"/>
            </a:xfrm>
          </p:grpSpPr>
          <p:sp>
            <p:nvSpPr>
              <p:cNvPr id="89" name="Rectangle: Rounded Corners 88">
                <a:extLst>
                  <a:ext uri="{FF2B5EF4-FFF2-40B4-BE49-F238E27FC236}">
                    <a16:creationId xmlns:a16="http://schemas.microsoft.com/office/drawing/2014/main" id="{A6F4EBD2-410B-4B66-94B9-B5C608157930}"/>
                  </a:ext>
                </a:extLst>
              </p:cNvPr>
              <p:cNvSpPr/>
              <p:nvPr/>
            </p:nvSpPr>
            <p:spPr>
              <a:xfrm>
                <a:off x="0" y="0"/>
                <a:ext cx="1201003" cy="300250"/>
              </a:xfrm>
              <a:prstGeom prst="roundRect">
                <a:avLst>
                  <a:gd name="adj" fmla="val 4956"/>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sp>
            <p:nvSpPr>
              <p:cNvPr id="90" name="Text Box 77">
                <a:extLst>
                  <a:ext uri="{FF2B5EF4-FFF2-40B4-BE49-F238E27FC236}">
                    <a16:creationId xmlns:a16="http://schemas.microsoft.com/office/drawing/2014/main" id="{52396626-6EC8-4A7D-BC25-0DB8F8A2C0FD}"/>
                  </a:ext>
                </a:extLst>
              </p:cNvPr>
              <p:cNvSpPr txBox="1"/>
              <p:nvPr/>
            </p:nvSpPr>
            <p:spPr>
              <a:xfrm>
                <a:off x="218" y="29377"/>
                <a:ext cx="1200785" cy="2704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91440" marR="0" algn="ctr">
                  <a:lnSpc>
                    <a:spcPct val="107000"/>
                  </a:lnSpc>
                  <a:spcBef>
                    <a:spcPts val="0"/>
                  </a:spcBef>
                  <a:spcAft>
                    <a:spcPts val="800"/>
                  </a:spcAft>
                </a:pPr>
                <a:r>
                  <a:rPr lang="en-US" sz="800" kern="100" dirty="0">
                    <a:effectLst/>
                    <a:latin typeface="Poppins" panose="00000500000000000000" pitchFamily="2" charset="0"/>
                    <a:ea typeface="Aptos" panose="02110004020202020204"/>
                    <a:cs typeface="Times New Roman" panose="02020603050405020304" pitchFamily="18" charset="0"/>
                  </a:rPr>
                  <a:t>Semantic Driven Resume Screening and Skill Matching System</a:t>
                </a:r>
                <a:endParaRPr lang="en-US" sz="1100" kern="100" dirty="0">
                  <a:effectLst/>
                  <a:latin typeface="Arial" panose="020B0604020202020204" pitchFamily="34" charset="0"/>
                  <a:ea typeface="Aptos" panose="02110004020202020204"/>
                  <a:cs typeface="Times New Roman" panose="02020603050405020304" pitchFamily="18" charset="0"/>
                </a:endParaRPr>
              </a:p>
            </p:txBody>
          </p:sp>
        </p:grpSp>
        <p:sp>
          <p:nvSpPr>
            <p:cNvPr id="88" name="Rectangle: Rounded Corners 87">
              <a:extLst>
                <a:ext uri="{FF2B5EF4-FFF2-40B4-BE49-F238E27FC236}">
                  <a16:creationId xmlns:a16="http://schemas.microsoft.com/office/drawing/2014/main" id="{15D4D78E-E10C-4C42-AA24-E9CEA0DE4350}"/>
                </a:ext>
              </a:extLst>
            </p:cNvPr>
            <p:cNvSpPr/>
            <p:nvPr/>
          </p:nvSpPr>
          <p:spPr>
            <a:xfrm>
              <a:off x="5273040" y="2872422"/>
              <a:ext cx="1645920" cy="1113155"/>
            </a:xfrm>
            <a:prstGeom prst="roundRect">
              <a:avLst>
                <a:gd name="adj" fmla="val 6189"/>
              </a:avLst>
            </a:prstGeom>
            <a:no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latin typeface="Arial" panose="020B0604020202020204" pitchFamily="34" charset="0"/>
              </a:endParaRPr>
            </a:p>
          </p:txBody>
        </p:sp>
      </p:grpSp>
      <p:sp>
        <p:nvSpPr>
          <p:cNvPr id="92" name="Text Box 89">
            <a:extLst>
              <a:ext uri="{FF2B5EF4-FFF2-40B4-BE49-F238E27FC236}">
                <a16:creationId xmlns:a16="http://schemas.microsoft.com/office/drawing/2014/main" id="{94063A76-67A2-44C9-934B-6B7ECA6498D6}"/>
              </a:ext>
            </a:extLst>
          </p:cNvPr>
          <p:cNvSpPr txBox="1"/>
          <p:nvPr/>
        </p:nvSpPr>
        <p:spPr>
          <a:xfrm>
            <a:off x="10158666" y="1626370"/>
            <a:ext cx="1505626" cy="27813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900" kern="100" dirty="0">
                <a:effectLst/>
                <a:latin typeface="Poppins" panose="00000500000000000000" pitchFamily="2" charset="0"/>
                <a:ea typeface="Aptos" panose="02110004020202020204"/>
                <a:cs typeface="Times New Roman" panose="02020603050405020304" pitchFamily="18" charset="0"/>
              </a:rPr>
              <a:t>Deployment</a:t>
            </a:r>
            <a:endParaRPr lang="en-US" sz="1100" kern="100" dirty="0">
              <a:effectLst/>
              <a:latin typeface="Arial" panose="020B0604020202020204" pitchFamily="34" charset="0"/>
              <a:ea typeface="Aptos" panose="02110004020202020204"/>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3B11BB8F-7FA8-EF9F-BDFF-64FB2BB57EC6}"/>
            </a:ext>
          </a:extLst>
        </p:cNvPr>
        <p:cNvGrpSpPr/>
        <p:nvPr/>
      </p:nvGrpSpPr>
      <p:grpSpPr>
        <a:xfrm>
          <a:off x="0" y="0"/>
          <a:ext cx="0" cy="0"/>
          <a:chOff x="0" y="0"/>
          <a:chExt cx="0" cy="0"/>
        </a:xfrm>
      </p:grpSpPr>
      <p:sp>
        <p:nvSpPr>
          <p:cNvPr id="339" name="Google Shape;339;p2">
            <a:extLst>
              <a:ext uri="{FF2B5EF4-FFF2-40B4-BE49-F238E27FC236}">
                <a16:creationId xmlns:a16="http://schemas.microsoft.com/office/drawing/2014/main" id="{BD8FA47B-7FA5-C9E4-92F7-F8F911C36CE0}"/>
              </a:ext>
            </a:extLst>
          </p:cNvPr>
          <p:cNvSpPr txBox="1">
            <a:spLocks noGrp="1"/>
          </p:cNvSpPr>
          <p:nvPr>
            <p:ph type="ctrTitle"/>
          </p:nvPr>
        </p:nvSpPr>
        <p:spPr>
          <a:xfrm>
            <a:off x="463982" y="864972"/>
            <a:ext cx="8515895" cy="2059193"/>
          </a:xfrm>
          <a:prstGeom prst="rect">
            <a:avLst/>
          </a:prstGeom>
          <a:noFill/>
          <a:ln>
            <a:noFill/>
          </a:ln>
        </p:spPr>
        <p:txBody>
          <a:bodyPr spcFirstLastPara="1" wrap="square" lIns="91425" tIns="45700" rIns="91425" bIns="45700" anchor="b" anchorCtr="0">
            <a:noAutofit/>
          </a:bodyPr>
          <a:lstStyle/>
          <a:p>
            <a:r>
              <a:rPr lang="en-GB" sz="4500"/>
              <a:t>METHODOLOGY</a:t>
            </a:r>
            <a:endParaRPr lang="en-GB" sz="4500" dirty="0"/>
          </a:p>
        </p:txBody>
      </p:sp>
    </p:spTree>
    <p:extLst>
      <p:ext uri="{BB962C8B-B14F-4D97-AF65-F5344CB8AC3E}">
        <p14:creationId xmlns:p14="http://schemas.microsoft.com/office/powerpoint/2010/main" val="2205006193"/>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8">
          <a:extLst>
            <a:ext uri="{FF2B5EF4-FFF2-40B4-BE49-F238E27FC236}">
              <a16:creationId xmlns:a16="http://schemas.microsoft.com/office/drawing/2014/main" id="{56420470-3C9B-CE84-30E6-31EA9E6E4ABA}"/>
            </a:ext>
          </a:extLst>
        </p:cNvPr>
        <p:cNvGrpSpPr/>
        <p:nvPr/>
      </p:nvGrpSpPr>
      <p:grpSpPr>
        <a:xfrm>
          <a:off x="0" y="0"/>
          <a:ext cx="0" cy="0"/>
          <a:chOff x="0" y="0"/>
          <a:chExt cx="0" cy="0"/>
        </a:xfrm>
      </p:grpSpPr>
      <p:sp>
        <p:nvSpPr>
          <p:cNvPr id="369" name="Google Shape;369;p5">
            <a:extLst>
              <a:ext uri="{FF2B5EF4-FFF2-40B4-BE49-F238E27FC236}">
                <a16:creationId xmlns:a16="http://schemas.microsoft.com/office/drawing/2014/main" id="{AA5689F6-8773-F91A-5C3D-6288B820D498}"/>
              </a:ext>
            </a:extLst>
          </p:cNvPr>
          <p:cNvSpPr txBox="1"/>
          <p:nvPr/>
        </p:nvSpPr>
        <p:spPr>
          <a:xfrm>
            <a:off x="9626" y="0"/>
            <a:ext cx="3628724" cy="894415"/>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C4B05"/>
              </a:buClr>
              <a:buSzPts val="6000"/>
              <a:buFont typeface="League Spartan"/>
              <a:buNone/>
            </a:pPr>
            <a:r>
              <a:rPr lang="en-US" sz="2900" b="1" i="0" u="none" strike="noStrike" cap="none">
                <a:solidFill>
                  <a:schemeClr val="dk1"/>
                </a:solidFill>
                <a:latin typeface="Calibri"/>
                <a:ea typeface="Calibri"/>
                <a:cs typeface="Calibri"/>
                <a:sym typeface="Calibri"/>
              </a:rPr>
              <a:t>METHODOLOGY</a:t>
            </a:r>
            <a:endParaRPr sz="2900" b="1" i="0" u="none" strike="noStrike" cap="none">
              <a:solidFill>
                <a:schemeClr val="dk1"/>
              </a:solidFill>
              <a:latin typeface="Calibri"/>
              <a:ea typeface="Calibri"/>
              <a:cs typeface="Calibri"/>
              <a:sym typeface="Calibri"/>
            </a:endParaRPr>
          </a:p>
        </p:txBody>
      </p:sp>
      <p:sp>
        <p:nvSpPr>
          <p:cNvPr id="370" name="Google Shape;370;p5">
            <a:extLst>
              <a:ext uri="{FF2B5EF4-FFF2-40B4-BE49-F238E27FC236}">
                <a16:creationId xmlns:a16="http://schemas.microsoft.com/office/drawing/2014/main" id="{CD0C033D-CB69-1310-0C1E-ECC457D544AE}"/>
              </a:ext>
            </a:extLst>
          </p:cNvPr>
          <p:cNvSpPr txBox="1"/>
          <p:nvPr/>
        </p:nvSpPr>
        <p:spPr>
          <a:xfrm>
            <a:off x="3925504" y="2202581"/>
            <a:ext cx="3628724" cy="894415"/>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C4B05"/>
              </a:buClr>
              <a:buSzPts val="6000"/>
              <a:buFont typeface="League Spartan"/>
              <a:buNone/>
            </a:pPr>
            <a:endParaRPr sz="2900" b="1" i="0" u="none" strike="noStrike" cap="none">
              <a:solidFill>
                <a:srgbClr val="FF0000"/>
              </a:solidFill>
              <a:latin typeface="Calibri"/>
              <a:ea typeface="Calibri"/>
              <a:cs typeface="Calibri"/>
              <a:sym typeface="Calibri"/>
            </a:endParaRPr>
          </a:p>
        </p:txBody>
      </p:sp>
      <p:sp>
        <p:nvSpPr>
          <p:cNvPr id="4" name="Google Shape;346;p3">
            <a:extLst>
              <a:ext uri="{FF2B5EF4-FFF2-40B4-BE49-F238E27FC236}">
                <a16:creationId xmlns:a16="http://schemas.microsoft.com/office/drawing/2014/main" id="{E4CF1E13-C792-2BB5-29F5-79970093A8D8}"/>
              </a:ext>
            </a:extLst>
          </p:cNvPr>
          <p:cNvSpPr txBox="1">
            <a:spLocks/>
          </p:cNvSpPr>
          <p:nvPr/>
        </p:nvSpPr>
        <p:spPr>
          <a:xfrm>
            <a:off x="391555" y="712416"/>
            <a:ext cx="11217300" cy="55995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15000"/>
              </a:lnSpc>
              <a:spcBef>
                <a:spcPts val="1400"/>
              </a:spcBef>
              <a:buSzPts val="1100"/>
            </a:pPr>
            <a:r>
              <a:rPr lang="en-US" sz="2100" b="1" dirty="0">
                <a:latin typeface="Arial" panose="020B0604020202020204" pitchFamily="34" charset="0"/>
                <a:ea typeface="Arial"/>
                <a:cs typeface="Arial" panose="020B0604020202020204" pitchFamily="34" charset="0"/>
              </a:rPr>
              <a:t>Study (or Research) Design </a:t>
            </a:r>
            <a:endParaRPr lang="en-US" sz="2100" b="1" dirty="0">
              <a:latin typeface="Arial" panose="020B0604020202020204" pitchFamily="34" charset="0"/>
              <a:ea typeface="Arial"/>
              <a:cs typeface="Arial" panose="020B0604020202020204" pitchFamily="34" charset="0"/>
              <a:sym typeface="Arial"/>
            </a:endParaRPr>
          </a:p>
          <a:p>
            <a:pPr marL="457200" indent="-361950">
              <a:lnSpc>
                <a:spcPct val="115000"/>
              </a:lnSpc>
              <a:spcBef>
                <a:spcPts val="1200"/>
              </a:spcBef>
              <a:buSzPts val="2100"/>
              <a:buFont typeface="Arial"/>
              <a:buChar char="●"/>
            </a:pPr>
            <a:r>
              <a:rPr lang="en-US" sz="2100" dirty="0">
                <a:latin typeface="Arial" panose="020B0604020202020204" pitchFamily="34" charset="0"/>
                <a:ea typeface="Arial"/>
                <a:cs typeface="Arial" panose="020B0604020202020204" pitchFamily="34" charset="0"/>
                <a:sym typeface="Arial"/>
              </a:rPr>
              <a:t>Research and Development</a:t>
            </a:r>
          </a:p>
          <a:p>
            <a:pPr>
              <a:lnSpc>
                <a:spcPct val="115000"/>
              </a:lnSpc>
              <a:spcBef>
                <a:spcPts val="1400"/>
              </a:spcBef>
              <a:buSzPts val="1100"/>
            </a:pPr>
            <a:r>
              <a:rPr lang="en-US" sz="2100" b="1" dirty="0">
                <a:latin typeface="Arial" panose="020B0604020202020204" pitchFamily="34" charset="0"/>
                <a:ea typeface="Arial"/>
                <a:cs typeface="Arial" panose="020B0604020202020204" pitchFamily="34" charset="0"/>
              </a:rPr>
              <a:t>Population and Sample</a:t>
            </a:r>
          </a:p>
          <a:p>
            <a:pPr marL="457200" indent="-361950">
              <a:lnSpc>
                <a:spcPct val="115000"/>
              </a:lnSpc>
              <a:spcBef>
                <a:spcPts val="1200"/>
              </a:spcBef>
              <a:buSzPts val="2100"/>
              <a:buFont typeface="Arial"/>
              <a:buChar char="●"/>
            </a:pPr>
            <a:r>
              <a:rPr lang="en-US" sz="2100" dirty="0">
                <a:latin typeface="Arial" panose="020B0604020202020204" pitchFamily="34" charset="0"/>
                <a:ea typeface="Arial"/>
                <a:cs typeface="Arial" panose="020B0604020202020204" pitchFamily="34" charset="0"/>
                <a:sym typeface="Arial"/>
              </a:rPr>
              <a:t>4</a:t>
            </a:r>
            <a:r>
              <a:rPr lang="en-US" sz="2100" baseline="30000" dirty="0">
                <a:latin typeface="Arial" panose="020B0604020202020204" pitchFamily="34" charset="0"/>
                <a:ea typeface="Arial"/>
                <a:cs typeface="Arial" panose="020B0604020202020204" pitchFamily="34" charset="0"/>
                <a:sym typeface="Arial"/>
              </a:rPr>
              <a:t>th</a:t>
            </a:r>
            <a:r>
              <a:rPr lang="en-US" sz="2100" dirty="0">
                <a:latin typeface="Arial" panose="020B0604020202020204" pitchFamily="34" charset="0"/>
                <a:ea typeface="Arial"/>
                <a:cs typeface="Arial" panose="020B0604020202020204" pitchFamily="34" charset="0"/>
                <a:sym typeface="Arial"/>
              </a:rPr>
              <a:t> year students and HR Expert</a:t>
            </a:r>
          </a:p>
          <a:p>
            <a:pPr>
              <a:lnSpc>
                <a:spcPct val="115000"/>
              </a:lnSpc>
              <a:spcBef>
                <a:spcPts val="1400"/>
              </a:spcBef>
              <a:buSzPts val="1100"/>
            </a:pPr>
            <a:r>
              <a:rPr lang="en-US" sz="2100" b="1" dirty="0">
                <a:latin typeface="Arial" panose="020B0604020202020204" pitchFamily="34" charset="0"/>
                <a:ea typeface="Arial"/>
                <a:cs typeface="Arial" panose="020B0604020202020204" pitchFamily="34" charset="0"/>
                <a:sym typeface="Arial"/>
              </a:rPr>
              <a:t>Data Gathering Instrument</a:t>
            </a:r>
          </a:p>
          <a:p>
            <a:pPr marL="457200" indent="-361950">
              <a:lnSpc>
                <a:spcPct val="115000"/>
              </a:lnSpc>
              <a:spcBef>
                <a:spcPts val="1200"/>
              </a:spcBef>
              <a:buSzPts val="2100"/>
              <a:buFont typeface="Arial"/>
              <a:buChar char="●"/>
            </a:pPr>
            <a:r>
              <a:rPr lang="en-US" sz="2100" dirty="0">
                <a:latin typeface="Arial" panose="020B0604020202020204" pitchFamily="34" charset="0"/>
                <a:ea typeface="Arial"/>
                <a:cs typeface="Arial" panose="020B0604020202020204" pitchFamily="34" charset="0"/>
                <a:sym typeface="Arial"/>
              </a:rPr>
              <a:t>User Acceptance Test</a:t>
            </a:r>
          </a:p>
          <a:p>
            <a:pPr>
              <a:spcBef>
                <a:spcPts val="1200"/>
              </a:spcBef>
              <a:buClr>
                <a:srgbClr val="0C4B05"/>
              </a:buClr>
              <a:buSzPts val="6000"/>
              <a:buFont typeface="League Spartan"/>
              <a:buNone/>
            </a:pPr>
            <a:endParaRPr lang="en-US" sz="2100" dirty="0">
              <a:latin typeface="Arial" panose="020B0604020202020204" pitchFamily="34" charset="0"/>
              <a:ea typeface="Arial"/>
              <a:cs typeface="Arial" panose="020B0604020202020204" pitchFamily="34" charset="0"/>
              <a:sym typeface="Arial"/>
            </a:endParaRPr>
          </a:p>
        </p:txBody>
      </p:sp>
    </p:spTree>
    <p:extLst>
      <p:ext uri="{BB962C8B-B14F-4D97-AF65-F5344CB8AC3E}">
        <p14:creationId xmlns:p14="http://schemas.microsoft.com/office/powerpoint/2010/main" val="4163558864"/>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
          <p:cNvSpPr txBox="1"/>
          <p:nvPr/>
        </p:nvSpPr>
        <p:spPr>
          <a:xfrm>
            <a:off x="9626" y="0"/>
            <a:ext cx="3628724" cy="894415"/>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C4B05"/>
              </a:buClr>
              <a:buSzPts val="6000"/>
              <a:buFont typeface="League Spartan"/>
              <a:buNone/>
            </a:pPr>
            <a:r>
              <a:rPr lang="en-US" sz="2900" b="1" i="0" u="none" strike="noStrike" cap="none">
                <a:solidFill>
                  <a:schemeClr val="dk1"/>
                </a:solidFill>
                <a:latin typeface="Calibri"/>
                <a:ea typeface="Calibri"/>
                <a:cs typeface="Calibri"/>
                <a:sym typeface="Calibri"/>
              </a:rPr>
              <a:t>METHODOLOGY</a:t>
            </a:r>
            <a:endParaRPr sz="2900" b="1" i="0" u="none" strike="noStrike" cap="none">
              <a:solidFill>
                <a:schemeClr val="dk1"/>
              </a:solidFill>
              <a:latin typeface="Calibri"/>
              <a:ea typeface="Calibri"/>
              <a:cs typeface="Calibri"/>
              <a:sym typeface="Calibri"/>
            </a:endParaRPr>
          </a:p>
        </p:txBody>
      </p:sp>
      <p:sp>
        <p:nvSpPr>
          <p:cNvPr id="370" name="Google Shape;370;p5"/>
          <p:cNvSpPr txBox="1"/>
          <p:nvPr/>
        </p:nvSpPr>
        <p:spPr>
          <a:xfrm>
            <a:off x="3925504" y="2202581"/>
            <a:ext cx="3628724" cy="894415"/>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C4B05"/>
              </a:buClr>
              <a:buSzPts val="6000"/>
              <a:buFont typeface="League Spartan"/>
              <a:buNone/>
            </a:pPr>
            <a:endParaRPr sz="2900" b="1" i="0" u="none" strike="noStrike" cap="none">
              <a:solidFill>
                <a:srgbClr val="FF0000"/>
              </a:solidFill>
              <a:latin typeface="Calibri"/>
              <a:ea typeface="Calibri"/>
              <a:cs typeface="Calibri"/>
              <a:sym typeface="Calibri"/>
            </a:endParaRPr>
          </a:p>
        </p:txBody>
      </p:sp>
      <p:pic>
        <p:nvPicPr>
          <p:cNvPr id="1026" name="Picture 2">
            <a:extLst>
              <a:ext uri="{FF2B5EF4-FFF2-40B4-BE49-F238E27FC236}">
                <a16:creationId xmlns:a16="http://schemas.microsoft.com/office/drawing/2014/main" id="{12CE9154-3824-45C7-B0BD-778F7CFDE2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0378" y="990328"/>
            <a:ext cx="9010650" cy="447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6615D7CB-1586-60CC-7BEC-DB1810926A74}"/>
            </a:ext>
          </a:extLst>
        </p:cNvPr>
        <p:cNvGrpSpPr/>
        <p:nvPr/>
      </p:nvGrpSpPr>
      <p:grpSpPr>
        <a:xfrm>
          <a:off x="0" y="0"/>
          <a:ext cx="0" cy="0"/>
          <a:chOff x="0" y="0"/>
          <a:chExt cx="0" cy="0"/>
        </a:xfrm>
      </p:grpSpPr>
      <p:sp>
        <p:nvSpPr>
          <p:cNvPr id="339" name="Google Shape;339;p2">
            <a:extLst>
              <a:ext uri="{FF2B5EF4-FFF2-40B4-BE49-F238E27FC236}">
                <a16:creationId xmlns:a16="http://schemas.microsoft.com/office/drawing/2014/main" id="{AB8FD01F-1E5A-FF6F-C14A-E4117C6CD18F}"/>
              </a:ext>
            </a:extLst>
          </p:cNvPr>
          <p:cNvSpPr txBox="1">
            <a:spLocks noGrp="1"/>
          </p:cNvSpPr>
          <p:nvPr>
            <p:ph type="ctrTitle"/>
          </p:nvPr>
        </p:nvSpPr>
        <p:spPr>
          <a:xfrm>
            <a:off x="463982" y="864972"/>
            <a:ext cx="8515895" cy="2059193"/>
          </a:xfrm>
          <a:prstGeom prst="rect">
            <a:avLst/>
          </a:prstGeom>
          <a:noFill/>
          <a:ln>
            <a:noFill/>
          </a:ln>
        </p:spPr>
        <p:txBody>
          <a:bodyPr spcFirstLastPara="1" wrap="square" lIns="91425" tIns="45700" rIns="91425" bIns="45700" anchor="b" anchorCtr="0">
            <a:noAutofit/>
          </a:bodyPr>
          <a:lstStyle/>
          <a:p>
            <a:r>
              <a:rPr lang="en-GB" sz="4500" dirty="0"/>
              <a:t>RESULTS</a:t>
            </a:r>
          </a:p>
        </p:txBody>
      </p:sp>
    </p:spTree>
    <p:extLst>
      <p:ext uri="{BB962C8B-B14F-4D97-AF65-F5344CB8AC3E}">
        <p14:creationId xmlns:p14="http://schemas.microsoft.com/office/powerpoint/2010/main" val="1354102638"/>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7"/>
          <p:cNvSpPr txBox="1">
            <a:spLocks noGrp="1"/>
          </p:cNvSpPr>
          <p:nvPr>
            <p:ph type="ctrTitle" idx="4294967295"/>
          </p:nvPr>
        </p:nvSpPr>
        <p:spPr>
          <a:xfrm>
            <a:off x="0" y="0"/>
            <a:ext cx="3879000" cy="8943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C4B05"/>
              </a:buClr>
              <a:buSzPts val="6000"/>
              <a:buFont typeface="League Spartan"/>
              <a:buNone/>
            </a:pPr>
            <a:r>
              <a:rPr lang="en-US" sz="2900" b="1" i="0" u="none" strike="noStrike" cap="none">
                <a:solidFill>
                  <a:schemeClr val="dk1"/>
                </a:solidFill>
                <a:latin typeface="Calibri"/>
                <a:ea typeface="Calibri"/>
                <a:cs typeface="Calibri"/>
                <a:sym typeface="Calibri"/>
              </a:rPr>
              <a:t>USE CASE DIAGRAM</a:t>
            </a:r>
            <a:endParaRPr sz="2900" b="1"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7D46B1BE-B9D8-412A-B795-9825C41703DC}"/>
              </a:ext>
            </a:extLst>
          </p:cNvPr>
          <p:cNvPicPr>
            <a:picLocks noChangeAspect="1"/>
          </p:cNvPicPr>
          <p:nvPr/>
        </p:nvPicPr>
        <p:blipFill>
          <a:blip r:embed="rId3"/>
          <a:stretch>
            <a:fillRect/>
          </a:stretch>
        </p:blipFill>
        <p:spPr>
          <a:xfrm>
            <a:off x="1404283" y="856891"/>
            <a:ext cx="9383434" cy="514421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7"/>
          <p:cNvSpPr txBox="1">
            <a:spLocks noGrp="1"/>
          </p:cNvSpPr>
          <p:nvPr>
            <p:ph type="ctrTitle" idx="4294967295"/>
          </p:nvPr>
        </p:nvSpPr>
        <p:spPr>
          <a:xfrm>
            <a:off x="0" y="0"/>
            <a:ext cx="3879000" cy="8943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C4B05"/>
              </a:buClr>
              <a:buSzPts val="6000"/>
              <a:buFont typeface="League Spartan"/>
              <a:buNone/>
            </a:pPr>
            <a:r>
              <a:rPr lang="en-US" sz="2900" b="1" i="0" u="none" strike="noStrike" cap="none">
                <a:solidFill>
                  <a:schemeClr val="dk1"/>
                </a:solidFill>
                <a:latin typeface="Calibri"/>
                <a:ea typeface="Calibri"/>
                <a:cs typeface="Calibri"/>
                <a:sym typeface="Calibri"/>
              </a:rPr>
              <a:t>USE CASE DIAGRAM</a:t>
            </a:r>
            <a:endParaRPr sz="2900" b="1"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FE7623F7-FC2A-4404-BF48-F67BF8442291}"/>
              </a:ext>
            </a:extLst>
          </p:cNvPr>
          <p:cNvPicPr>
            <a:picLocks noChangeAspect="1"/>
          </p:cNvPicPr>
          <p:nvPr/>
        </p:nvPicPr>
        <p:blipFill>
          <a:blip r:embed="rId3"/>
          <a:stretch>
            <a:fillRect/>
          </a:stretch>
        </p:blipFill>
        <p:spPr>
          <a:xfrm>
            <a:off x="1832967" y="1024850"/>
            <a:ext cx="8526065" cy="4477375"/>
          </a:xfrm>
          <a:prstGeom prst="rect">
            <a:avLst/>
          </a:prstGeom>
        </p:spPr>
      </p:pic>
    </p:spTree>
    <p:extLst>
      <p:ext uri="{BB962C8B-B14F-4D97-AF65-F5344CB8AC3E}">
        <p14:creationId xmlns:p14="http://schemas.microsoft.com/office/powerpoint/2010/main" val="510829916"/>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7"/>
          <p:cNvSpPr txBox="1">
            <a:spLocks noGrp="1"/>
          </p:cNvSpPr>
          <p:nvPr>
            <p:ph type="ctrTitle" idx="4294967295"/>
          </p:nvPr>
        </p:nvSpPr>
        <p:spPr>
          <a:xfrm>
            <a:off x="0" y="0"/>
            <a:ext cx="3879000" cy="8943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C4B05"/>
              </a:buClr>
              <a:buSzPts val="6000"/>
              <a:buFont typeface="League Spartan"/>
              <a:buNone/>
            </a:pPr>
            <a:r>
              <a:rPr lang="en-US" sz="2900" b="1" i="0" u="none" strike="noStrike" cap="none">
                <a:solidFill>
                  <a:schemeClr val="dk1"/>
                </a:solidFill>
                <a:latin typeface="Calibri"/>
                <a:ea typeface="Calibri"/>
                <a:cs typeface="Calibri"/>
                <a:sym typeface="Calibri"/>
              </a:rPr>
              <a:t>USE CASE DIAGRAM</a:t>
            </a:r>
            <a:endParaRPr sz="2900" b="1"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9BDC5434-2809-4FE9-B870-CC6D843A4055}"/>
              </a:ext>
            </a:extLst>
          </p:cNvPr>
          <p:cNvPicPr>
            <a:picLocks noChangeAspect="1"/>
          </p:cNvPicPr>
          <p:nvPr/>
        </p:nvPicPr>
        <p:blipFill>
          <a:blip r:embed="rId3"/>
          <a:stretch>
            <a:fillRect/>
          </a:stretch>
        </p:blipFill>
        <p:spPr>
          <a:xfrm>
            <a:off x="1985389" y="1709497"/>
            <a:ext cx="8221222" cy="3439005"/>
          </a:xfrm>
          <a:prstGeom prst="rect">
            <a:avLst/>
          </a:prstGeom>
        </p:spPr>
      </p:pic>
    </p:spTree>
    <p:extLst>
      <p:ext uri="{BB962C8B-B14F-4D97-AF65-F5344CB8AC3E}">
        <p14:creationId xmlns:p14="http://schemas.microsoft.com/office/powerpoint/2010/main" val="1901774630"/>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pic>
        <p:nvPicPr>
          <p:cNvPr id="6" name="Picture 5">
            <a:extLst>
              <a:ext uri="{FF2B5EF4-FFF2-40B4-BE49-F238E27FC236}">
                <a16:creationId xmlns:a16="http://schemas.microsoft.com/office/drawing/2014/main" id="{7AFEE699-4494-468D-9012-045652855A59}"/>
              </a:ext>
            </a:extLst>
          </p:cNvPr>
          <p:cNvPicPr>
            <a:picLocks noChangeAspect="1"/>
          </p:cNvPicPr>
          <p:nvPr/>
        </p:nvPicPr>
        <p:blipFill>
          <a:blip r:embed="rId3"/>
          <a:stretch>
            <a:fillRect/>
          </a:stretch>
        </p:blipFill>
        <p:spPr>
          <a:xfrm>
            <a:off x="2176749" y="330926"/>
            <a:ext cx="7113373" cy="5338354"/>
          </a:xfrm>
          <a:prstGeom prst="rect">
            <a:avLst/>
          </a:prstGeom>
        </p:spPr>
      </p:pic>
      <p:sp>
        <p:nvSpPr>
          <p:cNvPr id="406" name="Google Shape;406;p7"/>
          <p:cNvSpPr txBox="1">
            <a:spLocks noGrp="1"/>
          </p:cNvSpPr>
          <p:nvPr>
            <p:ph type="ctrTitle" idx="4294967295"/>
          </p:nvPr>
        </p:nvSpPr>
        <p:spPr>
          <a:xfrm>
            <a:off x="0" y="0"/>
            <a:ext cx="3879000" cy="8943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C4B05"/>
              </a:buClr>
              <a:buSzPts val="6000"/>
              <a:buFont typeface="League Spartan"/>
              <a:buNone/>
            </a:pPr>
            <a:r>
              <a:rPr lang="en-US" sz="2900" b="1" i="0" u="none" strike="noStrike" cap="none">
                <a:solidFill>
                  <a:schemeClr val="dk1"/>
                </a:solidFill>
                <a:latin typeface="Calibri"/>
                <a:ea typeface="Calibri"/>
                <a:cs typeface="Calibri"/>
                <a:sym typeface="Calibri"/>
              </a:rPr>
              <a:t>USE CASE DIAGRAM</a:t>
            </a:r>
            <a:endParaRPr sz="2900" b="1"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86607941"/>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6" name="image16.png">
            <a:extLst>
              <a:ext uri="{FF2B5EF4-FFF2-40B4-BE49-F238E27FC236}">
                <a16:creationId xmlns:a16="http://schemas.microsoft.com/office/drawing/2014/main" id="{209CFB5C-DD3B-4356-8D99-E57FE1060489}"/>
              </a:ext>
            </a:extLst>
          </p:cNvPr>
          <p:cNvPicPr/>
          <p:nvPr/>
        </p:nvPicPr>
        <p:blipFill>
          <a:blip r:embed="rId3"/>
          <a:srcRect/>
          <a:stretch>
            <a:fillRect/>
          </a:stretch>
        </p:blipFill>
        <p:spPr>
          <a:xfrm>
            <a:off x="283482" y="979832"/>
            <a:ext cx="7162347" cy="3840117"/>
          </a:xfrm>
          <a:prstGeom prst="rect">
            <a:avLst/>
          </a:prstGeom>
          <a:ln/>
        </p:spPr>
      </p:pic>
      <p:pic>
        <p:nvPicPr>
          <p:cNvPr id="3" name="Picture 2">
            <a:extLst>
              <a:ext uri="{FF2B5EF4-FFF2-40B4-BE49-F238E27FC236}">
                <a16:creationId xmlns:a16="http://schemas.microsoft.com/office/drawing/2014/main" id="{C3955FE6-793C-434E-B924-B92C05666EA2}"/>
              </a:ext>
            </a:extLst>
          </p:cNvPr>
          <p:cNvPicPr>
            <a:picLocks noChangeAspect="1"/>
          </p:cNvPicPr>
          <p:nvPr/>
        </p:nvPicPr>
        <p:blipFill>
          <a:blip r:embed="rId4"/>
          <a:stretch>
            <a:fillRect/>
          </a:stretch>
        </p:blipFill>
        <p:spPr>
          <a:xfrm>
            <a:off x="7530667" y="1053736"/>
            <a:ext cx="4377851" cy="3684011"/>
          </a:xfrm>
          <a:prstGeom prst="rect">
            <a:avLst/>
          </a:prstGeom>
          <a:ln>
            <a:solidFill>
              <a:schemeClr val="tx1"/>
            </a:solidFill>
          </a:ln>
        </p:spPr>
      </p:pic>
    </p:spTree>
    <p:extLst>
      <p:ext uri="{BB962C8B-B14F-4D97-AF65-F5344CB8AC3E}">
        <p14:creationId xmlns:p14="http://schemas.microsoft.com/office/powerpoint/2010/main" val="1280059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4" name="image11.png">
            <a:extLst>
              <a:ext uri="{FF2B5EF4-FFF2-40B4-BE49-F238E27FC236}">
                <a16:creationId xmlns:a16="http://schemas.microsoft.com/office/drawing/2014/main" id="{7E371E1F-B202-41DF-9D64-A29DECBAE610}"/>
              </a:ext>
            </a:extLst>
          </p:cNvPr>
          <p:cNvPicPr/>
          <p:nvPr/>
        </p:nvPicPr>
        <p:blipFill>
          <a:blip r:embed="rId3"/>
          <a:srcRect/>
          <a:stretch>
            <a:fillRect/>
          </a:stretch>
        </p:blipFill>
        <p:spPr>
          <a:xfrm>
            <a:off x="182881" y="1067706"/>
            <a:ext cx="7019108" cy="3626213"/>
          </a:xfrm>
          <a:prstGeom prst="rect">
            <a:avLst/>
          </a:prstGeom>
          <a:ln/>
        </p:spPr>
      </p:pic>
      <p:pic>
        <p:nvPicPr>
          <p:cNvPr id="7" name="Picture 6">
            <a:extLst>
              <a:ext uri="{FF2B5EF4-FFF2-40B4-BE49-F238E27FC236}">
                <a16:creationId xmlns:a16="http://schemas.microsoft.com/office/drawing/2014/main" id="{291A74DD-63D7-4981-B0F1-DB5F245DDCE1}"/>
              </a:ext>
            </a:extLst>
          </p:cNvPr>
          <p:cNvPicPr>
            <a:picLocks noChangeAspect="1"/>
          </p:cNvPicPr>
          <p:nvPr/>
        </p:nvPicPr>
        <p:blipFill>
          <a:blip r:embed="rId4"/>
          <a:stretch>
            <a:fillRect/>
          </a:stretch>
        </p:blipFill>
        <p:spPr>
          <a:xfrm>
            <a:off x="7428412" y="553901"/>
            <a:ext cx="4412723" cy="4944753"/>
          </a:xfrm>
          <a:prstGeom prst="rect">
            <a:avLst/>
          </a:prstGeom>
          <a:ln>
            <a:solidFill>
              <a:schemeClr val="tx1"/>
            </a:solidFill>
          </a:ln>
        </p:spPr>
      </p:pic>
    </p:spTree>
    <p:extLst>
      <p:ext uri="{BB962C8B-B14F-4D97-AF65-F5344CB8AC3E}">
        <p14:creationId xmlns:p14="http://schemas.microsoft.com/office/powerpoint/2010/main" val="976893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10.png">
            <a:extLst>
              <a:ext uri="{FF2B5EF4-FFF2-40B4-BE49-F238E27FC236}">
                <a16:creationId xmlns:a16="http://schemas.microsoft.com/office/drawing/2014/main" id="{C973FF55-BDB1-4010-8530-89CFEC8ED039}"/>
              </a:ext>
            </a:extLst>
          </p:cNvPr>
          <p:cNvPicPr/>
          <p:nvPr/>
        </p:nvPicPr>
        <p:blipFill>
          <a:blip r:embed="rId3"/>
          <a:srcRect/>
          <a:stretch>
            <a:fillRect/>
          </a:stretch>
        </p:blipFill>
        <p:spPr>
          <a:xfrm>
            <a:off x="327024" y="1471022"/>
            <a:ext cx="6874965" cy="3675743"/>
          </a:xfrm>
          <a:prstGeom prst="rect">
            <a:avLst/>
          </a:prstGeom>
          <a:ln/>
        </p:spPr>
      </p:pic>
      <p:pic>
        <p:nvPicPr>
          <p:cNvPr id="6" name="Picture 5">
            <a:extLst>
              <a:ext uri="{FF2B5EF4-FFF2-40B4-BE49-F238E27FC236}">
                <a16:creationId xmlns:a16="http://schemas.microsoft.com/office/drawing/2014/main" id="{695815A6-2122-4BD2-BBDC-111A45990486}"/>
              </a:ext>
            </a:extLst>
          </p:cNvPr>
          <p:cNvPicPr>
            <a:picLocks noChangeAspect="1"/>
          </p:cNvPicPr>
          <p:nvPr/>
        </p:nvPicPr>
        <p:blipFill>
          <a:blip r:embed="rId4"/>
          <a:stretch>
            <a:fillRect/>
          </a:stretch>
        </p:blipFill>
        <p:spPr>
          <a:xfrm>
            <a:off x="7473575" y="979350"/>
            <a:ext cx="4141881" cy="4672513"/>
          </a:xfrm>
          <a:prstGeom prst="rect">
            <a:avLst/>
          </a:prstGeom>
        </p:spPr>
      </p:pic>
    </p:spTree>
    <p:extLst>
      <p:ext uri="{BB962C8B-B14F-4D97-AF65-F5344CB8AC3E}">
        <p14:creationId xmlns:p14="http://schemas.microsoft.com/office/powerpoint/2010/main" val="563770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8.png">
            <a:extLst>
              <a:ext uri="{FF2B5EF4-FFF2-40B4-BE49-F238E27FC236}">
                <a16:creationId xmlns:a16="http://schemas.microsoft.com/office/drawing/2014/main" id="{E546E226-1C14-4D9A-834F-5C0EECB6CAC9}"/>
              </a:ext>
            </a:extLst>
          </p:cNvPr>
          <p:cNvPicPr/>
          <p:nvPr/>
        </p:nvPicPr>
        <p:blipFill>
          <a:blip r:embed="rId3"/>
          <a:srcRect/>
          <a:stretch>
            <a:fillRect/>
          </a:stretch>
        </p:blipFill>
        <p:spPr>
          <a:xfrm>
            <a:off x="93843" y="1445803"/>
            <a:ext cx="5497059" cy="3120482"/>
          </a:xfrm>
          <a:prstGeom prst="rect">
            <a:avLst/>
          </a:prstGeom>
          <a:ln/>
        </p:spPr>
      </p:pic>
      <p:pic>
        <p:nvPicPr>
          <p:cNvPr id="4" name="Picture 3">
            <a:extLst>
              <a:ext uri="{FF2B5EF4-FFF2-40B4-BE49-F238E27FC236}">
                <a16:creationId xmlns:a16="http://schemas.microsoft.com/office/drawing/2014/main" id="{2F51D27F-4A41-4ED1-A746-A46C70EC381E}"/>
              </a:ext>
            </a:extLst>
          </p:cNvPr>
          <p:cNvPicPr>
            <a:picLocks noChangeAspect="1"/>
          </p:cNvPicPr>
          <p:nvPr/>
        </p:nvPicPr>
        <p:blipFill>
          <a:blip r:embed="rId4"/>
          <a:stretch>
            <a:fillRect/>
          </a:stretch>
        </p:blipFill>
        <p:spPr>
          <a:xfrm>
            <a:off x="5666620" y="1517144"/>
            <a:ext cx="6222531" cy="2932935"/>
          </a:xfrm>
          <a:prstGeom prst="rect">
            <a:avLst/>
          </a:prstGeom>
          <a:ln>
            <a:solidFill>
              <a:schemeClr val="tx1"/>
            </a:solidFill>
          </a:ln>
        </p:spPr>
      </p:pic>
    </p:spTree>
    <p:extLst>
      <p:ext uri="{BB962C8B-B14F-4D97-AF65-F5344CB8AC3E}">
        <p14:creationId xmlns:p14="http://schemas.microsoft.com/office/powerpoint/2010/main" val="2565932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20.png">
            <a:extLst>
              <a:ext uri="{FF2B5EF4-FFF2-40B4-BE49-F238E27FC236}">
                <a16:creationId xmlns:a16="http://schemas.microsoft.com/office/drawing/2014/main" id="{A2AD353C-B032-455B-9BB4-8425A6BE424A}"/>
              </a:ext>
            </a:extLst>
          </p:cNvPr>
          <p:cNvPicPr/>
          <p:nvPr/>
        </p:nvPicPr>
        <p:blipFill>
          <a:blip r:embed="rId3"/>
          <a:srcRect/>
          <a:stretch>
            <a:fillRect/>
          </a:stretch>
        </p:blipFill>
        <p:spPr>
          <a:xfrm>
            <a:off x="87087" y="1145902"/>
            <a:ext cx="6008914" cy="4044407"/>
          </a:xfrm>
          <a:prstGeom prst="rect">
            <a:avLst/>
          </a:prstGeom>
          <a:ln/>
        </p:spPr>
      </p:pic>
      <p:pic>
        <p:nvPicPr>
          <p:cNvPr id="4" name="Picture 3">
            <a:extLst>
              <a:ext uri="{FF2B5EF4-FFF2-40B4-BE49-F238E27FC236}">
                <a16:creationId xmlns:a16="http://schemas.microsoft.com/office/drawing/2014/main" id="{13951284-BC52-4757-8321-FBF9274DBE24}"/>
              </a:ext>
            </a:extLst>
          </p:cNvPr>
          <p:cNvPicPr>
            <a:picLocks noChangeAspect="1"/>
          </p:cNvPicPr>
          <p:nvPr/>
        </p:nvPicPr>
        <p:blipFill>
          <a:blip r:embed="rId4"/>
          <a:stretch>
            <a:fillRect/>
          </a:stretch>
        </p:blipFill>
        <p:spPr>
          <a:xfrm>
            <a:off x="6177130" y="1227909"/>
            <a:ext cx="5831990" cy="3901439"/>
          </a:xfrm>
          <a:prstGeom prst="rect">
            <a:avLst/>
          </a:prstGeom>
          <a:ln>
            <a:solidFill>
              <a:schemeClr val="tx1"/>
            </a:solidFill>
          </a:ln>
        </p:spPr>
      </p:pic>
    </p:spTree>
    <p:extLst>
      <p:ext uri="{BB962C8B-B14F-4D97-AF65-F5344CB8AC3E}">
        <p14:creationId xmlns:p14="http://schemas.microsoft.com/office/powerpoint/2010/main" val="606351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7.png">
            <a:extLst>
              <a:ext uri="{FF2B5EF4-FFF2-40B4-BE49-F238E27FC236}">
                <a16:creationId xmlns:a16="http://schemas.microsoft.com/office/drawing/2014/main" id="{FF56D9D5-CE84-4160-AA2B-75CF269E60D4}"/>
              </a:ext>
            </a:extLst>
          </p:cNvPr>
          <p:cNvPicPr/>
          <p:nvPr/>
        </p:nvPicPr>
        <p:blipFill>
          <a:blip r:embed="rId3"/>
          <a:srcRect/>
          <a:stretch>
            <a:fillRect/>
          </a:stretch>
        </p:blipFill>
        <p:spPr>
          <a:xfrm>
            <a:off x="119969" y="1612899"/>
            <a:ext cx="5636397" cy="3037478"/>
          </a:xfrm>
          <a:prstGeom prst="rect">
            <a:avLst/>
          </a:prstGeom>
          <a:ln/>
        </p:spPr>
      </p:pic>
      <p:pic>
        <p:nvPicPr>
          <p:cNvPr id="4" name="Picture 3">
            <a:extLst>
              <a:ext uri="{FF2B5EF4-FFF2-40B4-BE49-F238E27FC236}">
                <a16:creationId xmlns:a16="http://schemas.microsoft.com/office/drawing/2014/main" id="{49F36B49-AD05-49B4-A96F-39351EAEA38D}"/>
              </a:ext>
            </a:extLst>
          </p:cNvPr>
          <p:cNvPicPr>
            <a:picLocks noChangeAspect="1"/>
          </p:cNvPicPr>
          <p:nvPr/>
        </p:nvPicPr>
        <p:blipFill>
          <a:blip r:embed="rId4"/>
          <a:stretch>
            <a:fillRect/>
          </a:stretch>
        </p:blipFill>
        <p:spPr>
          <a:xfrm>
            <a:off x="5867746" y="1612899"/>
            <a:ext cx="6204285" cy="3037478"/>
          </a:xfrm>
          <a:prstGeom prst="rect">
            <a:avLst/>
          </a:prstGeom>
          <a:ln>
            <a:solidFill>
              <a:schemeClr val="tx1"/>
            </a:solidFill>
          </a:ln>
        </p:spPr>
      </p:pic>
    </p:spTree>
    <p:extLst>
      <p:ext uri="{BB962C8B-B14F-4D97-AF65-F5344CB8AC3E}">
        <p14:creationId xmlns:p14="http://schemas.microsoft.com/office/powerpoint/2010/main" val="4092701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19.png">
            <a:extLst>
              <a:ext uri="{FF2B5EF4-FFF2-40B4-BE49-F238E27FC236}">
                <a16:creationId xmlns:a16="http://schemas.microsoft.com/office/drawing/2014/main" id="{1F9A2A95-083E-4EEC-ACE3-82C80D5C0ABD}"/>
              </a:ext>
            </a:extLst>
          </p:cNvPr>
          <p:cNvPicPr/>
          <p:nvPr/>
        </p:nvPicPr>
        <p:blipFill>
          <a:blip r:embed="rId3"/>
          <a:srcRect/>
          <a:stretch>
            <a:fillRect/>
          </a:stretch>
        </p:blipFill>
        <p:spPr>
          <a:xfrm>
            <a:off x="91894" y="1621427"/>
            <a:ext cx="6117318" cy="3150870"/>
          </a:xfrm>
          <a:prstGeom prst="rect">
            <a:avLst/>
          </a:prstGeom>
          <a:ln/>
        </p:spPr>
      </p:pic>
      <p:pic>
        <p:nvPicPr>
          <p:cNvPr id="4" name="Picture 3">
            <a:extLst>
              <a:ext uri="{FF2B5EF4-FFF2-40B4-BE49-F238E27FC236}">
                <a16:creationId xmlns:a16="http://schemas.microsoft.com/office/drawing/2014/main" id="{BF714A96-0F9C-4577-8F2C-FAA8C19B2F44}"/>
              </a:ext>
            </a:extLst>
          </p:cNvPr>
          <p:cNvPicPr>
            <a:picLocks noChangeAspect="1"/>
          </p:cNvPicPr>
          <p:nvPr/>
        </p:nvPicPr>
        <p:blipFill>
          <a:blip r:embed="rId4"/>
          <a:stretch>
            <a:fillRect/>
          </a:stretch>
        </p:blipFill>
        <p:spPr>
          <a:xfrm>
            <a:off x="6601098" y="1255122"/>
            <a:ext cx="4545380" cy="4347755"/>
          </a:xfrm>
          <a:prstGeom prst="rect">
            <a:avLst/>
          </a:prstGeom>
        </p:spPr>
      </p:pic>
    </p:spTree>
    <p:extLst>
      <p:ext uri="{BB962C8B-B14F-4D97-AF65-F5344CB8AC3E}">
        <p14:creationId xmlns:p14="http://schemas.microsoft.com/office/powerpoint/2010/main" val="177762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17.png">
            <a:extLst>
              <a:ext uri="{FF2B5EF4-FFF2-40B4-BE49-F238E27FC236}">
                <a16:creationId xmlns:a16="http://schemas.microsoft.com/office/drawing/2014/main" id="{9C55720F-05A3-4AE9-AE8D-AE22FD5590D3}"/>
              </a:ext>
            </a:extLst>
          </p:cNvPr>
          <p:cNvPicPr/>
          <p:nvPr/>
        </p:nvPicPr>
        <p:blipFill>
          <a:blip r:embed="rId3"/>
          <a:srcRect/>
          <a:stretch>
            <a:fillRect/>
          </a:stretch>
        </p:blipFill>
        <p:spPr>
          <a:xfrm>
            <a:off x="163512" y="1157514"/>
            <a:ext cx="6437585" cy="3449320"/>
          </a:xfrm>
          <a:prstGeom prst="rect">
            <a:avLst/>
          </a:prstGeom>
          <a:ln/>
        </p:spPr>
      </p:pic>
      <p:pic>
        <p:nvPicPr>
          <p:cNvPr id="4" name="Picture 3">
            <a:extLst>
              <a:ext uri="{FF2B5EF4-FFF2-40B4-BE49-F238E27FC236}">
                <a16:creationId xmlns:a16="http://schemas.microsoft.com/office/drawing/2014/main" id="{7F8FA257-405C-4E52-AEAD-527AE273630C}"/>
              </a:ext>
            </a:extLst>
          </p:cNvPr>
          <p:cNvPicPr>
            <a:picLocks noChangeAspect="1"/>
          </p:cNvPicPr>
          <p:nvPr/>
        </p:nvPicPr>
        <p:blipFill>
          <a:blip r:embed="rId4"/>
          <a:stretch>
            <a:fillRect/>
          </a:stretch>
        </p:blipFill>
        <p:spPr>
          <a:xfrm>
            <a:off x="6793070" y="1157514"/>
            <a:ext cx="4946085" cy="4406594"/>
          </a:xfrm>
          <a:prstGeom prst="rect">
            <a:avLst/>
          </a:prstGeom>
          <a:ln>
            <a:solidFill>
              <a:schemeClr val="tx1"/>
            </a:solidFill>
          </a:ln>
        </p:spPr>
      </p:pic>
    </p:spTree>
    <p:extLst>
      <p:ext uri="{BB962C8B-B14F-4D97-AF65-F5344CB8AC3E}">
        <p14:creationId xmlns:p14="http://schemas.microsoft.com/office/powerpoint/2010/main" val="3965650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9.png">
            <a:extLst>
              <a:ext uri="{FF2B5EF4-FFF2-40B4-BE49-F238E27FC236}">
                <a16:creationId xmlns:a16="http://schemas.microsoft.com/office/drawing/2014/main" id="{5983FD7C-05FA-44D3-AF0D-3F65E91D5C50}"/>
              </a:ext>
            </a:extLst>
          </p:cNvPr>
          <p:cNvPicPr/>
          <p:nvPr/>
        </p:nvPicPr>
        <p:blipFill>
          <a:blip r:embed="rId3"/>
          <a:srcRect/>
          <a:stretch>
            <a:fillRect/>
          </a:stretch>
        </p:blipFill>
        <p:spPr>
          <a:xfrm>
            <a:off x="119969" y="1386659"/>
            <a:ext cx="7193247" cy="3594644"/>
          </a:xfrm>
          <a:prstGeom prst="rect">
            <a:avLst/>
          </a:prstGeom>
          <a:ln/>
        </p:spPr>
      </p:pic>
      <p:pic>
        <p:nvPicPr>
          <p:cNvPr id="4" name="Picture 3">
            <a:extLst>
              <a:ext uri="{FF2B5EF4-FFF2-40B4-BE49-F238E27FC236}">
                <a16:creationId xmlns:a16="http://schemas.microsoft.com/office/drawing/2014/main" id="{27E74E86-9532-425C-B77E-39F298DCC2F6}"/>
              </a:ext>
            </a:extLst>
          </p:cNvPr>
          <p:cNvPicPr>
            <a:picLocks noChangeAspect="1"/>
          </p:cNvPicPr>
          <p:nvPr/>
        </p:nvPicPr>
        <p:blipFill>
          <a:blip r:embed="rId4"/>
          <a:stretch>
            <a:fillRect/>
          </a:stretch>
        </p:blipFill>
        <p:spPr>
          <a:xfrm>
            <a:off x="7426919" y="879564"/>
            <a:ext cx="4248238" cy="4580709"/>
          </a:xfrm>
          <a:prstGeom prst="rect">
            <a:avLst/>
          </a:prstGeom>
        </p:spPr>
      </p:pic>
    </p:spTree>
    <p:extLst>
      <p:ext uri="{BB962C8B-B14F-4D97-AF65-F5344CB8AC3E}">
        <p14:creationId xmlns:p14="http://schemas.microsoft.com/office/powerpoint/2010/main" val="1514348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15.png">
            <a:extLst>
              <a:ext uri="{FF2B5EF4-FFF2-40B4-BE49-F238E27FC236}">
                <a16:creationId xmlns:a16="http://schemas.microsoft.com/office/drawing/2014/main" id="{6A49BFBD-0B18-4DCE-98C7-FE07BB37C102}"/>
              </a:ext>
            </a:extLst>
          </p:cNvPr>
          <p:cNvPicPr/>
          <p:nvPr/>
        </p:nvPicPr>
        <p:blipFill>
          <a:blip r:embed="rId3"/>
          <a:srcRect/>
          <a:stretch>
            <a:fillRect/>
          </a:stretch>
        </p:blipFill>
        <p:spPr>
          <a:xfrm>
            <a:off x="76428" y="1536881"/>
            <a:ext cx="5453516" cy="3470548"/>
          </a:xfrm>
          <a:prstGeom prst="rect">
            <a:avLst/>
          </a:prstGeom>
          <a:ln/>
        </p:spPr>
      </p:pic>
      <p:pic>
        <p:nvPicPr>
          <p:cNvPr id="6" name="Picture 5">
            <a:extLst>
              <a:ext uri="{FF2B5EF4-FFF2-40B4-BE49-F238E27FC236}">
                <a16:creationId xmlns:a16="http://schemas.microsoft.com/office/drawing/2014/main" id="{5CBFBE47-6408-4A13-A81C-DCB946F14D96}"/>
              </a:ext>
            </a:extLst>
          </p:cNvPr>
          <p:cNvPicPr>
            <a:picLocks noChangeAspect="1"/>
          </p:cNvPicPr>
          <p:nvPr/>
        </p:nvPicPr>
        <p:blipFill>
          <a:blip r:embed="rId4"/>
          <a:stretch>
            <a:fillRect/>
          </a:stretch>
        </p:blipFill>
        <p:spPr>
          <a:xfrm>
            <a:off x="5632434" y="1615259"/>
            <a:ext cx="6010926" cy="3392170"/>
          </a:xfrm>
          <a:prstGeom prst="rect">
            <a:avLst/>
          </a:prstGeom>
          <a:ln>
            <a:solidFill>
              <a:schemeClr val="tx1"/>
            </a:solidFill>
          </a:ln>
        </p:spPr>
      </p:pic>
    </p:spTree>
    <p:extLst>
      <p:ext uri="{BB962C8B-B14F-4D97-AF65-F5344CB8AC3E}">
        <p14:creationId xmlns:p14="http://schemas.microsoft.com/office/powerpoint/2010/main" val="4097991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12.png">
            <a:extLst>
              <a:ext uri="{FF2B5EF4-FFF2-40B4-BE49-F238E27FC236}">
                <a16:creationId xmlns:a16="http://schemas.microsoft.com/office/drawing/2014/main" id="{F89DD1DB-201B-45B3-8B6E-37732FE7E188}"/>
              </a:ext>
            </a:extLst>
          </p:cNvPr>
          <p:cNvPicPr/>
          <p:nvPr/>
        </p:nvPicPr>
        <p:blipFill>
          <a:blip r:embed="rId3"/>
          <a:srcRect/>
          <a:stretch>
            <a:fillRect/>
          </a:stretch>
        </p:blipFill>
        <p:spPr>
          <a:xfrm>
            <a:off x="121920" y="1360169"/>
            <a:ext cx="6112792" cy="3542757"/>
          </a:xfrm>
          <a:prstGeom prst="rect">
            <a:avLst/>
          </a:prstGeom>
          <a:ln/>
        </p:spPr>
      </p:pic>
      <p:pic>
        <p:nvPicPr>
          <p:cNvPr id="4" name="Picture 3">
            <a:extLst>
              <a:ext uri="{FF2B5EF4-FFF2-40B4-BE49-F238E27FC236}">
                <a16:creationId xmlns:a16="http://schemas.microsoft.com/office/drawing/2014/main" id="{285384D7-AF0B-4BED-95B9-8498C22E2CEB}"/>
              </a:ext>
            </a:extLst>
          </p:cNvPr>
          <p:cNvPicPr>
            <a:picLocks noChangeAspect="1"/>
          </p:cNvPicPr>
          <p:nvPr/>
        </p:nvPicPr>
        <p:blipFill>
          <a:blip r:embed="rId4"/>
          <a:stretch>
            <a:fillRect/>
          </a:stretch>
        </p:blipFill>
        <p:spPr>
          <a:xfrm>
            <a:off x="6311139" y="1360169"/>
            <a:ext cx="5758941" cy="3542757"/>
          </a:xfrm>
          <a:prstGeom prst="rect">
            <a:avLst/>
          </a:prstGeom>
          <a:ln>
            <a:solidFill>
              <a:schemeClr val="tx1"/>
            </a:solidFill>
          </a:ln>
        </p:spPr>
      </p:pic>
    </p:spTree>
    <p:extLst>
      <p:ext uri="{BB962C8B-B14F-4D97-AF65-F5344CB8AC3E}">
        <p14:creationId xmlns:p14="http://schemas.microsoft.com/office/powerpoint/2010/main" val="18364212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3" name="image21.png">
            <a:extLst>
              <a:ext uri="{FF2B5EF4-FFF2-40B4-BE49-F238E27FC236}">
                <a16:creationId xmlns:a16="http://schemas.microsoft.com/office/drawing/2014/main" id="{869E34B7-85D3-4FE1-A32A-D6CADC5A2673}"/>
              </a:ext>
            </a:extLst>
          </p:cNvPr>
          <p:cNvPicPr/>
          <p:nvPr/>
        </p:nvPicPr>
        <p:blipFill>
          <a:blip r:embed="rId3"/>
          <a:srcRect/>
          <a:stretch>
            <a:fillRect/>
          </a:stretch>
        </p:blipFill>
        <p:spPr>
          <a:xfrm>
            <a:off x="215764" y="1416776"/>
            <a:ext cx="6739261" cy="3338104"/>
          </a:xfrm>
          <a:prstGeom prst="rect">
            <a:avLst/>
          </a:prstGeom>
          <a:ln/>
        </p:spPr>
      </p:pic>
      <p:pic>
        <p:nvPicPr>
          <p:cNvPr id="6" name="Picture 5">
            <a:extLst>
              <a:ext uri="{FF2B5EF4-FFF2-40B4-BE49-F238E27FC236}">
                <a16:creationId xmlns:a16="http://schemas.microsoft.com/office/drawing/2014/main" id="{0FC064BF-40B5-4643-8294-5F56D1813E03}"/>
              </a:ext>
            </a:extLst>
          </p:cNvPr>
          <p:cNvPicPr>
            <a:picLocks noChangeAspect="1"/>
          </p:cNvPicPr>
          <p:nvPr/>
        </p:nvPicPr>
        <p:blipFill>
          <a:blip r:embed="rId4"/>
          <a:stretch>
            <a:fillRect/>
          </a:stretch>
        </p:blipFill>
        <p:spPr>
          <a:xfrm>
            <a:off x="7346910" y="296092"/>
            <a:ext cx="3321089" cy="5584132"/>
          </a:xfrm>
          <a:prstGeom prst="rect">
            <a:avLst/>
          </a:prstGeom>
          <a:ln>
            <a:solidFill>
              <a:schemeClr val="tx1"/>
            </a:solidFill>
          </a:ln>
        </p:spPr>
      </p:pic>
    </p:spTree>
    <p:extLst>
      <p:ext uri="{BB962C8B-B14F-4D97-AF65-F5344CB8AC3E}">
        <p14:creationId xmlns:p14="http://schemas.microsoft.com/office/powerpoint/2010/main" val="24826549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4" name="image14.png">
            <a:extLst>
              <a:ext uri="{FF2B5EF4-FFF2-40B4-BE49-F238E27FC236}">
                <a16:creationId xmlns:a16="http://schemas.microsoft.com/office/drawing/2014/main" id="{904293E3-A553-4C8F-BE75-0BD4CF820271}"/>
              </a:ext>
            </a:extLst>
          </p:cNvPr>
          <p:cNvPicPr/>
          <p:nvPr/>
        </p:nvPicPr>
        <p:blipFill>
          <a:blip r:embed="rId3"/>
          <a:srcRect/>
          <a:stretch>
            <a:fillRect/>
          </a:stretch>
        </p:blipFill>
        <p:spPr>
          <a:xfrm>
            <a:off x="102552" y="1343116"/>
            <a:ext cx="7001553" cy="3498850"/>
          </a:xfrm>
          <a:prstGeom prst="rect">
            <a:avLst/>
          </a:prstGeom>
          <a:ln/>
        </p:spPr>
      </p:pic>
      <p:pic>
        <p:nvPicPr>
          <p:cNvPr id="6" name="Picture 5">
            <a:extLst>
              <a:ext uri="{FF2B5EF4-FFF2-40B4-BE49-F238E27FC236}">
                <a16:creationId xmlns:a16="http://schemas.microsoft.com/office/drawing/2014/main" id="{0EBD617A-4667-4564-8289-CF7D0E2866BC}"/>
              </a:ext>
            </a:extLst>
          </p:cNvPr>
          <p:cNvPicPr>
            <a:picLocks noChangeAspect="1"/>
          </p:cNvPicPr>
          <p:nvPr/>
        </p:nvPicPr>
        <p:blipFill>
          <a:blip r:embed="rId4"/>
          <a:stretch>
            <a:fillRect/>
          </a:stretch>
        </p:blipFill>
        <p:spPr>
          <a:xfrm>
            <a:off x="7182482" y="809256"/>
            <a:ext cx="4626983" cy="4999360"/>
          </a:xfrm>
          <a:prstGeom prst="rect">
            <a:avLst/>
          </a:prstGeom>
          <a:ln>
            <a:solidFill>
              <a:schemeClr val="tx1"/>
            </a:solidFill>
          </a:ln>
        </p:spPr>
      </p:pic>
    </p:spTree>
    <p:extLst>
      <p:ext uri="{BB962C8B-B14F-4D97-AF65-F5344CB8AC3E}">
        <p14:creationId xmlns:p14="http://schemas.microsoft.com/office/powerpoint/2010/main" val="10310946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5" name="image13.png">
            <a:extLst>
              <a:ext uri="{FF2B5EF4-FFF2-40B4-BE49-F238E27FC236}">
                <a16:creationId xmlns:a16="http://schemas.microsoft.com/office/drawing/2014/main" id="{9CEBA59A-D147-4C88-9FAA-B03EC0378B02}"/>
              </a:ext>
            </a:extLst>
          </p:cNvPr>
          <p:cNvPicPr/>
          <p:nvPr/>
        </p:nvPicPr>
        <p:blipFill>
          <a:blip r:embed="rId3"/>
          <a:srcRect/>
          <a:stretch>
            <a:fillRect/>
          </a:stretch>
        </p:blipFill>
        <p:spPr>
          <a:xfrm>
            <a:off x="111261" y="1436007"/>
            <a:ext cx="6873013" cy="3571421"/>
          </a:xfrm>
          <a:prstGeom prst="rect">
            <a:avLst/>
          </a:prstGeom>
          <a:ln/>
        </p:spPr>
      </p:pic>
      <p:pic>
        <p:nvPicPr>
          <p:cNvPr id="3" name="Picture 2">
            <a:extLst>
              <a:ext uri="{FF2B5EF4-FFF2-40B4-BE49-F238E27FC236}">
                <a16:creationId xmlns:a16="http://schemas.microsoft.com/office/drawing/2014/main" id="{5F62E037-5986-4972-8138-948F1D57BD44}"/>
              </a:ext>
            </a:extLst>
          </p:cNvPr>
          <p:cNvPicPr>
            <a:picLocks noChangeAspect="1"/>
          </p:cNvPicPr>
          <p:nvPr/>
        </p:nvPicPr>
        <p:blipFill>
          <a:blip r:embed="rId4"/>
          <a:stretch>
            <a:fillRect/>
          </a:stretch>
        </p:blipFill>
        <p:spPr>
          <a:xfrm>
            <a:off x="7119358" y="1324609"/>
            <a:ext cx="4325576" cy="3866606"/>
          </a:xfrm>
          <a:prstGeom prst="rect">
            <a:avLst/>
          </a:prstGeom>
          <a:ln>
            <a:solidFill>
              <a:schemeClr val="tx1"/>
            </a:solidFill>
          </a:ln>
        </p:spPr>
      </p:pic>
    </p:spTree>
    <p:extLst>
      <p:ext uri="{BB962C8B-B14F-4D97-AF65-F5344CB8AC3E}">
        <p14:creationId xmlns:p14="http://schemas.microsoft.com/office/powerpoint/2010/main" val="42036975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794A76BE-A0A0-B07B-78B1-C35B9269F26F}"/>
            </a:ext>
          </a:extLst>
        </p:cNvPr>
        <p:cNvGrpSpPr/>
        <p:nvPr/>
      </p:nvGrpSpPr>
      <p:grpSpPr>
        <a:xfrm>
          <a:off x="0" y="0"/>
          <a:ext cx="0" cy="0"/>
          <a:chOff x="0" y="0"/>
          <a:chExt cx="0" cy="0"/>
        </a:xfrm>
      </p:grpSpPr>
      <p:sp>
        <p:nvSpPr>
          <p:cNvPr id="431" name="Google Shape;431;g3a981422744_2_179">
            <a:extLst>
              <a:ext uri="{FF2B5EF4-FFF2-40B4-BE49-F238E27FC236}">
                <a16:creationId xmlns:a16="http://schemas.microsoft.com/office/drawing/2014/main" id="{7F183577-9890-714B-78DE-472A48B61173}"/>
              </a:ext>
            </a:extLst>
          </p:cNvPr>
          <p:cNvSpPr txBox="1"/>
          <p:nvPr/>
        </p:nvSpPr>
        <p:spPr>
          <a:xfrm>
            <a:off x="0" y="116800"/>
            <a:ext cx="4217700" cy="627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a:solidFill>
                  <a:schemeClr val="dk1"/>
                </a:solidFill>
                <a:latin typeface="Calibri"/>
                <a:ea typeface="Calibri"/>
                <a:cs typeface="Calibri"/>
                <a:sym typeface="Calibri"/>
              </a:rPr>
              <a:t>USE CASE DESCRIPTION</a:t>
            </a:r>
            <a:endParaRPr sz="3200" b="1" i="0" u="none" strike="noStrike" cap="none">
              <a:solidFill>
                <a:schemeClr val="dk1"/>
              </a:solidFill>
              <a:latin typeface="Calibri"/>
              <a:ea typeface="Calibri"/>
              <a:cs typeface="Calibri"/>
              <a:sym typeface="Calibri"/>
            </a:endParaRPr>
          </a:p>
        </p:txBody>
      </p:sp>
      <p:pic>
        <p:nvPicPr>
          <p:cNvPr id="4" name="image6.png">
            <a:extLst>
              <a:ext uri="{FF2B5EF4-FFF2-40B4-BE49-F238E27FC236}">
                <a16:creationId xmlns:a16="http://schemas.microsoft.com/office/drawing/2014/main" id="{92788EE7-13B3-4488-8B6B-AD56691F7726}"/>
              </a:ext>
            </a:extLst>
          </p:cNvPr>
          <p:cNvPicPr/>
          <p:nvPr/>
        </p:nvPicPr>
        <p:blipFill>
          <a:blip r:embed="rId3"/>
          <a:srcRect/>
          <a:stretch>
            <a:fillRect/>
          </a:stretch>
        </p:blipFill>
        <p:spPr>
          <a:xfrm>
            <a:off x="111261" y="1283969"/>
            <a:ext cx="6533380" cy="3575413"/>
          </a:xfrm>
          <a:prstGeom prst="rect">
            <a:avLst/>
          </a:prstGeom>
          <a:ln/>
        </p:spPr>
      </p:pic>
      <p:pic>
        <p:nvPicPr>
          <p:cNvPr id="7" name="Picture 6">
            <a:extLst>
              <a:ext uri="{FF2B5EF4-FFF2-40B4-BE49-F238E27FC236}">
                <a16:creationId xmlns:a16="http://schemas.microsoft.com/office/drawing/2014/main" id="{1D1B8F2D-D4DF-423B-ABFF-48DAFBBE2D41}"/>
              </a:ext>
            </a:extLst>
          </p:cNvPr>
          <p:cNvPicPr>
            <a:picLocks noChangeAspect="1"/>
          </p:cNvPicPr>
          <p:nvPr/>
        </p:nvPicPr>
        <p:blipFill>
          <a:blip r:embed="rId4"/>
          <a:stretch>
            <a:fillRect/>
          </a:stretch>
        </p:blipFill>
        <p:spPr>
          <a:xfrm>
            <a:off x="6644641" y="1097907"/>
            <a:ext cx="5284538" cy="3892104"/>
          </a:xfrm>
          <a:prstGeom prst="rect">
            <a:avLst/>
          </a:prstGeom>
          <a:ln>
            <a:solidFill>
              <a:schemeClr val="tx1"/>
            </a:solidFill>
          </a:ln>
        </p:spPr>
      </p:pic>
    </p:spTree>
    <p:extLst>
      <p:ext uri="{BB962C8B-B14F-4D97-AF65-F5344CB8AC3E}">
        <p14:creationId xmlns:p14="http://schemas.microsoft.com/office/powerpoint/2010/main" val="2650980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3a981422744_2_163"/>
          <p:cNvSpPr txBox="1"/>
          <p:nvPr/>
        </p:nvSpPr>
        <p:spPr>
          <a:xfrm>
            <a:off x="0" y="156950"/>
            <a:ext cx="832165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1" i="0" u="none" strike="noStrike" cap="none" dirty="0">
                <a:solidFill>
                  <a:schemeClr val="dk1"/>
                </a:solidFill>
                <a:latin typeface="Calibri"/>
                <a:ea typeface="Calibri"/>
                <a:cs typeface="Calibri"/>
                <a:sym typeface="Calibri"/>
              </a:rPr>
              <a:t>ACTIVITY DIAGRAM</a:t>
            </a:r>
            <a:endParaRPr sz="3200" b="1"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188EDDB4-F736-4250-BB60-F315D4CB1EBA}"/>
              </a:ext>
            </a:extLst>
          </p:cNvPr>
          <p:cNvPicPr/>
          <p:nvPr/>
        </p:nvPicPr>
        <p:blipFill rotWithShape="1">
          <a:blip r:embed="rId3" cstate="print">
            <a:extLst>
              <a:ext uri="{28A0092B-C50C-407E-A947-70E740481C1C}">
                <a14:useLocalDpi xmlns:a14="http://schemas.microsoft.com/office/drawing/2010/main" val="0"/>
              </a:ext>
            </a:extLst>
          </a:blip>
          <a:srcRect l="5992" t="7374" r="6050" b="50461"/>
          <a:stretch/>
        </p:blipFill>
        <p:spPr bwMode="auto">
          <a:xfrm>
            <a:off x="84431" y="1098293"/>
            <a:ext cx="5739909" cy="3891718"/>
          </a:xfrm>
          <a:prstGeom prst="rect">
            <a:avLst/>
          </a:prstGeom>
          <a:noFill/>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AA727E43-E043-4F61-B5B0-B02EBFA505B4}"/>
              </a:ext>
            </a:extLst>
          </p:cNvPr>
          <p:cNvPicPr/>
          <p:nvPr/>
        </p:nvPicPr>
        <p:blipFill rotWithShape="1">
          <a:blip r:embed="rId3" cstate="print">
            <a:extLst>
              <a:ext uri="{28A0092B-C50C-407E-A947-70E740481C1C}">
                <a14:useLocalDpi xmlns:a14="http://schemas.microsoft.com/office/drawing/2010/main" val="0"/>
              </a:ext>
            </a:extLst>
          </a:blip>
          <a:srcRect l="6845" t="45953" r="5197" b="15584"/>
          <a:stretch/>
        </p:blipFill>
        <p:spPr bwMode="auto">
          <a:xfrm>
            <a:off x="5824340" y="1202795"/>
            <a:ext cx="6292215" cy="3891718"/>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 name="Picture 3">
            <a:extLst>
              <a:ext uri="{FF2B5EF4-FFF2-40B4-BE49-F238E27FC236}">
                <a16:creationId xmlns:a16="http://schemas.microsoft.com/office/drawing/2014/main" id="{BEE4AC84-1969-432E-BC5A-45607BD3EDB0}"/>
              </a:ext>
            </a:extLst>
          </p:cNvPr>
          <p:cNvPicPr/>
          <p:nvPr/>
        </p:nvPicPr>
        <p:blipFill rotWithShape="1">
          <a:blip r:embed="rId3" cstate="print">
            <a:extLst>
              <a:ext uri="{28A0092B-C50C-407E-A947-70E740481C1C}">
                <a14:useLocalDpi xmlns:a14="http://schemas.microsoft.com/office/drawing/2010/main" val="0"/>
              </a:ext>
            </a:extLst>
          </a:blip>
          <a:srcRect r="39000" b="41444"/>
          <a:stretch/>
        </p:blipFill>
        <p:spPr bwMode="auto">
          <a:xfrm>
            <a:off x="1952625" y="297575"/>
            <a:ext cx="8093634" cy="5736390"/>
          </a:xfrm>
          <a:prstGeom prst="rect">
            <a:avLst/>
          </a:prstGeom>
          <a:noFill/>
          <a:ln>
            <a:noFill/>
          </a:ln>
          <a:extLst>
            <a:ext uri="{53640926-AAD7-44D8-BBD7-CCE9431645EC}">
              <a14:shadowObscured xmlns:a14="http://schemas.microsoft.com/office/drawing/2010/main"/>
            </a:ext>
          </a:extLst>
        </p:spPr>
      </p:pic>
      <p:sp>
        <p:nvSpPr>
          <p:cNvPr id="400" name="Google Shape;400;g39a138d6f87_0_55"/>
          <p:cNvSpPr txBox="1"/>
          <p:nvPr/>
        </p:nvSpPr>
        <p:spPr>
          <a:xfrm>
            <a:off x="0" y="183650"/>
            <a:ext cx="4217700" cy="627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3200" b="1">
                <a:solidFill>
                  <a:schemeClr val="dk1"/>
                </a:solidFill>
                <a:latin typeface="Calibri"/>
                <a:ea typeface="Calibri"/>
                <a:cs typeface="Calibri"/>
                <a:sym typeface="Calibri"/>
              </a:rPr>
              <a:t>CLASS DIAGRAM</a:t>
            </a:r>
            <a:endParaRPr sz="3200" b="1">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621507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6" name="Picture 5">
            <a:extLst>
              <a:ext uri="{FF2B5EF4-FFF2-40B4-BE49-F238E27FC236}">
                <a16:creationId xmlns:a16="http://schemas.microsoft.com/office/drawing/2014/main" id="{3155A093-0EDA-4BA0-BFB8-8B8233B8682D}"/>
              </a:ext>
            </a:extLst>
          </p:cNvPr>
          <p:cNvPicPr/>
          <p:nvPr/>
        </p:nvPicPr>
        <p:blipFill rotWithShape="1">
          <a:blip r:embed="rId3" cstate="print">
            <a:extLst>
              <a:ext uri="{28A0092B-C50C-407E-A947-70E740481C1C}">
                <a14:useLocalDpi xmlns:a14="http://schemas.microsoft.com/office/drawing/2010/main" val="0"/>
              </a:ext>
            </a:extLst>
          </a:blip>
          <a:srcRect l="1409" t="48317" r="37591" b="189"/>
          <a:stretch/>
        </p:blipFill>
        <p:spPr bwMode="auto">
          <a:xfrm>
            <a:off x="2236230" y="497600"/>
            <a:ext cx="8276832" cy="5158803"/>
          </a:xfrm>
          <a:prstGeom prst="rect">
            <a:avLst/>
          </a:prstGeom>
          <a:noFill/>
          <a:ln>
            <a:noFill/>
          </a:ln>
          <a:extLst>
            <a:ext uri="{53640926-AAD7-44D8-BBD7-CCE9431645EC}">
              <a14:shadowObscured xmlns:a14="http://schemas.microsoft.com/office/drawing/2010/main"/>
            </a:ext>
          </a:extLst>
        </p:spPr>
      </p:pic>
      <p:sp>
        <p:nvSpPr>
          <p:cNvPr id="400" name="Google Shape;400;g39a138d6f87_0_55"/>
          <p:cNvSpPr txBox="1"/>
          <p:nvPr/>
        </p:nvSpPr>
        <p:spPr>
          <a:xfrm>
            <a:off x="0" y="183650"/>
            <a:ext cx="4217700" cy="627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3200" b="1">
                <a:solidFill>
                  <a:schemeClr val="dk1"/>
                </a:solidFill>
                <a:latin typeface="Calibri"/>
                <a:ea typeface="Calibri"/>
                <a:cs typeface="Calibri"/>
                <a:sym typeface="Calibri"/>
              </a:rPr>
              <a:t>CLASS DIAGRAM</a:t>
            </a:r>
            <a:endParaRPr sz="3200" b="1">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1">
          <a:extLst>
            <a:ext uri="{FF2B5EF4-FFF2-40B4-BE49-F238E27FC236}">
              <a16:creationId xmlns:a16="http://schemas.microsoft.com/office/drawing/2014/main" id="{A8AB71F2-725B-A78C-3EA6-254F000FF826}"/>
            </a:ext>
          </a:extLst>
        </p:cNvPr>
        <p:cNvGrpSpPr/>
        <p:nvPr/>
      </p:nvGrpSpPr>
      <p:grpSpPr>
        <a:xfrm>
          <a:off x="0" y="0"/>
          <a:ext cx="0" cy="0"/>
          <a:chOff x="0" y="0"/>
          <a:chExt cx="0" cy="0"/>
        </a:xfrm>
      </p:grpSpPr>
      <p:sp>
        <p:nvSpPr>
          <p:cNvPr id="412" name="Google Shape;412;g3a981422744_2_163">
            <a:extLst>
              <a:ext uri="{FF2B5EF4-FFF2-40B4-BE49-F238E27FC236}">
                <a16:creationId xmlns:a16="http://schemas.microsoft.com/office/drawing/2014/main" id="{DE83D7BF-2047-FCF0-4557-6EB4D3A76C9D}"/>
              </a:ext>
            </a:extLst>
          </p:cNvPr>
          <p:cNvSpPr txBox="1"/>
          <p:nvPr/>
        </p:nvSpPr>
        <p:spPr>
          <a:xfrm>
            <a:off x="-1" y="156950"/>
            <a:ext cx="4954797" cy="627834"/>
          </a:xfrm>
          <a:prstGeom prst="rect">
            <a:avLst/>
          </a:prstGeom>
          <a:noFill/>
          <a:ln>
            <a:noFill/>
          </a:ln>
        </p:spPr>
        <p:txBody>
          <a:bodyPr spcFirstLastPara="1" wrap="square" lIns="91425" tIns="91425" rIns="91425" bIns="91425" anchor="t" anchorCtr="0">
            <a:spAutoFit/>
          </a:bodyPr>
          <a:lstStyle/>
          <a:p>
            <a:pPr>
              <a:lnSpc>
                <a:spcPct val="90000"/>
              </a:lnSpc>
            </a:pPr>
            <a:r>
              <a:rPr lang="en-GB" sz="3200" b="1" dirty="0">
                <a:solidFill>
                  <a:schemeClr val="dk1"/>
                </a:solidFill>
                <a:latin typeface="Calibri"/>
                <a:ea typeface="Calibri"/>
                <a:cs typeface="Calibri"/>
                <a:sym typeface="Calibri"/>
              </a:rPr>
              <a:t>PACKAGE DIAGRAM</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E472A55-ED8E-43D6-964D-9CB10395BABD}"/>
              </a:ext>
            </a:extLst>
          </p:cNvPr>
          <p:cNvPicPr/>
          <p:nvPr/>
        </p:nvPicPr>
        <p:blipFill rotWithShape="1">
          <a:blip r:embed="rId3" cstate="print">
            <a:extLst>
              <a:ext uri="{28A0092B-C50C-407E-A947-70E740481C1C}">
                <a14:useLocalDpi xmlns:a14="http://schemas.microsoft.com/office/drawing/2010/main" val="0"/>
              </a:ext>
            </a:extLst>
          </a:blip>
          <a:srcRect l="13069" t="18702" r="4365" b="15784"/>
          <a:stretch/>
        </p:blipFill>
        <p:spPr bwMode="auto">
          <a:xfrm>
            <a:off x="3594936" y="825643"/>
            <a:ext cx="4834961" cy="520671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2935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1">
          <a:extLst>
            <a:ext uri="{FF2B5EF4-FFF2-40B4-BE49-F238E27FC236}">
              <a16:creationId xmlns:a16="http://schemas.microsoft.com/office/drawing/2014/main" id="{5984CF6B-87CD-3D0B-25E4-4D725FAA9D4A}"/>
            </a:ext>
          </a:extLst>
        </p:cNvPr>
        <p:cNvGrpSpPr/>
        <p:nvPr/>
      </p:nvGrpSpPr>
      <p:grpSpPr>
        <a:xfrm>
          <a:off x="0" y="0"/>
          <a:ext cx="0" cy="0"/>
          <a:chOff x="0" y="0"/>
          <a:chExt cx="0" cy="0"/>
        </a:xfrm>
      </p:grpSpPr>
      <p:pic>
        <p:nvPicPr>
          <p:cNvPr id="4" name="image6.png">
            <a:extLst>
              <a:ext uri="{FF2B5EF4-FFF2-40B4-BE49-F238E27FC236}">
                <a16:creationId xmlns:a16="http://schemas.microsoft.com/office/drawing/2014/main" id="{AEB08791-EDA6-4EE9-953E-6FABBC62BCB6}"/>
              </a:ext>
            </a:extLst>
          </p:cNvPr>
          <p:cNvPicPr/>
          <p:nvPr/>
        </p:nvPicPr>
        <p:blipFill rotWithShape="1">
          <a:blip r:embed="rId3">
            <a:extLst>
              <a:ext uri="{28A0092B-C50C-407E-A947-70E740481C1C}">
                <a14:useLocalDpi xmlns:a14="http://schemas.microsoft.com/office/drawing/2010/main" val="0"/>
              </a:ext>
            </a:extLst>
          </a:blip>
          <a:srcRect b="44236"/>
          <a:stretch/>
        </p:blipFill>
        <p:spPr>
          <a:xfrm>
            <a:off x="1223915" y="669789"/>
            <a:ext cx="8417109" cy="5103993"/>
          </a:xfrm>
          <a:prstGeom prst="rect">
            <a:avLst/>
          </a:prstGeom>
          <a:ln/>
        </p:spPr>
      </p:pic>
      <p:sp>
        <p:nvSpPr>
          <p:cNvPr id="412" name="Google Shape;412;g3a981422744_2_163">
            <a:extLst>
              <a:ext uri="{FF2B5EF4-FFF2-40B4-BE49-F238E27FC236}">
                <a16:creationId xmlns:a16="http://schemas.microsoft.com/office/drawing/2014/main" id="{A2CBFE26-50DB-E065-FD0B-F3F1A3E7A9ED}"/>
              </a:ext>
            </a:extLst>
          </p:cNvPr>
          <p:cNvSpPr txBox="1"/>
          <p:nvPr/>
        </p:nvSpPr>
        <p:spPr>
          <a:xfrm>
            <a:off x="-1" y="156950"/>
            <a:ext cx="4954797" cy="627834"/>
          </a:xfrm>
          <a:prstGeom prst="rect">
            <a:avLst/>
          </a:prstGeom>
          <a:noFill/>
          <a:ln>
            <a:noFill/>
          </a:ln>
        </p:spPr>
        <p:txBody>
          <a:bodyPr spcFirstLastPara="1" wrap="square" lIns="91425" tIns="91425" rIns="91425" bIns="91425" anchor="t" anchorCtr="0">
            <a:spAutoFit/>
          </a:bodyPr>
          <a:lstStyle/>
          <a:p>
            <a:pPr>
              <a:lnSpc>
                <a:spcPct val="90000"/>
              </a:lnSpc>
            </a:pPr>
            <a:r>
              <a:rPr lang="en-GB" sz="3200" b="1" dirty="0">
                <a:solidFill>
                  <a:schemeClr val="dk1"/>
                </a:solidFill>
                <a:latin typeface="Calibri"/>
                <a:ea typeface="Calibri"/>
                <a:cs typeface="Calibri"/>
                <a:sym typeface="Calibri"/>
              </a:rPr>
              <a:t>COMPONENT DIAGRAM</a:t>
            </a:r>
            <a:endParaRPr lang="en-US" dirty="0">
              <a:solidFill>
                <a:schemeClr val="dk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8834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1">
          <a:extLst>
            <a:ext uri="{FF2B5EF4-FFF2-40B4-BE49-F238E27FC236}">
              <a16:creationId xmlns:a16="http://schemas.microsoft.com/office/drawing/2014/main" id="{5984CF6B-87CD-3D0B-25E4-4D725FAA9D4A}"/>
            </a:ext>
          </a:extLst>
        </p:cNvPr>
        <p:cNvGrpSpPr/>
        <p:nvPr/>
      </p:nvGrpSpPr>
      <p:grpSpPr>
        <a:xfrm>
          <a:off x="0" y="0"/>
          <a:ext cx="0" cy="0"/>
          <a:chOff x="0" y="0"/>
          <a:chExt cx="0" cy="0"/>
        </a:xfrm>
      </p:grpSpPr>
      <p:pic>
        <p:nvPicPr>
          <p:cNvPr id="4" name="image6.png">
            <a:extLst>
              <a:ext uri="{FF2B5EF4-FFF2-40B4-BE49-F238E27FC236}">
                <a16:creationId xmlns:a16="http://schemas.microsoft.com/office/drawing/2014/main" id="{AEB08791-EDA6-4EE9-953E-6FABBC62BCB6}"/>
              </a:ext>
            </a:extLst>
          </p:cNvPr>
          <p:cNvPicPr/>
          <p:nvPr/>
        </p:nvPicPr>
        <p:blipFill rotWithShape="1">
          <a:blip r:embed="rId3">
            <a:extLst>
              <a:ext uri="{28A0092B-C50C-407E-A947-70E740481C1C}">
                <a14:useLocalDpi xmlns:a14="http://schemas.microsoft.com/office/drawing/2010/main" val="0"/>
              </a:ext>
            </a:extLst>
          </a:blip>
          <a:srcRect l="931" t="52623" r="-931" b="184"/>
          <a:stretch/>
        </p:blipFill>
        <p:spPr>
          <a:xfrm>
            <a:off x="788487" y="862148"/>
            <a:ext cx="9638949" cy="4946469"/>
          </a:xfrm>
          <a:prstGeom prst="rect">
            <a:avLst/>
          </a:prstGeom>
          <a:ln/>
        </p:spPr>
      </p:pic>
      <p:sp>
        <p:nvSpPr>
          <p:cNvPr id="412" name="Google Shape;412;g3a981422744_2_163">
            <a:extLst>
              <a:ext uri="{FF2B5EF4-FFF2-40B4-BE49-F238E27FC236}">
                <a16:creationId xmlns:a16="http://schemas.microsoft.com/office/drawing/2014/main" id="{A2CBFE26-50DB-E065-FD0B-F3F1A3E7A9ED}"/>
              </a:ext>
            </a:extLst>
          </p:cNvPr>
          <p:cNvSpPr txBox="1"/>
          <p:nvPr/>
        </p:nvSpPr>
        <p:spPr>
          <a:xfrm>
            <a:off x="-1" y="156950"/>
            <a:ext cx="4954797" cy="627834"/>
          </a:xfrm>
          <a:prstGeom prst="rect">
            <a:avLst/>
          </a:prstGeom>
          <a:noFill/>
          <a:ln>
            <a:noFill/>
          </a:ln>
        </p:spPr>
        <p:txBody>
          <a:bodyPr spcFirstLastPara="1" wrap="square" lIns="91425" tIns="91425" rIns="91425" bIns="91425" anchor="t" anchorCtr="0">
            <a:spAutoFit/>
          </a:bodyPr>
          <a:lstStyle/>
          <a:p>
            <a:pPr>
              <a:lnSpc>
                <a:spcPct val="90000"/>
              </a:lnSpc>
            </a:pPr>
            <a:r>
              <a:rPr lang="en-GB" sz="3200" b="1" dirty="0">
                <a:solidFill>
                  <a:schemeClr val="dk1"/>
                </a:solidFill>
                <a:latin typeface="Calibri"/>
                <a:ea typeface="Calibri"/>
                <a:cs typeface="Calibri"/>
                <a:sym typeface="Calibri"/>
              </a:rPr>
              <a:t>COMPONENT DIAGRAM</a:t>
            </a:r>
            <a:endParaRPr lang="en-US" dirty="0">
              <a:solidFill>
                <a:schemeClr val="dk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632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3a981422744_2_163"/>
          <p:cNvSpPr txBox="1"/>
          <p:nvPr/>
        </p:nvSpPr>
        <p:spPr>
          <a:xfrm>
            <a:off x="-1" y="156950"/>
            <a:ext cx="4954797"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GB" sz="3200" b="1" dirty="0">
                <a:solidFill>
                  <a:schemeClr val="dk1"/>
                </a:solidFill>
                <a:latin typeface="Calibri"/>
                <a:ea typeface="Calibri"/>
                <a:cs typeface="Calibri"/>
                <a:sym typeface="Calibri"/>
              </a:rPr>
              <a:t>DEPLOYMENT</a:t>
            </a:r>
            <a:r>
              <a:rPr lang="en-US" sz="3200" b="1" i="0" u="none" strike="noStrike" cap="none" dirty="0">
                <a:solidFill>
                  <a:schemeClr val="dk1"/>
                </a:solidFill>
                <a:latin typeface="Calibri"/>
                <a:ea typeface="Calibri"/>
                <a:cs typeface="Calibri"/>
                <a:sym typeface="Calibri"/>
              </a:rPr>
              <a:t> DIAGRAM</a:t>
            </a:r>
            <a:endParaRPr sz="3200" b="1" i="0" u="none" strike="noStrike" cap="none" dirty="0">
              <a:solidFill>
                <a:schemeClr val="dk1"/>
              </a:solidFill>
              <a:latin typeface="Calibri"/>
              <a:ea typeface="Calibri"/>
              <a:cs typeface="Calibri"/>
              <a:sym typeface="Calibri"/>
            </a:endParaRPr>
          </a:p>
        </p:txBody>
      </p:sp>
      <p:pic>
        <p:nvPicPr>
          <p:cNvPr id="4" name="image4.png">
            <a:extLst>
              <a:ext uri="{FF2B5EF4-FFF2-40B4-BE49-F238E27FC236}">
                <a16:creationId xmlns:a16="http://schemas.microsoft.com/office/drawing/2014/main" id="{72B332DE-EB17-427A-A08D-AD528958ACA4}"/>
              </a:ext>
            </a:extLst>
          </p:cNvPr>
          <p:cNvPicPr/>
          <p:nvPr/>
        </p:nvPicPr>
        <p:blipFill rotWithShape="1">
          <a:blip r:embed="rId3">
            <a:extLst>
              <a:ext uri="{28A0092B-C50C-407E-A947-70E740481C1C}">
                <a14:useLocalDpi xmlns:a14="http://schemas.microsoft.com/office/drawing/2010/main" val="0"/>
              </a:ext>
            </a:extLst>
          </a:blip>
          <a:srcRect b="30960"/>
          <a:stretch/>
        </p:blipFill>
        <p:spPr>
          <a:xfrm>
            <a:off x="365125" y="277662"/>
            <a:ext cx="7464421" cy="5626748"/>
          </a:xfrm>
          <a:prstGeom prst="rect">
            <a:avLst/>
          </a:prstGeom>
          <a:ln/>
        </p:spPr>
      </p:pic>
      <p:pic>
        <p:nvPicPr>
          <p:cNvPr id="5" name="image4.png">
            <a:extLst>
              <a:ext uri="{FF2B5EF4-FFF2-40B4-BE49-F238E27FC236}">
                <a16:creationId xmlns:a16="http://schemas.microsoft.com/office/drawing/2014/main" id="{8F96CEEA-5E4C-4CFE-83F3-AE5F76DB5F89}"/>
              </a:ext>
            </a:extLst>
          </p:cNvPr>
          <p:cNvPicPr/>
          <p:nvPr/>
        </p:nvPicPr>
        <p:blipFill rotWithShape="1">
          <a:blip r:embed="rId3">
            <a:extLst>
              <a:ext uri="{28A0092B-C50C-407E-A947-70E740481C1C}">
                <a14:useLocalDpi xmlns:a14="http://schemas.microsoft.com/office/drawing/2010/main" val="0"/>
              </a:ext>
            </a:extLst>
          </a:blip>
          <a:srcRect l="33387" t="27899" r="234" b="-346"/>
          <a:stretch/>
        </p:blipFill>
        <p:spPr>
          <a:xfrm>
            <a:off x="8265356" y="277662"/>
            <a:ext cx="4954797" cy="5904411"/>
          </a:xfrm>
          <a:prstGeom prst="rect">
            <a:avLst/>
          </a:prstGeom>
          <a:ln/>
        </p:spPr>
      </p:pic>
    </p:spTree>
    <p:extLst>
      <p:ext uri="{BB962C8B-B14F-4D97-AF65-F5344CB8AC3E}">
        <p14:creationId xmlns:p14="http://schemas.microsoft.com/office/powerpoint/2010/main" val="1578104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Testing Overview</a:t>
            </a:r>
            <a:endParaRPr sz="3200" b="1" i="0" u="none" strike="noStrike" cap="none" dirty="0">
              <a:solidFill>
                <a:schemeClr val="dk1"/>
              </a:solidFill>
              <a:latin typeface="Calibri"/>
              <a:ea typeface="Calibri"/>
              <a:cs typeface="Calibri"/>
              <a:sym typeface="Calibri"/>
            </a:endParaRPr>
          </a:p>
        </p:txBody>
      </p:sp>
      <p:sp>
        <p:nvSpPr>
          <p:cNvPr id="5" name="Google Shape;412;g3a981422744_2_163">
            <a:extLst>
              <a:ext uri="{FF2B5EF4-FFF2-40B4-BE49-F238E27FC236}">
                <a16:creationId xmlns:a16="http://schemas.microsoft.com/office/drawing/2014/main" id="{C881606D-65DA-47F4-A1B8-A4C70EB7EE09}"/>
              </a:ext>
            </a:extLst>
          </p:cNvPr>
          <p:cNvSpPr txBox="1"/>
          <p:nvPr/>
        </p:nvSpPr>
        <p:spPr>
          <a:xfrm>
            <a:off x="618308" y="917574"/>
            <a:ext cx="10485120" cy="5336815"/>
          </a:xfrm>
          <a:prstGeom prst="rect">
            <a:avLst/>
          </a:prstGeom>
          <a:noFill/>
          <a:ln>
            <a:noFill/>
          </a:ln>
        </p:spPr>
        <p:txBody>
          <a:bodyPr spcFirstLastPara="1" wrap="square" lIns="91425" tIns="91425" rIns="91425" bIns="91425" anchor="t" anchorCtr="0">
            <a:spAutoFit/>
          </a:bodyPr>
          <a:lstStyle/>
          <a:p>
            <a:pPr marL="514350" marR="0" lvl="0" indent="-514350" algn="l" rtl="0">
              <a:lnSpc>
                <a:spcPct val="90000"/>
              </a:lnSpc>
              <a:spcBef>
                <a:spcPts val="0"/>
              </a:spcBef>
              <a:spcAft>
                <a:spcPts val="0"/>
              </a:spcAft>
              <a:buClr>
                <a:srgbClr val="000000"/>
              </a:buClr>
              <a:buSzPct val="70000"/>
              <a:buFont typeface="Arial" panose="020B0604020202020204" pitchFamily="34" charset="0"/>
              <a:buChar char="•"/>
            </a:pPr>
            <a:r>
              <a:rPr lang="en-PH" sz="2800" i="0" u="none" strike="noStrike" cap="none" dirty="0">
                <a:solidFill>
                  <a:schemeClr val="dk1"/>
                </a:solidFill>
                <a:latin typeface="Calibri"/>
                <a:ea typeface="Calibri"/>
                <a:cs typeface="Calibri"/>
                <a:sym typeface="Calibri"/>
              </a:rPr>
              <a:t>Conducted with </a:t>
            </a:r>
            <a:r>
              <a:rPr lang="en-PH" sz="2800" b="1" i="0" u="none" strike="noStrike" cap="none" dirty="0">
                <a:solidFill>
                  <a:schemeClr val="dk1"/>
                </a:solidFill>
                <a:latin typeface="Calibri"/>
                <a:ea typeface="Calibri"/>
                <a:cs typeface="Calibri"/>
                <a:sym typeface="Calibri"/>
              </a:rPr>
              <a:t>6 respondents</a:t>
            </a:r>
          </a:p>
          <a:p>
            <a:pPr marL="514350" marR="0" lvl="0" indent="-514350" algn="l" rtl="0">
              <a:lnSpc>
                <a:spcPct val="90000"/>
              </a:lnSpc>
              <a:spcBef>
                <a:spcPts val="0"/>
              </a:spcBef>
              <a:spcAft>
                <a:spcPts val="0"/>
              </a:spcAft>
              <a:buClr>
                <a:srgbClr val="000000"/>
              </a:buClr>
              <a:buSzPct val="70000"/>
              <a:buFont typeface="Arial" panose="020B0604020202020204" pitchFamily="34" charset="0"/>
              <a:buChar char="•"/>
            </a:pPr>
            <a:r>
              <a:rPr lang="en-PH" sz="2800" i="0" u="none" strike="noStrike" cap="none" dirty="0">
                <a:solidFill>
                  <a:schemeClr val="dk1"/>
                </a:solidFill>
                <a:latin typeface="Calibri"/>
                <a:ea typeface="Calibri"/>
                <a:cs typeface="Calibri"/>
                <a:sym typeface="Calibri"/>
              </a:rPr>
              <a:t>5 </a:t>
            </a:r>
            <a:r>
              <a:rPr lang="en-PH" sz="2800" dirty="0">
                <a:solidFill>
                  <a:schemeClr val="dk1"/>
                </a:solidFill>
                <a:latin typeface="Calibri"/>
                <a:ea typeface="Calibri"/>
                <a:cs typeface="Calibri"/>
                <a:sym typeface="Calibri"/>
              </a:rPr>
              <a:t>fourth year college students and 1 HR expert</a:t>
            </a:r>
          </a:p>
          <a:p>
            <a:pPr marL="514350" marR="0" lvl="0" indent="-514350" algn="l" rtl="0">
              <a:lnSpc>
                <a:spcPct val="90000"/>
              </a:lnSpc>
              <a:spcBef>
                <a:spcPts val="0"/>
              </a:spcBef>
              <a:spcAft>
                <a:spcPts val="0"/>
              </a:spcAft>
              <a:buClr>
                <a:srgbClr val="000000"/>
              </a:buClr>
              <a:buSzPct val="70000"/>
              <a:buFont typeface="Arial" panose="020B0604020202020204" pitchFamily="34" charset="0"/>
              <a:buChar char="•"/>
            </a:pPr>
            <a:endParaRPr lang="en-PH" sz="2800" dirty="0">
              <a:solidFill>
                <a:schemeClr val="dk1"/>
              </a:solidFill>
              <a:latin typeface="Calibri"/>
              <a:ea typeface="Calibri"/>
              <a:cs typeface="Calibri"/>
              <a:sym typeface="Calibri"/>
            </a:endParaRPr>
          </a:p>
          <a:p>
            <a:pPr marL="514350" indent="-514350">
              <a:lnSpc>
                <a:spcPct val="90000"/>
              </a:lnSpc>
              <a:buSzPct val="70000"/>
              <a:buFont typeface="Arial" panose="020B0604020202020204" pitchFamily="34" charset="0"/>
              <a:buChar char="•"/>
            </a:pPr>
            <a:r>
              <a:rPr lang="en-US" sz="2800" dirty="0">
                <a:solidFill>
                  <a:schemeClr val="dk1"/>
                </a:solidFill>
                <a:latin typeface="Calibri"/>
                <a:ea typeface="Calibri"/>
                <a:cs typeface="Calibri"/>
                <a:sym typeface="Calibri"/>
              </a:rPr>
              <a:t>Criteria </a:t>
            </a:r>
            <a:r>
              <a:rPr lang="en-US" sz="2800" b="1" dirty="0">
                <a:solidFill>
                  <a:schemeClr val="dk1"/>
                </a:solidFill>
                <a:latin typeface="Calibri"/>
                <a:ea typeface="Calibri"/>
                <a:cs typeface="Calibri"/>
                <a:sym typeface="Calibri"/>
              </a:rPr>
              <a:t>: Functional Suitability, Performance Efficiency, Interaction Capability, Reliability, Security </a:t>
            </a:r>
          </a:p>
          <a:p>
            <a:pPr marL="514350" indent="-514350">
              <a:lnSpc>
                <a:spcPct val="90000"/>
              </a:lnSpc>
              <a:buSzPct val="70000"/>
              <a:buFont typeface="Arial" panose="020B0604020202020204" pitchFamily="34" charset="0"/>
              <a:buChar char="•"/>
            </a:pPr>
            <a:endParaRPr lang="en-PH" sz="2800" dirty="0">
              <a:solidFill>
                <a:schemeClr val="dk1"/>
              </a:solidFill>
              <a:latin typeface="Calibri"/>
              <a:ea typeface="Calibri"/>
              <a:cs typeface="Calibri"/>
              <a:sym typeface="Calibri"/>
            </a:endParaRPr>
          </a:p>
          <a:p>
            <a:pPr marL="514350" marR="0" lvl="0" indent="-514350" algn="l" rtl="0">
              <a:lnSpc>
                <a:spcPct val="90000"/>
              </a:lnSpc>
              <a:spcBef>
                <a:spcPts val="0"/>
              </a:spcBef>
              <a:spcAft>
                <a:spcPts val="0"/>
              </a:spcAft>
              <a:buClr>
                <a:srgbClr val="000000"/>
              </a:buClr>
              <a:buSzPct val="70000"/>
              <a:buFont typeface="Arial" panose="020B0604020202020204" pitchFamily="34" charset="0"/>
              <a:buChar char="•"/>
            </a:pPr>
            <a:r>
              <a:rPr lang="en-PH" sz="2800" dirty="0">
                <a:solidFill>
                  <a:schemeClr val="dk1"/>
                </a:solidFill>
                <a:latin typeface="Calibri"/>
                <a:ea typeface="Calibri"/>
                <a:cs typeface="Calibri"/>
                <a:sym typeface="Calibri"/>
              </a:rPr>
              <a:t>Evaluated on 5-point Likert Scale</a:t>
            </a:r>
          </a:p>
          <a:p>
            <a:pPr marL="514350" marR="0" lvl="0" indent="-514350" algn="l" rtl="0">
              <a:lnSpc>
                <a:spcPct val="90000"/>
              </a:lnSpc>
              <a:spcBef>
                <a:spcPts val="0"/>
              </a:spcBef>
              <a:spcAft>
                <a:spcPts val="0"/>
              </a:spcAft>
              <a:buClr>
                <a:srgbClr val="000000"/>
              </a:buClr>
              <a:buSzPct val="70000"/>
              <a:buFont typeface="Arial" panose="020B0604020202020204" pitchFamily="34" charset="0"/>
              <a:buChar char="•"/>
            </a:pPr>
            <a:r>
              <a:rPr lang="en-PH" sz="2800" b="1" dirty="0">
                <a:solidFill>
                  <a:schemeClr val="dk1"/>
                </a:solidFill>
                <a:latin typeface="Calibri"/>
                <a:ea typeface="Calibri"/>
                <a:cs typeface="Calibri"/>
                <a:sym typeface="Calibri"/>
              </a:rPr>
              <a:t>Interval Interpretation:</a:t>
            </a:r>
          </a:p>
          <a:p>
            <a:pPr lvl="4">
              <a:lnSpc>
                <a:spcPct val="90000"/>
              </a:lnSpc>
              <a:buSzPct val="70000"/>
            </a:pPr>
            <a:r>
              <a:rPr lang="en-US" sz="2400" dirty="0">
                <a:solidFill>
                  <a:schemeClr val="dk1"/>
                </a:solidFill>
                <a:latin typeface="Calibri"/>
                <a:ea typeface="Calibri"/>
                <a:cs typeface="Calibri"/>
                <a:sym typeface="Calibri"/>
              </a:rPr>
              <a:t>	1.0 - 1.79 = Strongly Disagree </a:t>
            </a:r>
          </a:p>
          <a:p>
            <a:pPr lvl="4">
              <a:lnSpc>
                <a:spcPct val="90000"/>
              </a:lnSpc>
              <a:buSzPct val="70000"/>
            </a:pPr>
            <a:r>
              <a:rPr lang="en-US" sz="2400" dirty="0">
                <a:solidFill>
                  <a:schemeClr val="dk1"/>
                </a:solidFill>
                <a:latin typeface="Calibri"/>
                <a:ea typeface="Calibri"/>
                <a:cs typeface="Calibri"/>
                <a:sym typeface="Calibri"/>
              </a:rPr>
              <a:t>	1.80 - 2.59 = Disagree </a:t>
            </a:r>
          </a:p>
          <a:p>
            <a:pPr lvl="4">
              <a:lnSpc>
                <a:spcPct val="90000"/>
              </a:lnSpc>
              <a:buSzPct val="70000"/>
            </a:pPr>
            <a:r>
              <a:rPr lang="en-US" sz="2400" dirty="0">
                <a:solidFill>
                  <a:schemeClr val="dk1"/>
                </a:solidFill>
                <a:latin typeface="Calibri"/>
                <a:ea typeface="Calibri"/>
                <a:cs typeface="Calibri"/>
                <a:sym typeface="Calibri"/>
              </a:rPr>
              <a:t>	2.60 - 3.39 = Neutral </a:t>
            </a:r>
          </a:p>
          <a:p>
            <a:pPr lvl="4">
              <a:lnSpc>
                <a:spcPct val="90000"/>
              </a:lnSpc>
              <a:buSzPct val="70000"/>
            </a:pPr>
            <a:r>
              <a:rPr lang="en-US" sz="2400" dirty="0">
                <a:solidFill>
                  <a:schemeClr val="dk1"/>
                </a:solidFill>
                <a:latin typeface="Calibri"/>
                <a:ea typeface="Calibri"/>
                <a:cs typeface="Calibri"/>
                <a:sym typeface="Calibri"/>
              </a:rPr>
              <a:t>	3.40 - 4.19 = Agree </a:t>
            </a:r>
          </a:p>
          <a:p>
            <a:pPr lvl="4">
              <a:lnSpc>
                <a:spcPct val="90000"/>
              </a:lnSpc>
              <a:buSzPct val="70000"/>
            </a:pPr>
            <a:r>
              <a:rPr lang="en-US" sz="2400" dirty="0">
                <a:solidFill>
                  <a:schemeClr val="dk1"/>
                </a:solidFill>
                <a:latin typeface="Calibri"/>
                <a:ea typeface="Calibri"/>
                <a:cs typeface="Calibri"/>
                <a:sym typeface="Calibri"/>
              </a:rPr>
              <a:t>	4.20 - 5.00 = Strongly Agree</a:t>
            </a:r>
            <a:endParaRPr lang="en-PH" sz="2400" dirty="0">
              <a:solidFill>
                <a:schemeClr val="dk1"/>
              </a:solidFill>
              <a:latin typeface="Calibri"/>
              <a:ea typeface="Calibri"/>
              <a:cs typeface="Calibri"/>
              <a:sym typeface="Calibri"/>
            </a:endParaRPr>
          </a:p>
          <a:p>
            <a:pPr marL="514350" lvl="4" indent="-514350">
              <a:lnSpc>
                <a:spcPct val="90000"/>
              </a:lnSpc>
              <a:buSzPct val="70000"/>
              <a:buFont typeface="Arial" panose="020B0604020202020204" pitchFamily="34" charset="0"/>
              <a:buChar char="•"/>
            </a:pPr>
            <a:endParaRPr lang="en-PH"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37194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3028822820"/>
              </p:ext>
            </p:extLst>
          </p:nvPr>
        </p:nvGraphicFramePr>
        <p:xfrm>
          <a:off x="2018563" y="1188924"/>
          <a:ext cx="8154874" cy="3254120"/>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Functional Suitability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Weighted Mean</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87891970"/>
                  </a:ext>
                </a:extLst>
              </a:tr>
              <a:tr h="650824">
                <a:tc>
                  <a:txBody>
                    <a:bodyPr/>
                    <a:lstStyle/>
                    <a:p>
                      <a:pPr marL="0" marR="0" indent="0" algn="l">
                        <a:lnSpc>
                          <a:spcPct val="107000"/>
                        </a:lnSpc>
                        <a:spcBef>
                          <a:spcPts val="0"/>
                        </a:spcBef>
                        <a:spcAft>
                          <a:spcPts val="0"/>
                        </a:spcAft>
                        <a:buFont typeface="+mj-lt"/>
                        <a:buNone/>
                      </a:pPr>
                      <a:r>
                        <a:rPr lang="en-US" sz="1800" dirty="0">
                          <a:effectLst/>
                          <a:latin typeface="Arial" panose="020B0604020202020204" pitchFamily="34" charset="0"/>
                          <a:cs typeface="Arial" panose="020B0604020202020204" pitchFamily="34" charset="0"/>
                        </a:rPr>
                        <a:t>The </a:t>
                      </a:r>
                      <a:r>
                        <a:rPr lang="en-US" sz="1800" dirty="0">
                          <a:effectLst/>
                          <a:latin typeface="Arial" panose="020B0604020202020204" pitchFamily="34" charset="0"/>
                        </a:rPr>
                        <a:t>system allows me to upload and manage my resume efficiently.</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p>
                  </a:txBody>
                  <a:tcPr marL="68580" marR="68580" marT="0" marB="0" anchor="ctr"/>
                </a:tc>
                <a:extLst>
                  <a:ext uri="{0D108BD9-81ED-4DB2-BD59-A6C34878D82A}">
                    <a16:rowId xmlns:a16="http://schemas.microsoft.com/office/drawing/2014/main" val="3180408071"/>
                  </a:ext>
                </a:extLst>
              </a:tr>
              <a:tr h="650824">
                <a:tc>
                  <a:txBody>
                    <a:bodyPr/>
                    <a:lstStyle/>
                    <a:p>
                      <a:pPr marL="0" marR="0" indent="0" algn="l">
                        <a:lnSpc>
                          <a:spcPct val="107000"/>
                        </a:lnSpc>
                        <a:spcBef>
                          <a:spcPts val="0"/>
                        </a:spcBef>
                        <a:spcAft>
                          <a:spcPts val="0"/>
                        </a:spcAft>
                        <a:buFont typeface="+mj-lt"/>
                        <a:buNone/>
                      </a:pPr>
                      <a:r>
                        <a:rPr lang="en-US" sz="1800" dirty="0">
                          <a:effectLst/>
                          <a:latin typeface="Arial" panose="020B0604020202020204" pitchFamily="34" charset="0"/>
                          <a:cs typeface="Arial" panose="020B0604020202020204" pitchFamily="34" charset="0"/>
                        </a:rPr>
                        <a:t>The </a:t>
                      </a:r>
                      <a:r>
                        <a:rPr lang="en-US" sz="1800" dirty="0">
                          <a:effectLst/>
                          <a:latin typeface="Arial" panose="020B0604020202020204" pitchFamily="34" charset="0"/>
                        </a:rPr>
                        <a:t>system successfully submits my application after the resume upload process.</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4.6</a:t>
                      </a:r>
                    </a:p>
                  </a:txBody>
                  <a:tcPr marL="68580" marR="68580" marT="0" marB="0" anchor="ctr"/>
                </a:tc>
                <a:extLst>
                  <a:ext uri="{0D108BD9-81ED-4DB2-BD59-A6C34878D82A}">
                    <a16:rowId xmlns:a16="http://schemas.microsoft.com/office/drawing/2014/main" val="2369755871"/>
                  </a:ext>
                </a:extLst>
              </a:tr>
              <a:tr h="650824">
                <a:tc>
                  <a:txBody>
                    <a:bodyPr/>
                    <a:lstStyle/>
                    <a:p>
                      <a:pPr marL="0" marR="0" indent="0" algn="l">
                        <a:lnSpc>
                          <a:spcPct val="107000"/>
                        </a:lnSpc>
                        <a:spcBef>
                          <a:spcPts val="0"/>
                        </a:spcBef>
                        <a:spcAft>
                          <a:spcPts val="0"/>
                        </a:spcAft>
                        <a:buFont typeface="+mj-lt"/>
                        <a:buNone/>
                      </a:pPr>
                      <a:r>
                        <a:rPr lang="en-US" sz="1800" dirty="0">
                          <a:effectLst/>
                          <a:latin typeface="Arial" panose="020B0604020202020204" pitchFamily="34" charset="0"/>
                          <a:cs typeface="Arial" panose="020B0604020202020204" pitchFamily="34" charset="0"/>
                        </a:rPr>
                        <a:t>The </a:t>
                      </a:r>
                      <a:r>
                        <a:rPr lang="en-US" sz="1800" dirty="0">
                          <a:effectLst/>
                          <a:latin typeface="Arial" panose="020B0604020202020204" pitchFamily="34" charset="0"/>
                        </a:rPr>
                        <a:t>system allows me to browse and save job listings for future reference.</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4.2</a:t>
                      </a:r>
                    </a:p>
                  </a:txBody>
                  <a:tcPr marL="68580" marR="68580" marT="0" marB="0" anchor="ctr"/>
                </a:tc>
                <a:extLst>
                  <a:ext uri="{0D108BD9-81ED-4DB2-BD59-A6C34878D82A}">
                    <a16:rowId xmlns:a16="http://schemas.microsoft.com/office/drawing/2014/main" val="1907825381"/>
                  </a:ext>
                </a:extLst>
              </a:tr>
              <a:tr h="650824">
                <a:tc>
                  <a:txBody>
                    <a:bodyPr/>
                    <a:lstStyle/>
                    <a:p>
                      <a:pPr marL="0" marR="0" indent="0" algn="l">
                        <a:lnSpc>
                          <a:spcPct val="107000"/>
                        </a:lnSpc>
                        <a:spcBef>
                          <a:spcPts val="0"/>
                        </a:spcBef>
                        <a:spcAft>
                          <a:spcPts val="0"/>
                        </a:spcAft>
                        <a:buFont typeface="+mj-lt"/>
                        <a:buNone/>
                      </a:pPr>
                      <a:r>
                        <a:rPr lang="en-US" sz="1800" dirty="0">
                          <a:effectLst/>
                          <a:latin typeface="Arial" panose="020B0604020202020204" pitchFamily="34" charset="0"/>
                          <a:cs typeface="Arial" panose="020B0604020202020204" pitchFamily="34" charset="0"/>
                        </a:rPr>
                        <a:t>The </a:t>
                      </a:r>
                      <a:r>
                        <a:rPr lang="en-US" sz="1800" dirty="0">
                          <a:effectLst/>
                          <a:latin typeface="Arial" panose="020B0604020202020204" pitchFamily="34" charset="0"/>
                        </a:rPr>
                        <a:t>system accurately tracks and displays the status of my submitted applications.</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4.6</a:t>
                      </a:r>
                    </a:p>
                  </a:txBody>
                  <a:tcPr marL="68580" marR="68580" marT="0" marB="0" anchor="ctr"/>
                </a:tc>
                <a:extLst>
                  <a:ext uri="{0D108BD9-81ED-4DB2-BD59-A6C34878D82A}">
                    <a16:rowId xmlns:a16="http://schemas.microsoft.com/office/drawing/2014/main" val="2902691849"/>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1944378" y="4624447"/>
            <a:ext cx="8303244" cy="627834"/>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200"/>
              <a:buFont typeface="Arial"/>
              <a:buNone/>
            </a:pPr>
            <a:r>
              <a:rPr lang="en-US" sz="3200" b="1" i="0" u="none" strike="noStrike" cap="none" dirty="0">
                <a:solidFill>
                  <a:schemeClr val="dk1"/>
                </a:solidFill>
                <a:latin typeface="Calibri"/>
                <a:ea typeface="Calibri"/>
                <a:cs typeface="Calibri"/>
                <a:sym typeface="Calibri"/>
              </a:rPr>
              <a:t>Functional Suitability: </a:t>
            </a:r>
            <a:r>
              <a:rPr lang="en-US" sz="3200" i="1" u="none" strike="noStrike" cap="none" dirty="0">
                <a:solidFill>
                  <a:schemeClr val="dk1"/>
                </a:solidFill>
                <a:latin typeface="Calibri"/>
                <a:ea typeface="Calibri"/>
                <a:cs typeface="Calibri"/>
                <a:sym typeface="Calibri"/>
              </a:rPr>
              <a:t>4.6 – Strongly Agree</a:t>
            </a:r>
            <a:endParaRPr sz="3200" i="1"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793346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3512894346"/>
              </p:ext>
            </p:extLst>
          </p:nvPr>
        </p:nvGraphicFramePr>
        <p:xfrm>
          <a:off x="2018563" y="918958"/>
          <a:ext cx="8154874" cy="3904944"/>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Performance Efficiency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Weighted Mean</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87891970"/>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processes my uploaded resume within an acceptable amount of time.</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loads job listings quickly and without delay.</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updates and displays my application status efficiently.</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loads my saved jobs without significant delays.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02691849"/>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maintains good performance when browsing and submitting applications simultaneously.</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63400645"/>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1944378" y="5210217"/>
            <a:ext cx="8303244" cy="627834"/>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200"/>
              <a:buFont typeface="Arial"/>
              <a:buNone/>
            </a:pPr>
            <a:r>
              <a:rPr lang="en-US" sz="3200" b="1" i="0" u="none" strike="noStrike" cap="none" dirty="0">
                <a:solidFill>
                  <a:schemeClr val="dk1"/>
                </a:solidFill>
                <a:latin typeface="Calibri"/>
                <a:ea typeface="Calibri"/>
                <a:cs typeface="Calibri"/>
                <a:sym typeface="Calibri"/>
              </a:rPr>
              <a:t>Performance Efficiency: </a:t>
            </a:r>
            <a:r>
              <a:rPr lang="en-US" sz="3200" i="1" u="none" strike="noStrike" cap="none" dirty="0">
                <a:solidFill>
                  <a:schemeClr val="dk1"/>
                </a:solidFill>
                <a:latin typeface="Calibri"/>
                <a:ea typeface="Calibri"/>
                <a:cs typeface="Calibri"/>
                <a:sym typeface="Calibri"/>
              </a:rPr>
              <a:t>4.64– Strongly Agree</a:t>
            </a:r>
            <a:endParaRPr sz="3200" i="1"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16390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39876198"/>
              </p:ext>
            </p:extLst>
          </p:nvPr>
        </p:nvGraphicFramePr>
        <p:xfrm>
          <a:off x="2018563" y="918958"/>
          <a:ext cx="8154874" cy="3904944"/>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Interaction Capability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Weighted Mean</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87891970"/>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interface is clear and easy to understand.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application process can be completed without difficulty.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Browsing and saving jobs is intuitive and straightforward.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Tracking my application status is easy to access and understand.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02691849"/>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layout and design of the system are organized and user-friendly.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63400645"/>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1944378" y="5088297"/>
            <a:ext cx="8303244" cy="627834"/>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200"/>
              <a:buFont typeface="Arial"/>
              <a:buNone/>
            </a:pPr>
            <a:r>
              <a:rPr lang="en-US" sz="3200" b="1" dirty="0">
                <a:solidFill>
                  <a:schemeClr val="dk1"/>
                </a:solidFill>
                <a:latin typeface="Calibri"/>
                <a:ea typeface="Calibri"/>
                <a:cs typeface="Calibri"/>
                <a:sym typeface="Calibri"/>
              </a:rPr>
              <a:t>Interaction Capability</a:t>
            </a:r>
            <a:r>
              <a:rPr lang="en-US" sz="3200" b="1" i="0" u="none" strike="noStrike" cap="none" dirty="0">
                <a:solidFill>
                  <a:schemeClr val="dk1"/>
                </a:solidFill>
                <a:latin typeface="Calibri"/>
                <a:ea typeface="Calibri"/>
                <a:cs typeface="Calibri"/>
                <a:sym typeface="Calibri"/>
              </a:rPr>
              <a:t>: </a:t>
            </a:r>
            <a:r>
              <a:rPr lang="en-US" sz="3200" i="1" u="none" strike="noStrike" cap="none" dirty="0">
                <a:solidFill>
                  <a:schemeClr val="dk1"/>
                </a:solidFill>
                <a:latin typeface="Calibri"/>
                <a:ea typeface="Calibri"/>
                <a:cs typeface="Calibri"/>
                <a:sym typeface="Calibri"/>
              </a:rPr>
              <a:t>4.48– Strongly Agree</a:t>
            </a:r>
            <a:endParaRPr sz="3200" i="1"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723823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3778932392"/>
              </p:ext>
            </p:extLst>
          </p:nvPr>
        </p:nvGraphicFramePr>
        <p:xfrm>
          <a:off x="2018563" y="1171506"/>
          <a:ext cx="8154874" cy="3254120"/>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Reliability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Weighted Mean</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87891970"/>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performs the resume upload and application process without errors under normal operation</a:t>
                      </a:r>
                    </a:p>
                  </a:txBody>
                  <a:tcPr marL="68580" marR="68580" marT="0" marB="0"/>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is accessible and available whenever I need to browse jobs or track my application</a:t>
                      </a:r>
                    </a:p>
                  </a:txBody>
                  <a:tcPr marL="68580" marR="68580" marT="0" marB="0"/>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operates without unexpected crashes or failures during browsing and application.</a:t>
                      </a:r>
                    </a:p>
                  </a:txBody>
                  <a:tcPr marL="68580" marR="68580" marT="0" marB="0"/>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My saved jobs remain accessible and are not lost between sessions.</a:t>
                      </a:r>
                    </a:p>
                  </a:txBody>
                  <a:tcPr marL="68580" marR="68580" marT="0" marB="0"/>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02691849"/>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2018563" y="4618034"/>
            <a:ext cx="8303244" cy="627834"/>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200"/>
              <a:buFont typeface="Arial"/>
              <a:buNone/>
            </a:pPr>
            <a:r>
              <a:rPr lang="en-US" sz="3200" b="1" i="0" u="none" strike="noStrike" cap="none" dirty="0">
                <a:solidFill>
                  <a:schemeClr val="dk1"/>
                </a:solidFill>
                <a:latin typeface="Calibri"/>
                <a:ea typeface="Calibri"/>
                <a:cs typeface="Calibri"/>
                <a:sym typeface="Calibri"/>
              </a:rPr>
              <a:t>Re</a:t>
            </a:r>
            <a:r>
              <a:rPr lang="en-US" sz="3200" b="1" dirty="0">
                <a:solidFill>
                  <a:schemeClr val="dk1"/>
                </a:solidFill>
                <a:latin typeface="Calibri"/>
                <a:ea typeface="Calibri"/>
                <a:cs typeface="Calibri"/>
                <a:sym typeface="Calibri"/>
              </a:rPr>
              <a:t>liability Mean</a:t>
            </a:r>
            <a:r>
              <a:rPr lang="en-US" sz="3200" b="1" i="0" u="none" strike="noStrike" cap="none" dirty="0">
                <a:solidFill>
                  <a:schemeClr val="dk1"/>
                </a:solidFill>
                <a:latin typeface="Calibri"/>
                <a:ea typeface="Calibri"/>
                <a:cs typeface="Calibri"/>
                <a:sym typeface="Calibri"/>
              </a:rPr>
              <a:t>: </a:t>
            </a:r>
            <a:r>
              <a:rPr lang="en-US" sz="3200" i="1" u="none" strike="noStrike" cap="none" dirty="0">
                <a:solidFill>
                  <a:schemeClr val="dk1"/>
                </a:solidFill>
                <a:latin typeface="Calibri"/>
                <a:ea typeface="Calibri"/>
                <a:cs typeface="Calibri"/>
                <a:sym typeface="Calibri"/>
              </a:rPr>
              <a:t>4.80 – Strongly Agree</a:t>
            </a:r>
            <a:endParaRPr sz="3200" i="1"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0367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343978089"/>
              </p:ext>
            </p:extLst>
          </p:nvPr>
        </p:nvGraphicFramePr>
        <p:xfrm>
          <a:off x="2018563" y="1171506"/>
          <a:ext cx="8154874" cy="2603296"/>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Security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Weighted Mean</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87891970"/>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requires proper login authentication before accessing my account.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My uploaded resume appears to be securely stored in the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algn="l">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ensures that my submitted data cannot be modified without proper authorization.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2018563" y="4618034"/>
            <a:ext cx="8303244" cy="627834"/>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200"/>
              <a:buFont typeface="Arial"/>
              <a:buNone/>
            </a:pPr>
            <a:r>
              <a:rPr lang="en-US" sz="3200" b="1" i="0" u="none" strike="noStrike" cap="none" dirty="0">
                <a:solidFill>
                  <a:schemeClr val="dk1"/>
                </a:solidFill>
                <a:latin typeface="Calibri"/>
                <a:ea typeface="Calibri"/>
                <a:cs typeface="Calibri"/>
                <a:sym typeface="Calibri"/>
              </a:rPr>
              <a:t>Re</a:t>
            </a:r>
            <a:r>
              <a:rPr lang="en-US" sz="3200" b="1" dirty="0">
                <a:solidFill>
                  <a:schemeClr val="dk1"/>
                </a:solidFill>
                <a:latin typeface="Calibri"/>
                <a:ea typeface="Calibri"/>
                <a:cs typeface="Calibri"/>
                <a:sym typeface="Calibri"/>
              </a:rPr>
              <a:t>liability Mean</a:t>
            </a:r>
            <a:r>
              <a:rPr lang="en-US" sz="3200" b="1" i="0" u="none" strike="noStrike" cap="none" dirty="0">
                <a:solidFill>
                  <a:schemeClr val="dk1"/>
                </a:solidFill>
                <a:latin typeface="Calibri"/>
                <a:ea typeface="Calibri"/>
                <a:cs typeface="Calibri"/>
                <a:sym typeface="Calibri"/>
              </a:rPr>
              <a:t>: </a:t>
            </a:r>
            <a:r>
              <a:rPr lang="en-US" sz="3200" i="1" u="none" strike="noStrike" cap="none" dirty="0">
                <a:solidFill>
                  <a:schemeClr val="dk1"/>
                </a:solidFill>
                <a:latin typeface="Calibri"/>
                <a:ea typeface="Calibri"/>
                <a:cs typeface="Calibri"/>
                <a:sym typeface="Calibri"/>
              </a:rPr>
              <a:t>4.67 – Strongly Agree</a:t>
            </a:r>
            <a:endParaRPr sz="3200" i="1"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772676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 (RECRUITER)</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13477232"/>
              </p:ext>
            </p:extLst>
          </p:nvPr>
        </p:nvGraphicFramePr>
        <p:xfrm>
          <a:off x="2018563" y="1171506"/>
          <a:ext cx="8154874" cy="3254120"/>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Functional Suitability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ea typeface="Calibri" panose="020F0502020204030204" pitchFamily="34" charset="0"/>
                          <a:cs typeface="Times New Roman" panose="02020603050405020304" pitchFamily="18" charset="0"/>
                        </a:rPr>
                        <a:t>Score</a:t>
                      </a:r>
                    </a:p>
                  </a:txBody>
                  <a:tcPr marL="68580" marR="68580" marT="0" marB="0" anchor="ctr"/>
                </a:tc>
                <a:extLst>
                  <a:ext uri="{0D108BD9-81ED-4DB2-BD59-A6C34878D82A}">
                    <a16:rowId xmlns:a16="http://schemas.microsoft.com/office/drawing/2014/main" val="1087891970"/>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accurately extracts relevant information such as skills, education, and experience from applicant resumes.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provides accurate ranking or scoring of applicants based on their qualifications.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allows me to view and manage submitted applicant resumes efficiently.</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enables me to shortlist and evaluate candidates based on the generated scores.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chor="ctr"/>
                </a:tc>
                <a:extLst>
                  <a:ext uri="{0D108BD9-81ED-4DB2-BD59-A6C34878D82A}">
                    <a16:rowId xmlns:a16="http://schemas.microsoft.com/office/drawing/2014/main" val="3312590590"/>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1697097" y="4705527"/>
            <a:ext cx="8797807" cy="627834"/>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200"/>
              <a:buFont typeface="Arial"/>
              <a:buNone/>
            </a:pPr>
            <a:r>
              <a:rPr lang="en-US" sz="3200" b="1" i="0" u="none" strike="noStrike" cap="none" dirty="0">
                <a:solidFill>
                  <a:schemeClr val="dk1"/>
                </a:solidFill>
                <a:latin typeface="Calibri"/>
                <a:ea typeface="Calibri"/>
                <a:cs typeface="Calibri"/>
                <a:sym typeface="Calibri"/>
              </a:rPr>
              <a:t>Functional Suitability</a:t>
            </a:r>
            <a:r>
              <a:rPr lang="en-US" sz="3200" b="1" dirty="0">
                <a:solidFill>
                  <a:schemeClr val="dk1"/>
                </a:solidFill>
                <a:latin typeface="Calibri"/>
                <a:ea typeface="Calibri"/>
                <a:cs typeface="Calibri"/>
                <a:sym typeface="Calibri"/>
              </a:rPr>
              <a:t> Mean</a:t>
            </a:r>
            <a:r>
              <a:rPr lang="en-US" sz="3200" b="1" i="0" u="none" strike="noStrike" cap="none" dirty="0">
                <a:solidFill>
                  <a:schemeClr val="dk1"/>
                </a:solidFill>
                <a:latin typeface="Calibri"/>
                <a:ea typeface="Calibri"/>
                <a:cs typeface="Calibri"/>
                <a:sym typeface="Calibri"/>
              </a:rPr>
              <a:t>: </a:t>
            </a:r>
            <a:r>
              <a:rPr lang="en-US" sz="3200" i="1" u="none" strike="noStrike" cap="none" dirty="0">
                <a:solidFill>
                  <a:schemeClr val="dk1"/>
                </a:solidFill>
                <a:latin typeface="Calibri"/>
                <a:ea typeface="Calibri"/>
                <a:cs typeface="Calibri"/>
                <a:sym typeface="Calibri"/>
              </a:rPr>
              <a:t>4.75 – Strongly Agree</a:t>
            </a:r>
            <a:endParaRPr sz="3200" i="1"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87734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 (RECRUITER)</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1203630231"/>
              </p:ext>
            </p:extLst>
          </p:nvPr>
        </p:nvGraphicFramePr>
        <p:xfrm>
          <a:off x="2018563" y="1171506"/>
          <a:ext cx="8154874" cy="3254120"/>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Performance Efficiency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ea typeface="Calibri" panose="020F0502020204030204" pitchFamily="34" charset="0"/>
                          <a:cs typeface="Times New Roman" panose="02020603050405020304" pitchFamily="18" charset="0"/>
                        </a:rPr>
                        <a:t>Score</a:t>
                      </a:r>
                    </a:p>
                  </a:txBody>
                  <a:tcPr marL="68580" marR="68580" marT="0" marB="0" anchor="ctr"/>
                </a:tc>
                <a:extLst>
                  <a:ext uri="{0D108BD9-81ED-4DB2-BD59-A6C34878D82A}">
                    <a16:rowId xmlns:a16="http://schemas.microsoft.com/office/drawing/2014/main" val="1087891970"/>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processes uploaded resumes within an acceptable amount of time.</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generates ranking results quickly after resume analysis.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provides AI-generated explanations without significant delays.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loads candidate evaluations and ranking results efficiently.</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p>
                  </a:txBody>
                  <a:tcPr marL="68580" marR="68580" marT="0" marB="0" anchor="ctr"/>
                </a:tc>
                <a:extLst>
                  <a:ext uri="{0D108BD9-81ED-4DB2-BD59-A6C34878D82A}">
                    <a16:rowId xmlns:a16="http://schemas.microsoft.com/office/drawing/2014/main" val="3312590590"/>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1466856" y="4714235"/>
            <a:ext cx="9258287" cy="627834"/>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200"/>
              <a:buFont typeface="Arial"/>
              <a:buNone/>
            </a:pPr>
            <a:r>
              <a:rPr lang="en-US" sz="3200" b="1" dirty="0">
                <a:solidFill>
                  <a:schemeClr val="dk1"/>
                </a:solidFill>
                <a:latin typeface="Calibri"/>
                <a:ea typeface="Calibri"/>
                <a:cs typeface="Calibri"/>
                <a:sym typeface="Calibri"/>
              </a:rPr>
              <a:t>Performance Efficiency Mean</a:t>
            </a:r>
            <a:r>
              <a:rPr lang="en-US" sz="3200" b="1" i="0" u="none" strike="noStrike" cap="none" dirty="0">
                <a:solidFill>
                  <a:schemeClr val="dk1"/>
                </a:solidFill>
                <a:latin typeface="Calibri"/>
                <a:ea typeface="Calibri"/>
                <a:cs typeface="Calibri"/>
                <a:sym typeface="Calibri"/>
              </a:rPr>
              <a:t>: </a:t>
            </a:r>
            <a:r>
              <a:rPr lang="en-US" sz="3200" i="1" u="none" strike="noStrike" cap="none" dirty="0">
                <a:solidFill>
                  <a:schemeClr val="dk1"/>
                </a:solidFill>
                <a:latin typeface="Calibri"/>
                <a:ea typeface="Calibri"/>
                <a:cs typeface="Calibri"/>
                <a:sym typeface="Calibri"/>
              </a:rPr>
              <a:t>4.50 – Strongly Agree</a:t>
            </a:r>
            <a:endParaRPr sz="3200" i="1"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11361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 (RECRUITER)</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2352692614"/>
              </p:ext>
            </p:extLst>
          </p:nvPr>
        </p:nvGraphicFramePr>
        <p:xfrm>
          <a:off x="2018563" y="1171506"/>
          <a:ext cx="8154874" cy="3254120"/>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Interaction Capability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ea typeface="Calibri" panose="020F0502020204030204" pitchFamily="34" charset="0"/>
                          <a:cs typeface="Times New Roman" panose="02020603050405020304" pitchFamily="18" charset="0"/>
                        </a:rPr>
                        <a:t>Score</a:t>
                      </a:r>
                    </a:p>
                  </a:txBody>
                  <a:tcPr marL="68580" marR="68580" marT="0" marB="0" anchor="ctr"/>
                </a:tc>
                <a:extLst>
                  <a:ext uri="{0D108BD9-81ED-4DB2-BD59-A6C34878D82A}">
                    <a16:rowId xmlns:a16="http://schemas.microsoft.com/office/drawing/2014/main" val="1087891970"/>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interface is clear and easy to navigate for candidate evaluation.</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provides intuitive navigation for accessing screening results and candidate explanations.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AI-generated insights displayed after shortlisting a candidate are clear and helpful for evaluation decisions.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layout and design of the system are organized and user-friendly.</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3</a:t>
                      </a:r>
                    </a:p>
                  </a:txBody>
                  <a:tcPr marL="68580" marR="68580" marT="0" marB="0" anchor="ctr"/>
                </a:tc>
                <a:extLst>
                  <a:ext uri="{0D108BD9-81ED-4DB2-BD59-A6C34878D82A}">
                    <a16:rowId xmlns:a16="http://schemas.microsoft.com/office/drawing/2014/main" val="3312590590"/>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1066263" y="4705527"/>
            <a:ext cx="10059475" cy="572434"/>
          </a:xfrm>
          <a:prstGeom prst="rect">
            <a:avLst/>
          </a:prstGeom>
          <a:noFill/>
          <a:ln>
            <a:noFill/>
          </a:ln>
        </p:spPr>
        <p:txBody>
          <a:bodyPr spcFirstLastPara="1" wrap="square" lIns="91425" tIns="91425" rIns="91425" bIns="91425" anchor="t" anchorCtr="0">
            <a:spAutoFit/>
          </a:bodyPr>
          <a:lstStyle/>
          <a:p>
            <a:pPr algn="ctr">
              <a:lnSpc>
                <a:spcPct val="90000"/>
              </a:lnSpc>
              <a:buSzPts val="3200"/>
            </a:pPr>
            <a:r>
              <a:rPr lang="en-US" sz="2800" b="1" dirty="0">
                <a:effectLst/>
                <a:latin typeface="Arial" panose="020B0604020202020204" pitchFamily="34" charset="0"/>
                <a:cs typeface="Arial" panose="020B0604020202020204" pitchFamily="34" charset="0"/>
              </a:rPr>
              <a:t>Interaction Capability</a:t>
            </a:r>
            <a:r>
              <a:rPr lang="en-US" sz="2800" b="1" dirty="0">
                <a:latin typeface="Arial" panose="020B0604020202020204" pitchFamily="34" charset="0"/>
                <a:ea typeface="Calibri" panose="020F0502020204030204" pitchFamily="34" charset="0"/>
                <a:cs typeface="Times New Roman" panose="02020603050405020304" pitchFamily="18" charset="0"/>
              </a:rPr>
              <a:t> </a:t>
            </a:r>
            <a:r>
              <a:rPr lang="en-US" sz="2800" b="1" dirty="0">
                <a:solidFill>
                  <a:schemeClr val="dk1"/>
                </a:solidFill>
                <a:latin typeface="Arial" panose="020B0604020202020204" pitchFamily="34" charset="0"/>
                <a:ea typeface="Calibri"/>
                <a:cs typeface="Calibri"/>
                <a:sym typeface="Calibri"/>
              </a:rPr>
              <a:t>Mean</a:t>
            </a:r>
            <a:r>
              <a:rPr lang="en-US" sz="2800" b="1" i="0" u="none" strike="noStrike" cap="none" dirty="0">
                <a:solidFill>
                  <a:schemeClr val="dk1"/>
                </a:solidFill>
                <a:latin typeface="Arial" panose="020B0604020202020204" pitchFamily="34" charset="0"/>
                <a:ea typeface="Calibri"/>
                <a:cs typeface="Calibri"/>
                <a:sym typeface="Calibri"/>
              </a:rPr>
              <a:t>: </a:t>
            </a:r>
            <a:r>
              <a:rPr lang="en-US" sz="2800" i="0" u="none" strike="noStrike" cap="none" dirty="0">
                <a:solidFill>
                  <a:schemeClr val="dk1"/>
                </a:solidFill>
                <a:latin typeface="Arial" panose="020B0604020202020204" pitchFamily="34" charset="0"/>
                <a:ea typeface="Calibri"/>
                <a:cs typeface="Calibri"/>
                <a:sym typeface="Calibri"/>
              </a:rPr>
              <a:t>3</a:t>
            </a:r>
            <a:r>
              <a:rPr lang="en-US" sz="2800" i="1" u="none" strike="noStrike" cap="none" dirty="0">
                <a:solidFill>
                  <a:schemeClr val="dk1"/>
                </a:solidFill>
                <a:latin typeface="Arial" panose="020B0604020202020204" pitchFamily="34" charset="0"/>
                <a:ea typeface="Calibri"/>
                <a:cs typeface="Calibri"/>
                <a:sym typeface="Calibri"/>
              </a:rPr>
              <a:t>.50 – Agree</a:t>
            </a:r>
            <a:endParaRPr sz="2800" i="1" u="none" strike="noStrike" cap="none" dirty="0">
              <a:solidFill>
                <a:schemeClr val="dk1"/>
              </a:solidFill>
              <a:latin typeface="Arial" panose="020B0604020202020204" pitchFamily="34" charset="0"/>
              <a:ea typeface="Calibri"/>
              <a:cs typeface="Calibri"/>
              <a:sym typeface="Calibri"/>
            </a:endParaRPr>
          </a:p>
        </p:txBody>
      </p:sp>
    </p:spTree>
    <p:extLst>
      <p:ext uri="{BB962C8B-B14F-4D97-AF65-F5344CB8AC3E}">
        <p14:creationId xmlns:p14="http://schemas.microsoft.com/office/powerpoint/2010/main" val="6486498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 (RECRUITER)</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116318790"/>
              </p:ext>
            </p:extLst>
          </p:nvPr>
        </p:nvGraphicFramePr>
        <p:xfrm>
          <a:off x="2018563" y="1171506"/>
          <a:ext cx="8154874" cy="3254120"/>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Reliability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ea typeface="Calibri" panose="020F0502020204030204" pitchFamily="34" charset="0"/>
                          <a:cs typeface="Times New Roman" panose="02020603050405020304" pitchFamily="18" charset="0"/>
                        </a:rPr>
                        <a:t>Score</a:t>
                      </a:r>
                    </a:p>
                  </a:txBody>
                  <a:tcPr marL="68580" marR="68580" marT="0" marB="0" anchor="ctr"/>
                </a:tc>
                <a:extLst>
                  <a:ext uri="{0D108BD9-81ED-4DB2-BD59-A6C34878D82A}">
                    <a16:rowId xmlns:a16="http://schemas.microsoft.com/office/drawing/2014/main" val="1087891970"/>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processes uploaded resumes within an acceptable amount of time.</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generates ranking results quickly after resume analysis.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provides AI-generated explanations without significant delays.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loads candidate evaluations and ranking results efficiently.</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5</a:t>
                      </a:r>
                    </a:p>
                  </a:txBody>
                  <a:tcPr marL="68580" marR="68580" marT="0" marB="0" anchor="ctr"/>
                </a:tc>
                <a:extLst>
                  <a:ext uri="{0D108BD9-81ED-4DB2-BD59-A6C34878D82A}">
                    <a16:rowId xmlns:a16="http://schemas.microsoft.com/office/drawing/2014/main" val="3312590590"/>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1066263" y="4705527"/>
            <a:ext cx="10059475" cy="572434"/>
          </a:xfrm>
          <a:prstGeom prst="rect">
            <a:avLst/>
          </a:prstGeom>
          <a:noFill/>
          <a:ln>
            <a:noFill/>
          </a:ln>
        </p:spPr>
        <p:txBody>
          <a:bodyPr spcFirstLastPara="1" wrap="square" lIns="91425" tIns="91425" rIns="91425" bIns="91425" anchor="t" anchorCtr="0">
            <a:spAutoFit/>
          </a:bodyPr>
          <a:lstStyle/>
          <a:p>
            <a:pPr algn="ctr">
              <a:lnSpc>
                <a:spcPct val="90000"/>
              </a:lnSpc>
              <a:buSzPts val="3200"/>
            </a:pPr>
            <a:r>
              <a:rPr lang="en-US" sz="2800" b="1" dirty="0">
                <a:solidFill>
                  <a:schemeClr val="dk1"/>
                </a:solidFill>
                <a:latin typeface="Arial" panose="020B0604020202020204" pitchFamily="34" charset="0"/>
                <a:ea typeface="Calibri"/>
                <a:cs typeface="Calibri"/>
                <a:sym typeface="Calibri"/>
              </a:rPr>
              <a:t>Reliability Mean</a:t>
            </a:r>
            <a:r>
              <a:rPr lang="en-US" sz="2800" b="1" i="0" u="none" strike="noStrike" cap="none" dirty="0">
                <a:solidFill>
                  <a:schemeClr val="dk1"/>
                </a:solidFill>
                <a:latin typeface="Arial" panose="020B0604020202020204" pitchFamily="34" charset="0"/>
                <a:ea typeface="Calibri"/>
                <a:cs typeface="Calibri"/>
                <a:sym typeface="Calibri"/>
              </a:rPr>
              <a:t>: </a:t>
            </a:r>
            <a:r>
              <a:rPr lang="en-US" sz="2800" dirty="0">
                <a:solidFill>
                  <a:schemeClr val="dk1"/>
                </a:solidFill>
                <a:latin typeface="Arial" panose="020B0604020202020204" pitchFamily="34" charset="0"/>
                <a:ea typeface="Calibri"/>
                <a:cs typeface="Calibri"/>
                <a:sym typeface="Calibri"/>
              </a:rPr>
              <a:t>5.0</a:t>
            </a:r>
            <a:r>
              <a:rPr lang="en-US" sz="2800" i="1" u="none" strike="noStrike" cap="none" dirty="0">
                <a:solidFill>
                  <a:schemeClr val="dk1"/>
                </a:solidFill>
                <a:latin typeface="Arial" panose="020B0604020202020204" pitchFamily="34" charset="0"/>
                <a:ea typeface="Calibri"/>
                <a:cs typeface="Calibri"/>
                <a:sym typeface="Calibri"/>
              </a:rPr>
              <a:t> –  </a:t>
            </a:r>
            <a:r>
              <a:rPr lang="en-US" sz="2800" i="1" dirty="0">
                <a:solidFill>
                  <a:schemeClr val="dk1"/>
                </a:solidFill>
                <a:latin typeface="Arial" panose="020B0604020202020204" pitchFamily="34" charset="0"/>
                <a:ea typeface="Calibri"/>
                <a:cs typeface="Calibri"/>
                <a:sym typeface="Calibri"/>
              </a:rPr>
              <a:t>Strongly </a:t>
            </a:r>
            <a:r>
              <a:rPr lang="en-US" sz="2800" i="1" u="none" strike="noStrike" cap="none" dirty="0">
                <a:solidFill>
                  <a:schemeClr val="dk1"/>
                </a:solidFill>
                <a:latin typeface="Arial" panose="020B0604020202020204" pitchFamily="34" charset="0"/>
                <a:ea typeface="Calibri"/>
                <a:cs typeface="Calibri"/>
                <a:sym typeface="Calibri"/>
              </a:rPr>
              <a:t>Agree</a:t>
            </a:r>
            <a:endParaRPr sz="2800" i="1" u="none" strike="noStrike" cap="none" dirty="0">
              <a:solidFill>
                <a:schemeClr val="dk1"/>
              </a:solidFill>
              <a:latin typeface="Arial" panose="020B0604020202020204" pitchFamily="34" charset="0"/>
              <a:ea typeface="Calibri"/>
              <a:cs typeface="Calibri"/>
              <a:sym typeface="Calibri"/>
            </a:endParaRPr>
          </a:p>
        </p:txBody>
      </p:sp>
    </p:spTree>
    <p:extLst>
      <p:ext uri="{BB962C8B-B14F-4D97-AF65-F5344CB8AC3E}">
        <p14:creationId xmlns:p14="http://schemas.microsoft.com/office/powerpoint/2010/main" val="1343689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 (RECRUITER)</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extLst>
              <p:ext uri="{D42A27DB-BD31-4B8C-83A1-F6EECF244321}">
                <p14:modId xmlns:p14="http://schemas.microsoft.com/office/powerpoint/2010/main" val="735578603"/>
              </p:ext>
            </p:extLst>
          </p:nvPr>
        </p:nvGraphicFramePr>
        <p:xfrm>
          <a:off x="2018563" y="1171506"/>
          <a:ext cx="8154874" cy="2603296"/>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Security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ea typeface="Calibri" panose="020F0502020204030204" pitchFamily="34" charset="0"/>
                          <a:cs typeface="Times New Roman" panose="02020603050405020304" pitchFamily="18" charset="0"/>
                        </a:rPr>
                        <a:t>Score</a:t>
                      </a:r>
                    </a:p>
                  </a:txBody>
                  <a:tcPr marL="68580" marR="68580" marT="0" marB="0" anchor="ctr"/>
                </a:tc>
                <a:extLst>
                  <a:ext uri="{0D108BD9-81ED-4DB2-BD59-A6C34878D82A}">
                    <a16:rowId xmlns:a16="http://schemas.microsoft.com/office/drawing/2014/main" val="1087891970"/>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requires proper login authentication before accessing recruiter functions.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prevents unauthorized access to applicant resumes and personal data.</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ensures that candidate data cannot be modified without proper authorization.</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1066262" y="4304933"/>
            <a:ext cx="10059475" cy="572434"/>
          </a:xfrm>
          <a:prstGeom prst="rect">
            <a:avLst/>
          </a:prstGeom>
          <a:noFill/>
          <a:ln>
            <a:noFill/>
          </a:ln>
        </p:spPr>
        <p:txBody>
          <a:bodyPr spcFirstLastPara="1" wrap="square" lIns="91425" tIns="91425" rIns="91425" bIns="91425" anchor="t" anchorCtr="0">
            <a:spAutoFit/>
          </a:bodyPr>
          <a:lstStyle/>
          <a:p>
            <a:pPr algn="ctr">
              <a:lnSpc>
                <a:spcPct val="90000"/>
              </a:lnSpc>
              <a:buSzPts val="3200"/>
            </a:pPr>
            <a:r>
              <a:rPr lang="en-US" sz="2800" b="1" dirty="0">
                <a:solidFill>
                  <a:schemeClr val="dk1"/>
                </a:solidFill>
                <a:latin typeface="Arial" panose="020B0604020202020204" pitchFamily="34" charset="0"/>
                <a:ea typeface="Calibri"/>
                <a:cs typeface="Calibri"/>
                <a:sym typeface="Calibri"/>
              </a:rPr>
              <a:t>Security Mean</a:t>
            </a:r>
            <a:r>
              <a:rPr lang="en-US" sz="2800" b="1" i="0" u="none" strike="noStrike" cap="none" dirty="0">
                <a:solidFill>
                  <a:schemeClr val="dk1"/>
                </a:solidFill>
                <a:latin typeface="Arial" panose="020B0604020202020204" pitchFamily="34" charset="0"/>
                <a:ea typeface="Calibri"/>
                <a:cs typeface="Calibri"/>
                <a:sym typeface="Calibri"/>
              </a:rPr>
              <a:t>: </a:t>
            </a:r>
            <a:r>
              <a:rPr lang="en-US" sz="2800" dirty="0">
                <a:solidFill>
                  <a:schemeClr val="dk1"/>
                </a:solidFill>
                <a:latin typeface="Arial" panose="020B0604020202020204" pitchFamily="34" charset="0"/>
                <a:ea typeface="Calibri"/>
                <a:cs typeface="Calibri"/>
                <a:sym typeface="Calibri"/>
              </a:rPr>
              <a:t>4</a:t>
            </a:r>
            <a:r>
              <a:rPr lang="en-US" sz="2800" i="0" u="none" strike="noStrike" cap="none" dirty="0">
                <a:solidFill>
                  <a:schemeClr val="dk1"/>
                </a:solidFill>
                <a:latin typeface="Arial" panose="020B0604020202020204" pitchFamily="34" charset="0"/>
                <a:ea typeface="Calibri"/>
                <a:cs typeface="Calibri"/>
                <a:sym typeface="Calibri"/>
              </a:rPr>
              <a:t>.0</a:t>
            </a:r>
            <a:r>
              <a:rPr lang="en-US" sz="2800" i="1" u="none" strike="noStrike" cap="none" dirty="0">
                <a:solidFill>
                  <a:schemeClr val="dk1"/>
                </a:solidFill>
                <a:latin typeface="Arial" panose="020B0604020202020204" pitchFamily="34" charset="0"/>
                <a:ea typeface="Calibri"/>
                <a:cs typeface="Calibri"/>
                <a:sym typeface="Calibri"/>
              </a:rPr>
              <a:t> –  Agree</a:t>
            </a:r>
            <a:endParaRPr sz="2800" i="1" u="none" strike="noStrike" cap="none" dirty="0">
              <a:solidFill>
                <a:schemeClr val="dk1"/>
              </a:solidFill>
              <a:latin typeface="Arial" panose="020B0604020202020204" pitchFamily="34" charset="0"/>
              <a:ea typeface="Calibri"/>
              <a:cs typeface="Calibri"/>
              <a:sym typeface="Calibri"/>
            </a:endParaRPr>
          </a:p>
        </p:txBody>
      </p:sp>
    </p:spTree>
    <p:extLst>
      <p:ext uri="{BB962C8B-B14F-4D97-AF65-F5344CB8AC3E}">
        <p14:creationId xmlns:p14="http://schemas.microsoft.com/office/powerpoint/2010/main" val="33324020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USER ACCEPTANCE TEST RESULTS (RECRUITER)</a:t>
            </a:r>
            <a:endParaRPr sz="3200" b="1"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8E659E78-5114-4CDE-AD79-8DB20C097FE7}"/>
              </a:ext>
            </a:extLst>
          </p:cNvPr>
          <p:cNvGraphicFramePr>
            <a:graphicFrameLocks noGrp="1"/>
          </p:cNvGraphicFramePr>
          <p:nvPr/>
        </p:nvGraphicFramePr>
        <p:xfrm>
          <a:off x="2018563" y="1171506"/>
          <a:ext cx="8154874" cy="2603296"/>
        </p:xfrm>
        <a:graphic>
          <a:graphicData uri="http://schemas.openxmlformats.org/drawingml/2006/table">
            <a:tbl>
              <a:tblPr firstRow="1" firstCol="1" bandRow="1">
                <a:tableStyleId>{1C44B228-9AEF-4E9D-8CFB-2299D45FFF75}</a:tableStyleId>
              </a:tblPr>
              <a:tblGrid>
                <a:gridCol w="6262553">
                  <a:extLst>
                    <a:ext uri="{9D8B030D-6E8A-4147-A177-3AD203B41FA5}">
                      <a16:colId xmlns:a16="http://schemas.microsoft.com/office/drawing/2014/main" val="2756124855"/>
                    </a:ext>
                  </a:extLst>
                </a:gridCol>
                <a:gridCol w="1892321">
                  <a:extLst>
                    <a:ext uri="{9D8B030D-6E8A-4147-A177-3AD203B41FA5}">
                      <a16:colId xmlns:a16="http://schemas.microsoft.com/office/drawing/2014/main" val="3653366920"/>
                    </a:ext>
                  </a:extLst>
                </a:gridCol>
              </a:tblGrid>
              <a:tr h="650824">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Security</a:t>
                      </a:r>
                      <a:endParaRPr lang="en-US" sz="18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ea typeface="Calibri" panose="020F0502020204030204" pitchFamily="34" charset="0"/>
                          <a:cs typeface="Times New Roman" panose="02020603050405020304" pitchFamily="18" charset="0"/>
                        </a:rPr>
                        <a:t>Score</a:t>
                      </a:r>
                    </a:p>
                  </a:txBody>
                  <a:tcPr marL="68580" marR="68580" marT="0" marB="0" anchor="ctr"/>
                </a:tc>
                <a:extLst>
                  <a:ext uri="{0D108BD9-81ED-4DB2-BD59-A6C34878D82A}">
                    <a16:rowId xmlns:a16="http://schemas.microsoft.com/office/drawing/2014/main" val="1087891970"/>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requires proper login authentication before accessing recruiter functions.</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04080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prevents unauthorized access to applicant resumes and personal data.</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9755871"/>
                  </a:ext>
                </a:extLst>
              </a:tr>
              <a:tr h="650824">
                <a:tc>
                  <a:txBody>
                    <a:bodyPr/>
                    <a:lstStyle/>
                    <a:p>
                      <a:pPr marL="0" marR="0" lvl="0" indent="0" algn="just">
                        <a:lnSpc>
                          <a:spcPct val="107000"/>
                        </a:lnSpc>
                        <a:spcBef>
                          <a:spcPts val="0"/>
                        </a:spcBef>
                        <a:spcAft>
                          <a:spcPts val="0"/>
                        </a:spcAft>
                        <a:buSzPts val="1100"/>
                        <a:buFont typeface="Times New Roman" panose="02020603050405020304" pitchFamily="18" charset="0"/>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The system ensures that candidate data cannot be modified without proper authorization.</a:t>
                      </a: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07825381"/>
                  </a:ext>
                </a:extLst>
              </a:tr>
            </a:tbl>
          </a:graphicData>
        </a:graphic>
      </p:graphicFrame>
      <p:sp>
        <p:nvSpPr>
          <p:cNvPr id="7" name="Google Shape;412;g3a981422744_2_163">
            <a:extLst>
              <a:ext uri="{FF2B5EF4-FFF2-40B4-BE49-F238E27FC236}">
                <a16:creationId xmlns:a16="http://schemas.microsoft.com/office/drawing/2014/main" id="{CBE2B5B0-CB1A-4E26-8DD2-AF4CE2D3851C}"/>
              </a:ext>
            </a:extLst>
          </p:cNvPr>
          <p:cNvSpPr txBox="1"/>
          <p:nvPr/>
        </p:nvSpPr>
        <p:spPr>
          <a:xfrm>
            <a:off x="1066262" y="4304933"/>
            <a:ext cx="10059475" cy="572434"/>
          </a:xfrm>
          <a:prstGeom prst="rect">
            <a:avLst/>
          </a:prstGeom>
          <a:noFill/>
          <a:ln>
            <a:noFill/>
          </a:ln>
        </p:spPr>
        <p:txBody>
          <a:bodyPr spcFirstLastPara="1" wrap="square" lIns="91425" tIns="91425" rIns="91425" bIns="91425" anchor="t" anchorCtr="0">
            <a:spAutoFit/>
          </a:bodyPr>
          <a:lstStyle/>
          <a:p>
            <a:pPr algn="ctr">
              <a:lnSpc>
                <a:spcPct val="90000"/>
              </a:lnSpc>
              <a:buSzPts val="3200"/>
            </a:pPr>
            <a:r>
              <a:rPr lang="en-US" sz="2800" b="1" dirty="0">
                <a:solidFill>
                  <a:schemeClr val="dk1"/>
                </a:solidFill>
                <a:latin typeface="Arial" panose="020B0604020202020204" pitchFamily="34" charset="0"/>
                <a:ea typeface="Calibri"/>
                <a:cs typeface="Calibri"/>
                <a:sym typeface="Calibri"/>
              </a:rPr>
              <a:t>Security Mean</a:t>
            </a:r>
            <a:r>
              <a:rPr lang="en-US" sz="2800" b="1" i="0" u="none" strike="noStrike" cap="none" dirty="0">
                <a:solidFill>
                  <a:schemeClr val="dk1"/>
                </a:solidFill>
                <a:latin typeface="Arial" panose="020B0604020202020204" pitchFamily="34" charset="0"/>
                <a:ea typeface="Calibri"/>
                <a:cs typeface="Calibri"/>
                <a:sym typeface="Calibri"/>
              </a:rPr>
              <a:t>: </a:t>
            </a:r>
            <a:r>
              <a:rPr lang="en-US" sz="2800" dirty="0">
                <a:solidFill>
                  <a:schemeClr val="dk1"/>
                </a:solidFill>
                <a:latin typeface="Arial" panose="020B0604020202020204" pitchFamily="34" charset="0"/>
                <a:ea typeface="Calibri"/>
                <a:cs typeface="Calibri"/>
                <a:sym typeface="Calibri"/>
              </a:rPr>
              <a:t>4</a:t>
            </a:r>
            <a:r>
              <a:rPr lang="en-US" sz="2800" i="0" u="none" strike="noStrike" cap="none" dirty="0">
                <a:solidFill>
                  <a:schemeClr val="dk1"/>
                </a:solidFill>
                <a:latin typeface="Arial" panose="020B0604020202020204" pitchFamily="34" charset="0"/>
                <a:ea typeface="Calibri"/>
                <a:cs typeface="Calibri"/>
                <a:sym typeface="Calibri"/>
              </a:rPr>
              <a:t>.0</a:t>
            </a:r>
            <a:r>
              <a:rPr lang="en-US" sz="2800" i="1" u="none" strike="noStrike" cap="none" dirty="0">
                <a:solidFill>
                  <a:schemeClr val="dk1"/>
                </a:solidFill>
                <a:latin typeface="Arial" panose="020B0604020202020204" pitchFamily="34" charset="0"/>
                <a:ea typeface="Calibri"/>
                <a:cs typeface="Calibri"/>
                <a:sym typeface="Calibri"/>
              </a:rPr>
              <a:t> –  Agree</a:t>
            </a:r>
            <a:endParaRPr sz="2800" i="1" u="none" strike="noStrike" cap="none" dirty="0">
              <a:solidFill>
                <a:schemeClr val="dk1"/>
              </a:solidFill>
              <a:latin typeface="Arial" panose="020B0604020202020204" pitchFamily="34" charset="0"/>
              <a:ea typeface="Calibri"/>
              <a:cs typeface="Calibri"/>
              <a:sym typeface="Calibri"/>
            </a:endParaRPr>
          </a:p>
        </p:txBody>
      </p:sp>
    </p:spTree>
    <p:extLst>
      <p:ext uri="{BB962C8B-B14F-4D97-AF65-F5344CB8AC3E}">
        <p14:creationId xmlns:p14="http://schemas.microsoft.com/office/powerpoint/2010/main" val="600614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TEST CASES : SKILLSENSE VS KEYWORD ATS</a:t>
            </a:r>
            <a:endParaRPr sz="3200" b="1" i="0" u="none" strike="noStrike" cap="none" dirty="0">
              <a:solidFill>
                <a:schemeClr val="dk1"/>
              </a:solidFill>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id="{ACC8A459-50A9-4EE4-9576-A06C9F8FD02E}"/>
              </a:ext>
            </a:extLst>
          </p:cNvPr>
          <p:cNvGraphicFramePr>
            <a:graphicFrameLocks noGrp="1"/>
          </p:cNvGraphicFramePr>
          <p:nvPr>
            <p:extLst>
              <p:ext uri="{D42A27DB-BD31-4B8C-83A1-F6EECF244321}">
                <p14:modId xmlns:p14="http://schemas.microsoft.com/office/powerpoint/2010/main" val="211097944"/>
              </p:ext>
            </p:extLst>
          </p:nvPr>
        </p:nvGraphicFramePr>
        <p:xfrm>
          <a:off x="923925" y="1066450"/>
          <a:ext cx="10058400" cy="4324698"/>
        </p:xfrm>
        <a:graphic>
          <a:graphicData uri="http://schemas.openxmlformats.org/drawingml/2006/table">
            <a:tbl>
              <a:tblPr firstRow="1" firstCol="1" bandRow="1">
                <a:tableStyleId>{1C44B228-9AEF-4E9D-8CFB-2299D45FFF75}</a:tableStyleId>
              </a:tblPr>
              <a:tblGrid>
                <a:gridCol w="1300655">
                  <a:extLst>
                    <a:ext uri="{9D8B030D-6E8A-4147-A177-3AD203B41FA5}">
                      <a16:colId xmlns:a16="http://schemas.microsoft.com/office/drawing/2014/main" val="1898613238"/>
                    </a:ext>
                  </a:extLst>
                </a:gridCol>
                <a:gridCol w="3179379">
                  <a:extLst>
                    <a:ext uri="{9D8B030D-6E8A-4147-A177-3AD203B41FA5}">
                      <a16:colId xmlns:a16="http://schemas.microsoft.com/office/drawing/2014/main" val="1498198281"/>
                    </a:ext>
                  </a:extLst>
                </a:gridCol>
                <a:gridCol w="2789183">
                  <a:extLst>
                    <a:ext uri="{9D8B030D-6E8A-4147-A177-3AD203B41FA5}">
                      <a16:colId xmlns:a16="http://schemas.microsoft.com/office/drawing/2014/main" val="2107855205"/>
                    </a:ext>
                  </a:extLst>
                </a:gridCol>
                <a:gridCol w="2789183">
                  <a:extLst>
                    <a:ext uri="{9D8B030D-6E8A-4147-A177-3AD203B41FA5}">
                      <a16:colId xmlns:a16="http://schemas.microsoft.com/office/drawing/2014/main" val="4193895949"/>
                    </a:ext>
                  </a:extLst>
                </a:gridCol>
              </a:tblGrid>
              <a:tr h="720783">
                <a:tc>
                  <a:txBody>
                    <a:bodyPr/>
                    <a:lstStyle/>
                    <a:p>
                      <a:pPr marL="0" marR="0" algn="ctr">
                        <a:lnSpc>
                          <a:spcPct val="107000"/>
                        </a:lnSpc>
                        <a:spcBef>
                          <a:spcPts val="0"/>
                        </a:spcBef>
                        <a:spcAft>
                          <a:spcPts val="800"/>
                        </a:spcAft>
                      </a:pPr>
                      <a:r>
                        <a:rPr lang="en-US" sz="1400" b="1" dirty="0">
                          <a:effectLst/>
                          <a:latin typeface="Arial" panose="020B0604020202020204" pitchFamily="34" charset="0"/>
                          <a:cs typeface="Arial" panose="020B0604020202020204" pitchFamily="34" charset="0"/>
                        </a:rPr>
                        <a:t>Resume</a:t>
                      </a:r>
                      <a:endParaRPr lang="en-US" sz="1400" b="1"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b="1" dirty="0">
                          <a:effectLst/>
                          <a:latin typeface="Arial" panose="020B0604020202020204" pitchFamily="34" charset="0"/>
                          <a:cs typeface="Arial" panose="020B0604020202020204" pitchFamily="34" charset="0"/>
                        </a:rPr>
                        <a:t>Test Case Category</a:t>
                      </a:r>
                      <a:endParaRPr lang="en-US" sz="1400" b="1"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b="1" dirty="0">
                          <a:effectLst/>
                          <a:latin typeface="Arial" panose="020B0604020202020204" pitchFamily="34" charset="0"/>
                          <a:cs typeface="Arial" panose="020B0604020202020204" pitchFamily="34" charset="0"/>
                        </a:rPr>
                        <a:t>Expected ATS Score</a:t>
                      </a:r>
                      <a:endParaRPr lang="en-US" sz="1400" b="1"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b="1" dirty="0">
                          <a:effectLst/>
                          <a:latin typeface="Arial" panose="020B0604020202020204" pitchFamily="34" charset="0"/>
                          <a:cs typeface="Arial" panose="020B0604020202020204" pitchFamily="34" charset="0"/>
                        </a:rPr>
                        <a:t>Expected </a:t>
                      </a:r>
                      <a:r>
                        <a:rPr lang="en-US" sz="1400" b="1" dirty="0" err="1">
                          <a:effectLst/>
                          <a:latin typeface="Arial" panose="020B0604020202020204" pitchFamily="34" charset="0"/>
                        </a:rPr>
                        <a:t>SkillSense</a:t>
                      </a:r>
                      <a:r>
                        <a:rPr lang="en-US" sz="1400" b="1" dirty="0">
                          <a:effectLst/>
                          <a:latin typeface="Arial" panose="020B0604020202020204" pitchFamily="34" charset="0"/>
                        </a:rPr>
                        <a:t> Score</a:t>
                      </a:r>
                      <a:endParaRPr lang="en-US" sz="1400" b="1"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extLst>
                  <a:ext uri="{0D108BD9-81ED-4DB2-BD59-A6C34878D82A}">
                    <a16:rowId xmlns:a16="http://schemas.microsoft.com/office/drawing/2014/main" val="2891073160"/>
                  </a:ext>
                </a:extLst>
              </a:tr>
              <a:tr h="720783">
                <a:tc>
                  <a:txBody>
                    <a:bodyPr/>
                    <a:lstStyle/>
                    <a:p>
                      <a:pPr marL="0" marR="0" algn="ctr">
                        <a:lnSpc>
                          <a:spcPct val="107000"/>
                        </a:lnSpc>
                        <a:spcBef>
                          <a:spcPts val="0"/>
                        </a:spcBef>
                        <a:spcAft>
                          <a:spcPts val="800"/>
                        </a:spcAft>
                      </a:pPr>
                      <a:r>
                        <a:rPr lang="en-US" sz="1400" dirty="0">
                          <a:effectLst/>
                          <a:latin typeface="Arial" panose="020B0604020202020204" pitchFamily="34" charset="0"/>
                          <a:ea typeface="Calibri" panose="020F0502020204030204" pitchFamily="34" charset="0"/>
                          <a:cs typeface="Times New Roman" panose="02020603050405020304" pitchFamily="18" charset="0"/>
                        </a:rPr>
                        <a:t>1</a:t>
                      </a: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Perfect Match</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High</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High</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extLst>
                  <a:ext uri="{0D108BD9-81ED-4DB2-BD59-A6C34878D82A}">
                    <a16:rowId xmlns:a16="http://schemas.microsoft.com/office/drawing/2014/main" val="1990520777"/>
                  </a:ext>
                </a:extLst>
              </a:tr>
              <a:tr h="720783">
                <a:tc>
                  <a:txBody>
                    <a:bodyPr/>
                    <a:lstStyle/>
                    <a:p>
                      <a:pPr marL="0" marR="0" algn="ctr">
                        <a:lnSpc>
                          <a:spcPct val="107000"/>
                        </a:lnSpc>
                        <a:spcBef>
                          <a:spcPts val="0"/>
                        </a:spcBef>
                        <a:spcAft>
                          <a:spcPts val="800"/>
                        </a:spcAft>
                      </a:pPr>
                      <a:r>
                        <a:rPr lang="en-US" sz="1400" dirty="0">
                          <a:effectLst/>
                          <a:latin typeface="Arial" panose="020B0604020202020204" pitchFamily="34" charset="0"/>
                          <a:ea typeface="Calibri" panose="020F0502020204030204" pitchFamily="34" charset="0"/>
                          <a:cs typeface="Times New Roman" panose="02020603050405020304" pitchFamily="18" charset="0"/>
                        </a:rPr>
                        <a:t>2</a:t>
                      </a: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Different Terminology</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Low–Medium</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High</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extLst>
                  <a:ext uri="{0D108BD9-81ED-4DB2-BD59-A6C34878D82A}">
                    <a16:rowId xmlns:a16="http://schemas.microsoft.com/office/drawing/2014/main" val="2764155247"/>
                  </a:ext>
                </a:extLst>
              </a:tr>
              <a:tr h="720783">
                <a:tc>
                  <a:txBody>
                    <a:bodyPr/>
                    <a:lstStyle/>
                    <a:p>
                      <a:pPr marL="0" marR="0" algn="ctr">
                        <a:lnSpc>
                          <a:spcPct val="107000"/>
                        </a:lnSpc>
                        <a:spcBef>
                          <a:spcPts val="0"/>
                        </a:spcBef>
                        <a:spcAft>
                          <a:spcPts val="800"/>
                        </a:spcAft>
                      </a:pPr>
                      <a:r>
                        <a:rPr lang="en-US" sz="1400" dirty="0">
                          <a:effectLst/>
                          <a:latin typeface="Arial" panose="020B0604020202020204" pitchFamily="34" charset="0"/>
                          <a:ea typeface="Calibri" panose="020F0502020204030204" pitchFamily="34" charset="0"/>
                          <a:cs typeface="Times New Roman" panose="02020603050405020304" pitchFamily="18" charset="0"/>
                        </a:rPr>
                        <a:t>3</a:t>
                      </a: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Career Changer</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Low</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Medium–High</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extLst>
                  <a:ext uri="{0D108BD9-81ED-4DB2-BD59-A6C34878D82A}">
                    <a16:rowId xmlns:a16="http://schemas.microsoft.com/office/drawing/2014/main" val="3689336607"/>
                  </a:ext>
                </a:extLst>
              </a:tr>
              <a:tr h="720783">
                <a:tc>
                  <a:txBody>
                    <a:bodyPr/>
                    <a:lstStyle/>
                    <a:p>
                      <a:pPr marL="0" marR="0" algn="ctr">
                        <a:lnSpc>
                          <a:spcPct val="107000"/>
                        </a:lnSpc>
                        <a:spcBef>
                          <a:spcPts val="0"/>
                        </a:spcBef>
                        <a:spcAft>
                          <a:spcPts val="800"/>
                        </a:spcAft>
                      </a:pPr>
                      <a:r>
                        <a:rPr lang="en-US" sz="1400" dirty="0">
                          <a:effectLst/>
                          <a:latin typeface="Arial" panose="020B0604020202020204" pitchFamily="34" charset="0"/>
                          <a:ea typeface="Calibri" panose="020F0502020204030204" pitchFamily="34" charset="0"/>
                          <a:cs typeface="Times New Roman" panose="02020603050405020304" pitchFamily="18" charset="0"/>
                        </a:rPr>
                        <a:t>4</a:t>
                      </a: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Keyword-Stuffed</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High</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Low–High</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extLst>
                  <a:ext uri="{0D108BD9-81ED-4DB2-BD59-A6C34878D82A}">
                    <a16:rowId xmlns:a16="http://schemas.microsoft.com/office/drawing/2014/main" val="1601483220"/>
                  </a:ext>
                </a:extLst>
              </a:tr>
              <a:tr h="720783">
                <a:tc>
                  <a:txBody>
                    <a:bodyPr/>
                    <a:lstStyle/>
                    <a:p>
                      <a:pPr marL="0" marR="0" algn="ctr">
                        <a:lnSpc>
                          <a:spcPct val="107000"/>
                        </a:lnSpc>
                        <a:spcBef>
                          <a:spcPts val="0"/>
                        </a:spcBef>
                        <a:spcAft>
                          <a:spcPts val="800"/>
                        </a:spcAft>
                      </a:pPr>
                      <a:r>
                        <a:rPr lang="en-US" sz="1400" dirty="0">
                          <a:effectLst/>
                          <a:latin typeface="Arial" panose="020B0604020202020204" pitchFamily="34" charset="0"/>
                          <a:ea typeface="Calibri" panose="020F0502020204030204" pitchFamily="34" charset="0"/>
                          <a:cs typeface="Times New Roman" panose="02020603050405020304" pitchFamily="18" charset="0"/>
                        </a:rPr>
                        <a:t>5</a:t>
                      </a: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Clearly Unqualified</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Low</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tc>
                  <a:txBody>
                    <a:bodyPr/>
                    <a:lstStyle/>
                    <a:p>
                      <a:pPr marL="0" marR="0" algn="ctr">
                        <a:lnSpc>
                          <a:spcPct val="107000"/>
                        </a:lnSpc>
                        <a:spcBef>
                          <a:spcPts val="0"/>
                        </a:spcBef>
                        <a:spcAft>
                          <a:spcPts val="800"/>
                        </a:spcAft>
                      </a:pPr>
                      <a:r>
                        <a:rPr lang="en-US" sz="1400" dirty="0">
                          <a:effectLst/>
                          <a:latin typeface="Arial" panose="020B0604020202020204" pitchFamily="34" charset="0"/>
                          <a:cs typeface="Arial" panose="020B0604020202020204" pitchFamily="34" charset="0"/>
                        </a:rPr>
                        <a:t>Low</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88900" marR="88900" marT="63500" marB="63500" anchor="ctr"/>
                </a:tc>
                <a:extLst>
                  <a:ext uri="{0D108BD9-81ED-4DB2-BD59-A6C34878D82A}">
                    <a16:rowId xmlns:a16="http://schemas.microsoft.com/office/drawing/2014/main" val="3493145826"/>
                  </a:ext>
                </a:extLst>
              </a:tr>
            </a:tbl>
          </a:graphicData>
        </a:graphic>
      </p:graphicFrame>
    </p:spTree>
    <p:extLst>
      <p:ext uri="{BB962C8B-B14F-4D97-AF65-F5344CB8AC3E}">
        <p14:creationId xmlns:p14="http://schemas.microsoft.com/office/powerpoint/2010/main" val="32065234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TEST CASES : SKILLSENSE VS KEYWORD ATS</a:t>
            </a:r>
            <a:endParaRPr sz="3200" b="1" i="0" u="none" strike="noStrike" cap="none" dirty="0">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0A697BEC-A2B4-4EEF-9003-DCD5ADE5DE22}"/>
              </a:ext>
            </a:extLst>
          </p:cNvPr>
          <p:cNvGraphicFramePr>
            <a:graphicFrameLocks noGrp="1"/>
          </p:cNvGraphicFramePr>
          <p:nvPr>
            <p:extLst>
              <p:ext uri="{D42A27DB-BD31-4B8C-83A1-F6EECF244321}">
                <p14:modId xmlns:p14="http://schemas.microsoft.com/office/powerpoint/2010/main" val="2961259452"/>
              </p:ext>
            </p:extLst>
          </p:nvPr>
        </p:nvGraphicFramePr>
        <p:xfrm>
          <a:off x="600076" y="1515268"/>
          <a:ext cx="10848974" cy="3247233"/>
        </p:xfrm>
        <a:graphic>
          <a:graphicData uri="http://schemas.openxmlformats.org/drawingml/2006/table">
            <a:tbl>
              <a:tblPr firstRow="1" firstCol="1" bandRow="1">
                <a:tableStyleId>{1C44B228-9AEF-4E9D-8CFB-2299D45FFF75}</a:tableStyleId>
              </a:tblPr>
              <a:tblGrid>
                <a:gridCol w="1951655">
                  <a:extLst>
                    <a:ext uri="{9D8B030D-6E8A-4147-A177-3AD203B41FA5}">
                      <a16:colId xmlns:a16="http://schemas.microsoft.com/office/drawing/2014/main" val="2617394585"/>
                    </a:ext>
                  </a:extLst>
                </a:gridCol>
                <a:gridCol w="2264940">
                  <a:extLst>
                    <a:ext uri="{9D8B030D-6E8A-4147-A177-3AD203B41FA5}">
                      <a16:colId xmlns:a16="http://schemas.microsoft.com/office/drawing/2014/main" val="354166831"/>
                    </a:ext>
                  </a:extLst>
                </a:gridCol>
                <a:gridCol w="2386775">
                  <a:extLst>
                    <a:ext uri="{9D8B030D-6E8A-4147-A177-3AD203B41FA5}">
                      <a16:colId xmlns:a16="http://schemas.microsoft.com/office/drawing/2014/main" val="2832634352"/>
                    </a:ext>
                  </a:extLst>
                </a:gridCol>
                <a:gridCol w="2291628">
                  <a:extLst>
                    <a:ext uri="{9D8B030D-6E8A-4147-A177-3AD203B41FA5}">
                      <a16:colId xmlns:a16="http://schemas.microsoft.com/office/drawing/2014/main" val="1232178857"/>
                    </a:ext>
                  </a:extLst>
                </a:gridCol>
                <a:gridCol w="1953976">
                  <a:extLst>
                    <a:ext uri="{9D8B030D-6E8A-4147-A177-3AD203B41FA5}">
                      <a16:colId xmlns:a16="http://schemas.microsoft.com/office/drawing/2014/main" val="3852286912"/>
                    </a:ext>
                  </a:extLst>
                </a:gridCol>
              </a:tblGrid>
              <a:tr h="945183">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Resume #</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err="1">
                          <a:effectLst/>
                          <a:latin typeface="Arial" panose="020B0604020202020204" pitchFamily="34" charset="0"/>
                          <a:cs typeface="Arial" panose="020B0604020202020204" pitchFamily="34" charset="0"/>
                        </a:rPr>
                        <a:t>SkillSense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ResyMatch.io</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err="1">
                          <a:effectLst/>
                          <a:latin typeface="Arial" panose="020B0604020202020204" pitchFamily="34" charset="0"/>
                          <a:cs typeface="Arial" panose="020B0604020202020204" pitchFamily="34" charset="0"/>
                        </a:rPr>
                        <a:t>SkillSyncer</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err="1">
                          <a:effectLst/>
                          <a:latin typeface="Arial" panose="020B0604020202020204" pitchFamily="34" charset="0"/>
                          <a:cs typeface="Arial" panose="020B0604020202020204" pitchFamily="34" charset="0"/>
                        </a:rPr>
                        <a:t>ResumeWorded</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3371014"/>
                  </a:ext>
                </a:extLst>
              </a:tr>
              <a:tr h="460410">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81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63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81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95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8842286"/>
                  </a:ext>
                </a:extLst>
              </a:tr>
              <a:tr h="460410">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79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52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44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53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79887050"/>
                  </a:ext>
                </a:extLst>
              </a:tr>
              <a:tr h="460410">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78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38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50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72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98882150"/>
                  </a:ext>
                </a:extLst>
              </a:tr>
              <a:tr h="460410">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81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50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73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95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77625484"/>
                  </a:ext>
                </a:extLst>
              </a:tr>
              <a:tr h="460410">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25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41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30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87281304"/>
                  </a:ext>
                </a:extLst>
              </a:tr>
            </a:tbl>
          </a:graphicData>
        </a:graphic>
      </p:graphicFrame>
      <p:sp>
        <p:nvSpPr>
          <p:cNvPr id="5" name="Google Shape;412;g3a981422744_2_163">
            <a:extLst>
              <a:ext uri="{FF2B5EF4-FFF2-40B4-BE49-F238E27FC236}">
                <a16:creationId xmlns:a16="http://schemas.microsoft.com/office/drawing/2014/main" id="{2E8DD6F6-B7ED-45EC-9E4D-9C9899720627}"/>
              </a:ext>
            </a:extLst>
          </p:cNvPr>
          <p:cNvSpPr txBox="1"/>
          <p:nvPr/>
        </p:nvSpPr>
        <p:spPr>
          <a:xfrm>
            <a:off x="523875" y="1053633"/>
            <a:ext cx="8303244" cy="461635"/>
          </a:xfrm>
          <a:prstGeom prst="rect">
            <a:avLst/>
          </a:prstGeom>
          <a:noFill/>
          <a:ln>
            <a:noFill/>
          </a:ln>
        </p:spPr>
        <p:txBody>
          <a:bodyPr spcFirstLastPara="1" wrap="square" lIns="91425" tIns="91425" rIns="91425" bIns="91425" anchor="t" anchorCtr="0">
            <a:spAutoFit/>
          </a:bodyPr>
          <a:lstStyle/>
          <a:p>
            <a:r>
              <a:rPr lang="en-US" sz="1800" b="1" dirty="0">
                <a:latin typeface="Arial" panose="020B0604020202020204" pitchFamily="34" charset="0"/>
                <a:cs typeface="Arial" panose="020B0604020202020204" pitchFamily="34" charset="0"/>
              </a:rPr>
              <a:t>Resume Scores Across Test Cases: Keyword-Based Apps and </a:t>
            </a:r>
            <a:r>
              <a:rPr lang="en-US" sz="1800" b="1" dirty="0" err="1">
                <a:latin typeface="Arial" panose="020B0604020202020204" pitchFamily="34" charset="0"/>
                <a:cs typeface="Arial" panose="020B0604020202020204" pitchFamily="34" charset="0"/>
              </a:rPr>
              <a:t>SkillSense</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02274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TEST CASES : SKILLSENSE VS KEYWORD ATS</a:t>
            </a:r>
            <a:endParaRPr sz="3200" b="1" i="0" u="none" strike="noStrike" cap="none" dirty="0">
              <a:solidFill>
                <a:schemeClr val="dk1"/>
              </a:solidFill>
              <a:latin typeface="Calibri"/>
              <a:ea typeface="Calibri"/>
              <a:cs typeface="Calibri"/>
              <a:sym typeface="Calibri"/>
            </a:endParaRPr>
          </a:p>
        </p:txBody>
      </p:sp>
      <p:sp>
        <p:nvSpPr>
          <p:cNvPr id="12" name="Google Shape;412;g3a981422744_2_163">
            <a:extLst>
              <a:ext uri="{FF2B5EF4-FFF2-40B4-BE49-F238E27FC236}">
                <a16:creationId xmlns:a16="http://schemas.microsoft.com/office/drawing/2014/main" id="{230E91CF-C80C-4E61-8A90-E73134B83EF4}"/>
              </a:ext>
            </a:extLst>
          </p:cNvPr>
          <p:cNvSpPr txBox="1"/>
          <p:nvPr/>
        </p:nvSpPr>
        <p:spPr>
          <a:xfrm>
            <a:off x="362390" y="959307"/>
            <a:ext cx="3695260" cy="461635"/>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2000" b="1" dirty="0">
                <a:solidFill>
                  <a:schemeClr val="dk1"/>
                </a:solidFill>
                <a:latin typeface="Calibri"/>
                <a:ea typeface="Calibri"/>
                <a:cs typeface="Calibri"/>
                <a:sym typeface="Calibri"/>
              </a:rPr>
              <a:t>APP : SKILLSENSE</a:t>
            </a:r>
            <a:endParaRPr sz="2000" b="1" i="0" u="none" strike="noStrike" cap="none" dirty="0">
              <a:solidFill>
                <a:schemeClr val="dk1"/>
              </a:solidFill>
              <a:latin typeface="Calibri"/>
              <a:ea typeface="Calibri"/>
              <a:cs typeface="Calibri"/>
              <a:sym typeface="Calibri"/>
            </a:endParaRPr>
          </a:p>
        </p:txBody>
      </p:sp>
      <p:pic>
        <p:nvPicPr>
          <p:cNvPr id="14" name="Picture 13">
            <a:extLst>
              <a:ext uri="{FF2B5EF4-FFF2-40B4-BE49-F238E27FC236}">
                <a16:creationId xmlns:a16="http://schemas.microsoft.com/office/drawing/2014/main" id="{92A9FFDE-6E7E-4C42-8C7D-6EAD51A2F542}"/>
              </a:ext>
            </a:extLst>
          </p:cNvPr>
          <p:cNvPicPr>
            <a:picLocks noChangeAspect="1"/>
          </p:cNvPicPr>
          <p:nvPr/>
        </p:nvPicPr>
        <p:blipFill rotWithShape="1">
          <a:blip r:embed="rId2"/>
          <a:srcRect l="1016" r="66719" b="22801"/>
          <a:stretch/>
        </p:blipFill>
        <p:spPr>
          <a:xfrm>
            <a:off x="523654" y="1420942"/>
            <a:ext cx="5450603" cy="3217734"/>
          </a:xfrm>
          <a:prstGeom prst="rect">
            <a:avLst/>
          </a:prstGeom>
        </p:spPr>
      </p:pic>
      <p:pic>
        <p:nvPicPr>
          <p:cNvPr id="15" name="Picture 14">
            <a:extLst>
              <a:ext uri="{FF2B5EF4-FFF2-40B4-BE49-F238E27FC236}">
                <a16:creationId xmlns:a16="http://schemas.microsoft.com/office/drawing/2014/main" id="{434E85DB-746A-4D42-8D4A-A72CF42E9A35}"/>
              </a:ext>
            </a:extLst>
          </p:cNvPr>
          <p:cNvPicPr>
            <a:picLocks noChangeAspect="1"/>
          </p:cNvPicPr>
          <p:nvPr/>
        </p:nvPicPr>
        <p:blipFill rotWithShape="1">
          <a:blip r:embed="rId2"/>
          <a:srcRect l="59296" r="8439" b="22801"/>
          <a:stretch/>
        </p:blipFill>
        <p:spPr>
          <a:xfrm>
            <a:off x="5974257" y="1420940"/>
            <a:ext cx="5450603" cy="3217735"/>
          </a:xfrm>
          <a:prstGeom prst="rect">
            <a:avLst/>
          </a:prstGeom>
        </p:spPr>
      </p:pic>
      <p:sp>
        <p:nvSpPr>
          <p:cNvPr id="17" name="Google Shape;412;g3a981422744_2_163">
            <a:extLst>
              <a:ext uri="{FF2B5EF4-FFF2-40B4-BE49-F238E27FC236}">
                <a16:creationId xmlns:a16="http://schemas.microsoft.com/office/drawing/2014/main" id="{D3FCB8DA-414E-4A4C-BBF9-A79F9A669D1F}"/>
              </a:ext>
            </a:extLst>
          </p:cNvPr>
          <p:cNvSpPr txBox="1"/>
          <p:nvPr/>
        </p:nvSpPr>
        <p:spPr>
          <a:xfrm>
            <a:off x="0" y="2513953"/>
            <a:ext cx="552010" cy="461635"/>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2000" b="1" dirty="0">
                <a:solidFill>
                  <a:schemeClr val="dk1"/>
                </a:solidFill>
                <a:latin typeface="Calibri"/>
                <a:ea typeface="Calibri"/>
                <a:cs typeface="Calibri"/>
                <a:sym typeface="Calibri"/>
              </a:rPr>
              <a:t>T1</a:t>
            </a:r>
            <a:endParaRPr sz="2000" b="1" i="0" u="none" strike="noStrike" cap="none" dirty="0">
              <a:solidFill>
                <a:schemeClr val="dk1"/>
              </a:solidFill>
              <a:latin typeface="Calibri"/>
              <a:ea typeface="Calibri"/>
              <a:cs typeface="Calibri"/>
              <a:sym typeface="Calibri"/>
            </a:endParaRPr>
          </a:p>
        </p:txBody>
      </p:sp>
      <p:sp>
        <p:nvSpPr>
          <p:cNvPr id="18" name="Google Shape;412;g3a981422744_2_163">
            <a:extLst>
              <a:ext uri="{FF2B5EF4-FFF2-40B4-BE49-F238E27FC236}">
                <a16:creationId xmlns:a16="http://schemas.microsoft.com/office/drawing/2014/main" id="{98D300CA-B24F-4C27-9957-548B503BBA41}"/>
              </a:ext>
            </a:extLst>
          </p:cNvPr>
          <p:cNvSpPr txBox="1"/>
          <p:nvPr/>
        </p:nvSpPr>
        <p:spPr>
          <a:xfrm>
            <a:off x="0" y="3295341"/>
            <a:ext cx="552010" cy="461635"/>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2000" b="1" dirty="0">
                <a:solidFill>
                  <a:schemeClr val="dk1"/>
                </a:solidFill>
                <a:latin typeface="Calibri"/>
                <a:ea typeface="Calibri"/>
                <a:cs typeface="Calibri"/>
                <a:sym typeface="Calibri"/>
              </a:rPr>
              <a:t>T2</a:t>
            </a:r>
            <a:endParaRPr sz="2000" b="1" i="0" u="none" strike="noStrike" cap="none" dirty="0">
              <a:solidFill>
                <a:schemeClr val="dk1"/>
              </a:solidFill>
              <a:latin typeface="Calibri"/>
              <a:ea typeface="Calibri"/>
              <a:cs typeface="Calibri"/>
              <a:sym typeface="Calibri"/>
            </a:endParaRPr>
          </a:p>
        </p:txBody>
      </p:sp>
      <p:sp>
        <p:nvSpPr>
          <p:cNvPr id="19" name="Google Shape;412;g3a981422744_2_163">
            <a:extLst>
              <a:ext uri="{FF2B5EF4-FFF2-40B4-BE49-F238E27FC236}">
                <a16:creationId xmlns:a16="http://schemas.microsoft.com/office/drawing/2014/main" id="{EC111C23-9181-4DCE-8548-28699D572333}"/>
              </a:ext>
            </a:extLst>
          </p:cNvPr>
          <p:cNvSpPr txBox="1"/>
          <p:nvPr/>
        </p:nvSpPr>
        <p:spPr>
          <a:xfrm>
            <a:off x="38099" y="4047447"/>
            <a:ext cx="552010" cy="461635"/>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2000" b="1" dirty="0">
                <a:solidFill>
                  <a:schemeClr val="dk1"/>
                </a:solidFill>
                <a:latin typeface="Calibri"/>
                <a:ea typeface="Calibri"/>
                <a:cs typeface="Calibri"/>
                <a:sym typeface="Calibri"/>
              </a:rPr>
              <a:t>T3</a:t>
            </a:r>
            <a:endParaRPr sz="2000" b="1" i="0" u="none" strike="noStrike" cap="none" dirty="0">
              <a:solidFill>
                <a:schemeClr val="dk1"/>
              </a:solidFill>
              <a:latin typeface="Calibri"/>
              <a:ea typeface="Calibri"/>
              <a:cs typeface="Calibri"/>
              <a:sym typeface="Calibri"/>
            </a:endParaRPr>
          </a:p>
        </p:txBody>
      </p:sp>
      <p:sp>
        <p:nvSpPr>
          <p:cNvPr id="20" name="Google Shape;412;g3a981422744_2_163">
            <a:extLst>
              <a:ext uri="{FF2B5EF4-FFF2-40B4-BE49-F238E27FC236}">
                <a16:creationId xmlns:a16="http://schemas.microsoft.com/office/drawing/2014/main" id="{621F9F53-8150-4E3F-AECA-9028107C9A62}"/>
              </a:ext>
            </a:extLst>
          </p:cNvPr>
          <p:cNvSpPr txBox="1"/>
          <p:nvPr/>
        </p:nvSpPr>
        <p:spPr>
          <a:xfrm>
            <a:off x="-28356" y="1665550"/>
            <a:ext cx="552010" cy="461635"/>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2000" b="1" dirty="0">
                <a:solidFill>
                  <a:schemeClr val="dk1"/>
                </a:solidFill>
                <a:latin typeface="Calibri"/>
                <a:ea typeface="Calibri"/>
                <a:cs typeface="Calibri"/>
                <a:sym typeface="Calibri"/>
              </a:rPr>
              <a:t>T4</a:t>
            </a:r>
            <a:endParaRPr sz="2000" b="1" i="0" u="none" strike="noStrike" cap="none" dirty="0">
              <a:solidFill>
                <a:schemeClr val="dk1"/>
              </a:solidFill>
              <a:latin typeface="Calibri"/>
              <a:ea typeface="Calibri"/>
              <a:cs typeface="Calibri"/>
              <a:sym typeface="Calibri"/>
            </a:endParaRPr>
          </a:p>
        </p:txBody>
      </p:sp>
      <p:sp>
        <p:nvSpPr>
          <p:cNvPr id="21" name="Google Shape;412;g3a981422744_2_163">
            <a:extLst>
              <a:ext uri="{FF2B5EF4-FFF2-40B4-BE49-F238E27FC236}">
                <a16:creationId xmlns:a16="http://schemas.microsoft.com/office/drawing/2014/main" id="{3487E3EE-E009-4C49-84B0-C5FCE6F6EE68}"/>
              </a:ext>
            </a:extLst>
          </p:cNvPr>
          <p:cNvSpPr txBox="1"/>
          <p:nvPr/>
        </p:nvSpPr>
        <p:spPr>
          <a:xfrm>
            <a:off x="85503" y="5025444"/>
            <a:ext cx="552010" cy="461635"/>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2000" b="1" dirty="0">
                <a:solidFill>
                  <a:schemeClr val="dk1"/>
                </a:solidFill>
                <a:latin typeface="Calibri"/>
                <a:ea typeface="Calibri"/>
                <a:cs typeface="Calibri"/>
                <a:sym typeface="Calibri"/>
              </a:rPr>
              <a:t>T5</a:t>
            </a:r>
            <a:endParaRPr sz="2000" b="1" i="0" u="none" strike="noStrike" cap="none" dirty="0">
              <a:solidFill>
                <a:schemeClr val="dk1"/>
              </a:solidFill>
              <a:latin typeface="Calibri"/>
              <a:ea typeface="Calibri"/>
              <a:cs typeface="Calibri"/>
              <a:sym typeface="Calibri"/>
            </a:endParaRPr>
          </a:p>
        </p:txBody>
      </p:sp>
      <p:grpSp>
        <p:nvGrpSpPr>
          <p:cNvPr id="25" name="Group 24">
            <a:extLst>
              <a:ext uri="{FF2B5EF4-FFF2-40B4-BE49-F238E27FC236}">
                <a16:creationId xmlns:a16="http://schemas.microsoft.com/office/drawing/2014/main" id="{E3B7058F-42B1-47C9-A15E-74725E4FFDC5}"/>
              </a:ext>
            </a:extLst>
          </p:cNvPr>
          <p:cNvGrpSpPr/>
          <p:nvPr/>
        </p:nvGrpSpPr>
        <p:grpSpPr>
          <a:xfrm>
            <a:off x="523654" y="4729569"/>
            <a:ext cx="10744421" cy="925761"/>
            <a:chOff x="590109" y="4600575"/>
            <a:chExt cx="10019332" cy="980366"/>
          </a:xfrm>
        </p:grpSpPr>
        <p:pic>
          <p:nvPicPr>
            <p:cNvPr id="23" name="Picture 22">
              <a:extLst>
                <a:ext uri="{FF2B5EF4-FFF2-40B4-BE49-F238E27FC236}">
                  <a16:creationId xmlns:a16="http://schemas.microsoft.com/office/drawing/2014/main" id="{44AC5961-5A5F-422F-9CEE-1F2AC60B66EB}"/>
                </a:ext>
              </a:extLst>
            </p:cNvPr>
            <p:cNvPicPr>
              <a:picLocks noChangeAspect="1"/>
            </p:cNvPicPr>
            <p:nvPr/>
          </p:nvPicPr>
          <p:blipFill rotWithShape="1">
            <a:blip r:embed="rId3"/>
            <a:srcRect l="1251" r="67030"/>
            <a:stretch/>
          </p:blipFill>
          <p:spPr>
            <a:xfrm>
              <a:off x="590109" y="4600575"/>
              <a:ext cx="5018150" cy="980366"/>
            </a:xfrm>
            <a:prstGeom prst="rect">
              <a:avLst/>
            </a:prstGeom>
          </p:spPr>
        </p:pic>
        <p:pic>
          <p:nvPicPr>
            <p:cNvPr id="24" name="Picture 23">
              <a:extLst>
                <a:ext uri="{FF2B5EF4-FFF2-40B4-BE49-F238E27FC236}">
                  <a16:creationId xmlns:a16="http://schemas.microsoft.com/office/drawing/2014/main" id="{F8BC55FB-C090-4EAB-9928-9B1EC33D2A1B}"/>
                </a:ext>
              </a:extLst>
            </p:cNvPr>
            <p:cNvPicPr>
              <a:picLocks noChangeAspect="1"/>
            </p:cNvPicPr>
            <p:nvPr/>
          </p:nvPicPr>
          <p:blipFill rotWithShape="1">
            <a:blip r:embed="rId3"/>
            <a:srcRect l="58327" t="55" r="9954" b="-55"/>
            <a:stretch/>
          </p:blipFill>
          <p:spPr>
            <a:xfrm>
              <a:off x="5591291" y="4600575"/>
              <a:ext cx="5018150" cy="980366"/>
            </a:xfrm>
            <a:prstGeom prst="rect">
              <a:avLst/>
            </a:prstGeom>
          </p:spPr>
        </p:pic>
      </p:grpSp>
    </p:spTree>
    <p:extLst>
      <p:ext uri="{BB962C8B-B14F-4D97-AF65-F5344CB8AC3E}">
        <p14:creationId xmlns:p14="http://schemas.microsoft.com/office/powerpoint/2010/main" val="8103555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TEST CASES : SKILLSENSE VS KEYWORD ATS</a:t>
            </a:r>
            <a:endParaRPr sz="3200" b="1" i="0" u="none" strike="noStrike" cap="none" dirty="0">
              <a:solidFill>
                <a:schemeClr val="dk1"/>
              </a:solidFill>
              <a:latin typeface="Calibri"/>
              <a:ea typeface="Calibri"/>
              <a:cs typeface="Calibri"/>
              <a:sym typeface="Calibri"/>
            </a:endParaRPr>
          </a:p>
        </p:txBody>
      </p:sp>
      <p:sp>
        <p:nvSpPr>
          <p:cNvPr id="12" name="Google Shape;412;g3a981422744_2_163">
            <a:extLst>
              <a:ext uri="{FF2B5EF4-FFF2-40B4-BE49-F238E27FC236}">
                <a16:creationId xmlns:a16="http://schemas.microsoft.com/office/drawing/2014/main" id="{230E91CF-C80C-4E61-8A90-E73134B83EF4}"/>
              </a:ext>
            </a:extLst>
          </p:cNvPr>
          <p:cNvSpPr txBox="1"/>
          <p:nvPr/>
        </p:nvSpPr>
        <p:spPr>
          <a:xfrm>
            <a:off x="362390" y="959307"/>
            <a:ext cx="3695260" cy="461635"/>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2000" b="1" dirty="0">
                <a:solidFill>
                  <a:schemeClr val="dk1"/>
                </a:solidFill>
                <a:latin typeface="Calibri"/>
                <a:ea typeface="Calibri"/>
                <a:cs typeface="Calibri"/>
                <a:sym typeface="Calibri"/>
              </a:rPr>
              <a:t>APP : ResyMatch.io</a:t>
            </a:r>
            <a:endParaRPr sz="2000" b="1" i="0" u="none" strike="noStrike" cap="none" dirty="0">
              <a:solidFill>
                <a:schemeClr val="dk1"/>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8DCB9829-6C55-433F-AFC3-650869A3C4D9}"/>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04299" y="1546542"/>
            <a:ext cx="3728720" cy="1490345"/>
          </a:xfrm>
          <a:prstGeom prst="rect">
            <a:avLst/>
          </a:prstGeom>
        </p:spPr>
      </p:pic>
      <p:pic>
        <p:nvPicPr>
          <p:cNvPr id="8" name="Picture 7">
            <a:extLst>
              <a:ext uri="{FF2B5EF4-FFF2-40B4-BE49-F238E27FC236}">
                <a16:creationId xmlns:a16="http://schemas.microsoft.com/office/drawing/2014/main" id="{5DDA3746-5B3F-4585-9EEC-4D6585E1929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976290" y="1528762"/>
            <a:ext cx="3707765" cy="1508125"/>
          </a:xfrm>
          <a:prstGeom prst="rect">
            <a:avLst/>
          </a:prstGeom>
        </p:spPr>
      </p:pic>
      <p:pic>
        <p:nvPicPr>
          <p:cNvPr id="13" name="Picture 12">
            <a:extLst>
              <a:ext uri="{FF2B5EF4-FFF2-40B4-BE49-F238E27FC236}">
                <a16:creationId xmlns:a16="http://schemas.microsoft.com/office/drawing/2014/main" id="{AB2977B6-6F99-40E8-AE35-C1B35D006BAB}"/>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7827326" y="1528762"/>
            <a:ext cx="3782060" cy="1430655"/>
          </a:xfrm>
          <a:prstGeom prst="rect">
            <a:avLst/>
          </a:prstGeom>
        </p:spPr>
      </p:pic>
      <p:pic>
        <p:nvPicPr>
          <p:cNvPr id="14" name="Picture 13">
            <a:extLst>
              <a:ext uri="{FF2B5EF4-FFF2-40B4-BE49-F238E27FC236}">
                <a16:creationId xmlns:a16="http://schemas.microsoft.com/office/drawing/2014/main" id="{139D4D8D-D681-4ADE-BF64-3DEBD12A5DF6}"/>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674177" y="3729521"/>
            <a:ext cx="3762041" cy="1508125"/>
          </a:xfrm>
          <a:prstGeom prst="rect">
            <a:avLst/>
          </a:prstGeom>
        </p:spPr>
      </p:pic>
      <p:pic>
        <p:nvPicPr>
          <p:cNvPr id="15" name="Picture 14">
            <a:extLst>
              <a:ext uri="{FF2B5EF4-FFF2-40B4-BE49-F238E27FC236}">
                <a16:creationId xmlns:a16="http://schemas.microsoft.com/office/drawing/2014/main" id="{AD92FB10-69A0-4557-8618-4A27AF5D6C41}"/>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6096000" y="3729521"/>
            <a:ext cx="4161155" cy="1537335"/>
          </a:xfrm>
          <a:prstGeom prst="rect">
            <a:avLst/>
          </a:prstGeom>
        </p:spPr>
      </p:pic>
    </p:spTree>
    <p:extLst>
      <p:ext uri="{BB962C8B-B14F-4D97-AF65-F5344CB8AC3E}">
        <p14:creationId xmlns:p14="http://schemas.microsoft.com/office/powerpoint/2010/main" val="24421970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TEST CASES : SKILLSENSE VS KEYWORD ATS</a:t>
            </a:r>
            <a:endParaRPr sz="3200" b="1" i="0" u="none" strike="noStrike" cap="none" dirty="0">
              <a:solidFill>
                <a:schemeClr val="dk1"/>
              </a:solidFill>
              <a:latin typeface="Calibri"/>
              <a:ea typeface="Calibri"/>
              <a:cs typeface="Calibri"/>
              <a:sym typeface="Calibri"/>
            </a:endParaRPr>
          </a:p>
        </p:txBody>
      </p:sp>
      <p:sp>
        <p:nvSpPr>
          <p:cNvPr id="12" name="Google Shape;412;g3a981422744_2_163">
            <a:extLst>
              <a:ext uri="{FF2B5EF4-FFF2-40B4-BE49-F238E27FC236}">
                <a16:creationId xmlns:a16="http://schemas.microsoft.com/office/drawing/2014/main" id="{230E91CF-C80C-4E61-8A90-E73134B83EF4}"/>
              </a:ext>
            </a:extLst>
          </p:cNvPr>
          <p:cNvSpPr txBox="1"/>
          <p:nvPr/>
        </p:nvSpPr>
        <p:spPr>
          <a:xfrm>
            <a:off x="362390" y="959307"/>
            <a:ext cx="3695260" cy="461635"/>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2000" b="1" dirty="0">
                <a:solidFill>
                  <a:schemeClr val="dk1"/>
                </a:solidFill>
                <a:latin typeface="Calibri"/>
                <a:ea typeface="Calibri"/>
                <a:cs typeface="Calibri"/>
                <a:sym typeface="Calibri"/>
              </a:rPr>
              <a:t>APP : SkillSyncer.io</a:t>
            </a:r>
            <a:endParaRPr sz="2000" b="1" i="0" u="none" strike="noStrike" cap="none" dirty="0">
              <a:solidFill>
                <a:schemeClr val="dk1"/>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650E1088-5A93-4A02-9A26-EAA7E85E806C}"/>
              </a:ext>
            </a:extLst>
          </p:cNvPr>
          <p:cNvPicPr/>
          <p:nvPr/>
        </p:nvPicPr>
        <p:blipFill rotWithShape="1">
          <a:blip r:embed="rId2" cstate="print">
            <a:extLst>
              <a:ext uri="{28A0092B-C50C-407E-A947-70E740481C1C}">
                <a14:useLocalDpi xmlns:a14="http://schemas.microsoft.com/office/drawing/2010/main" val="0"/>
              </a:ext>
            </a:extLst>
          </a:blip>
          <a:srcRect l="69459" b="-286"/>
          <a:stretch/>
        </p:blipFill>
        <p:spPr>
          <a:xfrm>
            <a:off x="127778" y="1554913"/>
            <a:ext cx="2406455" cy="3927793"/>
          </a:xfrm>
          <a:prstGeom prst="rect">
            <a:avLst/>
          </a:prstGeom>
        </p:spPr>
      </p:pic>
      <p:pic>
        <p:nvPicPr>
          <p:cNvPr id="10" name="Picture 9">
            <a:extLst>
              <a:ext uri="{FF2B5EF4-FFF2-40B4-BE49-F238E27FC236}">
                <a16:creationId xmlns:a16="http://schemas.microsoft.com/office/drawing/2014/main" id="{949D1867-20F5-42BA-B10B-B4FBDFC5532A}"/>
              </a:ext>
            </a:extLst>
          </p:cNvPr>
          <p:cNvPicPr/>
          <p:nvPr/>
        </p:nvPicPr>
        <p:blipFill rotWithShape="1">
          <a:blip r:embed="rId3" cstate="print">
            <a:extLst>
              <a:ext uri="{28A0092B-C50C-407E-A947-70E740481C1C}">
                <a14:useLocalDpi xmlns:a14="http://schemas.microsoft.com/office/drawing/2010/main" val="0"/>
              </a:ext>
            </a:extLst>
          </a:blip>
          <a:srcRect l="69759"/>
          <a:stretch/>
        </p:blipFill>
        <p:spPr>
          <a:xfrm>
            <a:off x="2511211" y="1554912"/>
            <a:ext cx="2367108" cy="3927793"/>
          </a:xfrm>
          <a:prstGeom prst="rect">
            <a:avLst/>
          </a:prstGeom>
        </p:spPr>
      </p:pic>
      <p:pic>
        <p:nvPicPr>
          <p:cNvPr id="16" name="Picture 15">
            <a:extLst>
              <a:ext uri="{FF2B5EF4-FFF2-40B4-BE49-F238E27FC236}">
                <a16:creationId xmlns:a16="http://schemas.microsoft.com/office/drawing/2014/main" id="{DB7EDFD7-2CA3-4524-99AE-4F06CB53C287}"/>
              </a:ext>
            </a:extLst>
          </p:cNvPr>
          <p:cNvPicPr/>
          <p:nvPr/>
        </p:nvPicPr>
        <p:blipFill rotWithShape="1">
          <a:blip r:embed="rId4" cstate="print">
            <a:extLst>
              <a:ext uri="{28A0092B-C50C-407E-A947-70E740481C1C}">
                <a14:useLocalDpi xmlns:a14="http://schemas.microsoft.com/office/drawing/2010/main" val="0"/>
              </a:ext>
            </a:extLst>
          </a:blip>
          <a:srcRect l="70428"/>
          <a:stretch/>
        </p:blipFill>
        <p:spPr>
          <a:xfrm>
            <a:off x="4801158" y="1554913"/>
            <a:ext cx="2340617" cy="3927793"/>
          </a:xfrm>
          <a:prstGeom prst="rect">
            <a:avLst/>
          </a:prstGeom>
        </p:spPr>
      </p:pic>
      <p:pic>
        <p:nvPicPr>
          <p:cNvPr id="17" name="Picture 16">
            <a:extLst>
              <a:ext uri="{FF2B5EF4-FFF2-40B4-BE49-F238E27FC236}">
                <a16:creationId xmlns:a16="http://schemas.microsoft.com/office/drawing/2014/main" id="{120B416E-EEAE-45FE-904A-C9AE2BB7A904}"/>
              </a:ext>
            </a:extLst>
          </p:cNvPr>
          <p:cNvPicPr/>
          <p:nvPr/>
        </p:nvPicPr>
        <p:blipFill rotWithShape="1">
          <a:blip r:embed="rId5" cstate="print">
            <a:extLst>
              <a:ext uri="{28A0092B-C50C-407E-A947-70E740481C1C}">
                <a14:useLocalDpi xmlns:a14="http://schemas.microsoft.com/office/drawing/2010/main" val="0"/>
              </a:ext>
            </a:extLst>
          </a:blip>
          <a:srcRect l="70347"/>
          <a:stretch/>
        </p:blipFill>
        <p:spPr>
          <a:xfrm>
            <a:off x="7222404" y="1554913"/>
            <a:ext cx="2381225" cy="4007684"/>
          </a:xfrm>
          <a:prstGeom prst="rect">
            <a:avLst/>
          </a:prstGeom>
        </p:spPr>
      </p:pic>
      <p:pic>
        <p:nvPicPr>
          <p:cNvPr id="18" name="Picture 17">
            <a:extLst>
              <a:ext uri="{FF2B5EF4-FFF2-40B4-BE49-F238E27FC236}">
                <a16:creationId xmlns:a16="http://schemas.microsoft.com/office/drawing/2014/main" id="{3189A3E6-9C03-4914-8F74-F080B31AB98E}"/>
              </a:ext>
            </a:extLst>
          </p:cNvPr>
          <p:cNvPicPr/>
          <p:nvPr/>
        </p:nvPicPr>
        <p:blipFill rotWithShape="1">
          <a:blip r:embed="rId6" cstate="print">
            <a:extLst>
              <a:ext uri="{28A0092B-C50C-407E-A947-70E740481C1C}">
                <a14:useLocalDpi xmlns:a14="http://schemas.microsoft.com/office/drawing/2010/main" val="0"/>
              </a:ext>
            </a:extLst>
          </a:blip>
          <a:srcRect l="71790"/>
          <a:stretch/>
        </p:blipFill>
        <p:spPr>
          <a:xfrm>
            <a:off x="9684258" y="1554913"/>
            <a:ext cx="2340617" cy="4105749"/>
          </a:xfrm>
          <a:prstGeom prst="rect">
            <a:avLst/>
          </a:prstGeom>
        </p:spPr>
      </p:pic>
    </p:spTree>
    <p:extLst>
      <p:ext uri="{BB962C8B-B14F-4D97-AF65-F5344CB8AC3E}">
        <p14:creationId xmlns:p14="http://schemas.microsoft.com/office/powerpoint/2010/main" val="42331741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BBC7-4D34-ACE7-AA56-A05A4C6B4B5D}"/>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C4668D3D-EE46-8046-090E-4D82E3091764}"/>
              </a:ext>
            </a:extLst>
          </p:cNvPr>
          <p:cNvSpPr txBox="1"/>
          <p:nvPr/>
        </p:nvSpPr>
        <p:spPr>
          <a:xfrm>
            <a:off x="0" y="130824"/>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i="0" u="none" strike="noStrike" cap="none" dirty="0">
                <a:solidFill>
                  <a:schemeClr val="dk1"/>
                </a:solidFill>
                <a:latin typeface="Calibri"/>
                <a:ea typeface="Calibri"/>
                <a:cs typeface="Calibri"/>
                <a:sym typeface="Calibri"/>
              </a:rPr>
              <a:t>TEST CASES : SKILLSENSE VS KEYWORD ATS</a:t>
            </a:r>
            <a:endParaRPr sz="3200" b="1" i="0" u="none" strike="noStrike" cap="none" dirty="0">
              <a:solidFill>
                <a:schemeClr val="dk1"/>
              </a:solidFill>
              <a:latin typeface="Calibri"/>
              <a:ea typeface="Calibri"/>
              <a:cs typeface="Calibri"/>
              <a:sym typeface="Calibri"/>
            </a:endParaRPr>
          </a:p>
        </p:txBody>
      </p:sp>
      <p:sp>
        <p:nvSpPr>
          <p:cNvPr id="12" name="Google Shape;412;g3a981422744_2_163">
            <a:extLst>
              <a:ext uri="{FF2B5EF4-FFF2-40B4-BE49-F238E27FC236}">
                <a16:creationId xmlns:a16="http://schemas.microsoft.com/office/drawing/2014/main" id="{230E91CF-C80C-4E61-8A90-E73134B83EF4}"/>
              </a:ext>
            </a:extLst>
          </p:cNvPr>
          <p:cNvSpPr txBox="1"/>
          <p:nvPr/>
        </p:nvSpPr>
        <p:spPr>
          <a:xfrm>
            <a:off x="362390" y="959307"/>
            <a:ext cx="3695260" cy="461635"/>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2000" b="1" dirty="0">
                <a:solidFill>
                  <a:schemeClr val="dk1"/>
                </a:solidFill>
                <a:latin typeface="Calibri"/>
                <a:ea typeface="Calibri"/>
                <a:cs typeface="Calibri"/>
                <a:sym typeface="Calibri"/>
              </a:rPr>
              <a:t>APP : </a:t>
            </a:r>
            <a:r>
              <a:rPr lang="en-PH" sz="2000" b="1" dirty="0" err="1">
                <a:solidFill>
                  <a:schemeClr val="dk1"/>
                </a:solidFill>
                <a:latin typeface="Calibri"/>
                <a:ea typeface="Calibri"/>
                <a:cs typeface="Calibri"/>
                <a:sym typeface="Calibri"/>
              </a:rPr>
              <a:t>ResumeWorded</a:t>
            </a:r>
            <a:endParaRPr sz="2000" b="1" i="0" u="none" strike="noStrike" cap="none" dirty="0">
              <a:solidFill>
                <a:schemeClr val="dk1"/>
              </a:solidFill>
              <a:latin typeface="Calibri"/>
              <a:ea typeface="Calibri"/>
              <a:cs typeface="Calibri"/>
              <a:sym typeface="Calibri"/>
            </a:endParaRPr>
          </a:p>
        </p:txBody>
      </p:sp>
      <p:pic>
        <p:nvPicPr>
          <p:cNvPr id="11" name="Picture 10">
            <a:extLst>
              <a:ext uri="{FF2B5EF4-FFF2-40B4-BE49-F238E27FC236}">
                <a16:creationId xmlns:a16="http://schemas.microsoft.com/office/drawing/2014/main" id="{C8DC1312-7D8F-4559-A333-B7B0BC2AB337}"/>
              </a:ext>
            </a:extLst>
          </p:cNvPr>
          <p:cNvPicPr/>
          <p:nvPr/>
        </p:nvPicPr>
        <p:blipFill rotWithShape="1">
          <a:blip r:embed="rId2" cstate="print">
            <a:extLst>
              <a:ext uri="{28A0092B-C50C-407E-A947-70E740481C1C}">
                <a14:useLocalDpi xmlns:a14="http://schemas.microsoft.com/office/drawing/2010/main" val="0"/>
              </a:ext>
            </a:extLst>
          </a:blip>
          <a:srcRect r="76916"/>
          <a:stretch/>
        </p:blipFill>
        <p:spPr>
          <a:xfrm>
            <a:off x="374412" y="1530033"/>
            <a:ext cx="1961710" cy="3443605"/>
          </a:xfrm>
          <a:prstGeom prst="rect">
            <a:avLst/>
          </a:prstGeom>
        </p:spPr>
      </p:pic>
      <p:pic>
        <p:nvPicPr>
          <p:cNvPr id="13" name="Picture 12">
            <a:extLst>
              <a:ext uri="{FF2B5EF4-FFF2-40B4-BE49-F238E27FC236}">
                <a16:creationId xmlns:a16="http://schemas.microsoft.com/office/drawing/2014/main" id="{D39D57BF-04CA-44FB-8479-01E69EA3CD9C}"/>
              </a:ext>
            </a:extLst>
          </p:cNvPr>
          <p:cNvPicPr/>
          <p:nvPr/>
        </p:nvPicPr>
        <p:blipFill rotWithShape="1">
          <a:blip r:embed="rId3" cstate="print">
            <a:extLst>
              <a:ext uri="{28A0092B-C50C-407E-A947-70E740481C1C}">
                <a14:useLocalDpi xmlns:a14="http://schemas.microsoft.com/office/drawing/2010/main" val="0"/>
              </a:ext>
            </a:extLst>
          </a:blip>
          <a:srcRect r="74282"/>
          <a:stretch/>
        </p:blipFill>
        <p:spPr>
          <a:xfrm>
            <a:off x="2390775" y="1670405"/>
            <a:ext cx="2324100" cy="3517189"/>
          </a:xfrm>
          <a:prstGeom prst="rect">
            <a:avLst/>
          </a:prstGeom>
        </p:spPr>
      </p:pic>
      <p:pic>
        <p:nvPicPr>
          <p:cNvPr id="14" name="Picture 13">
            <a:extLst>
              <a:ext uri="{FF2B5EF4-FFF2-40B4-BE49-F238E27FC236}">
                <a16:creationId xmlns:a16="http://schemas.microsoft.com/office/drawing/2014/main" id="{421EA2E5-C4BF-4EB8-9CE3-D7A1A4C8F436}"/>
              </a:ext>
            </a:extLst>
          </p:cNvPr>
          <p:cNvPicPr/>
          <p:nvPr/>
        </p:nvPicPr>
        <p:blipFill rotWithShape="1">
          <a:blip r:embed="rId4" cstate="print">
            <a:extLst>
              <a:ext uri="{28A0092B-C50C-407E-A947-70E740481C1C}">
                <a14:useLocalDpi xmlns:a14="http://schemas.microsoft.com/office/drawing/2010/main" val="0"/>
              </a:ext>
            </a:extLst>
          </a:blip>
          <a:srcRect r="78606"/>
          <a:stretch/>
        </p:blipFill>
        <p:spPr>
          <a:xfrm>
            <a:off x="4824181" y="1670405"/>
            <a:ext cx="1964517" cy="3517189"/>
          </a:xfrm>
          <a:prstGeom prst="rect">
            <a:avLst/>
          </a:prstGeom>
        </p:spPr>
      </p:pic>
      <p:pic>
        <p:nvPicPr>
          <p:cNvPr id="15" name="Picture 14">
            <a:extLst>
              <a:ext uri="{FF2B5EF4-FFF2-40B4-BE49-F238E27FC236}">
                <a16:creationId xmlns:a16="http://schemas.microsoft.com/office/drawing/2014/main" id="{91BA9627-9762-42C1-9A40-468114941EAF}"/>
              </a:ext>
            </a:extLst>
          </p:cNvPr>
          <p:cNvPicPr/>
          <p:nvPr/>
        </p:nvPicPr>
        <p:blipFill rotWithShape="1">
          <a:blip r:embed="rId5"/>
          <a:srcRect r="78654"/>
          <a:stretch/>
        </p:blipFill>
        <p:spPr>
          <a:xfrm>
            <a:off x="6898004" y="1700579"/>
            <a:ext cx="1964517" cy="3506064"/>
          </a:xfrm>
          <a:prstGeom prst="rect">
            <a:avLst/>
          </a:prstGeom>
        </p:spPr>
      </p:pic>
      <p:pic>
        <p:nvPicPr>
          <p:cNvPr id="19" name="Picture 18">
            <a:extLst>
              <a:ext uri="{FF2B5EF4-FFF2-40B4-BE49-F238E27FC236}">
                <a16:creationId xmlns:a16="http://schemas.microsoft.com/office/drawing/2014/main" id="{D4E37528-47DF-4D7E-893C-459BCF6D6E65}"/>
              </a:ext>
            </a:extLst>
          </p:cNvPr>
          <p:cNvPicPr/>
          <p:nvPr/>
        </p:nvPicPr>
        <p:blipFill rotWithShape="1">
          <a:blip r:embed="rId6" cstate="print">
            <a:extLst>
              <a:ext uri="{28A0092B-C50C-407E-A947-70E740481C1C}">
                <a14:useLocalDpi xmlns:a14="http://schemas.microsoft.com/office/drawing/2010/main" val="0"/>
              </a:ext>
            </a:extLst>
          </a:blip>
          <a:srcRect r="78942"/>
          <a:stretch/>
        </p:blipFill>
        <p:spPr>
          <a:xfrm>
            <a:off x="8971827" y="1700579"/>
            <a:ext cx="1964516" cy="3556610"/>
          </a:xfrm>
          <a:prstGeom prst="rect">
            <a:avLst/>
          </a:prstGeom>
        </p:spPr>
      </p:pic>
    </p:spTree>
    <p:extLst>
      <p:ext uri="{BB962C8B-B14F-4D97-AF65-F5344CB8AC3E}">
        <p14:creationId xmlns:p14="http://schemas.microsoft.com/office/powerpoint/2010/main" val="4317268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78569CB8-7714-C94F-2C4E-044927D172B8}"/>
            </a:ext>
          </a:extLst>
        </p:cNvPr>
        <p:cNvGrpSpPr/>
        <p:nvPr/>
      </p:nvGrpSpPr>
      <p:grpSpPr>
        <a:xfrm>
          <a:off x="0" y="0"/>
          <a:ext cx="0" cy="0"/>
          <a:chOff x="0" y="0"/>
          <a:chExt cx="0" cy="0"/>
        </a:xfrm>
      </p:grpSpPr>
      <p:sp>
        <p:nvSpPr>
          <p:cNvPr id="339" name="Google Shape;339;p2">
            <a:extLst>
              <a:ext uri="{FF2B5EF4-FFF2-40B4-BE49-F238E27FC236}">
                <a16:creationId xmlns:a16="http://schemas.microsoft.com/office/drawing/2014/main" id="{7BA56A23-A559-342E-2B9E-397333FCC0C3}"/>
              </a:ext>
            </a:extLst>
          </p:cNvPr>
          <p:cNvSpPr txBox="1">
            <a:spLocks noGrp="1"/>
          </p:cNvSpPr>
          <p:nvPr>
            <p:ph type="ctrTitle"/>
          </p:nvPr>
        </p:nvSpPr>
        <p:spPr>
          <a:xfrm>
            <a:off x="463982" y="1679083"/>
            <a:ext cx="8515895" cy="2059193"/>
          </a:xfrm>
          <a:prstGeom prst="rect">
            <a:avLst/>
          </a:prstGeom>
          <a:noFill/>
          <a:ln>
            <a:noFill/>
          </a:ln>
        </p:spPr>
        <p:txBody>
          <a:bodyPr spcFirstLastPara="1" wrap="square" lIns="91425" tIns="45700" rIns="91425" bIns="45700" anchor="b" anchorCtr="0">
            <a:noAutofit/>
          </a:bodyPr>
          <a:lstStyle/>
          <a:p>
            <a:r>
              <a:rPr lang="en-GB" sz="4500" dirty="0"/>
              <a:t>CONCLUSIONS AND RECOMMENDATIONS</a:t>
            </a:r>
          </a:p>
        </p:txBody>
      </p:sp>
    </p:spTree>
    <p:extLst>
      <p:ext uri="{BB962C8B-B14F-4D97-AF65-F5344CB8AC3E}">
        <p14:creationId xmlns:p14="http://schemas.microsoft.com/office/powerpoint/2010/main" val="2399499498"/>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59ABD-3D03-8AE0-1250-BA83A3C42416}"/>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4C02D89F-B12D-83A4-6A5D-CF661D1B5F6D}"/>
              </a:ext>
            </a:extLst>
          </p:cNvPr>
          <p:cNvSpPr txBox="1"/>
          <p:nvPr/>
        </p:nvSpPr>
        <p:spPr>
          <a:xfrm>
            <a:off x="-1" y="156950"/>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dirty="0">
                <a:solidFill>
                  <a:schemeClr val="dk1"/>
                </a:solidFill>
                <a:latin typeface="Calibri"/>
                <a:ea typeface="Calibri"/>
                <a:cs typeface="Calibri"/>
                <a:sym typeface="Calibri"/>
              </a:rPr>
              <a:t>CONCLUSION </a:t>
            </a:r>
            <a:endParaRPr sz="3200" b="1" i="0" u="none" strike="noStrike" cap="none" dirty="0">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0C96C43D-7B40-432D-8FC3-0AF4F6F7202B}"/>
              </a:ext>
            </a:extLst>
          </p:cNvPr>
          <p:cNvSpPr txBox="1"/>
          <p:nvPr/>
        </p:nvSpPr>
        <p:spPr>
          <a:xfrm>
            <a:off x="357050" y="1068778"/>
            <a:ext cx="11129555" cy="419031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t>Keyword-based screening systems </a:t>
            </a:r>
            <a:r>
              <a:rPr lang="en-US" sz="2000" dirty="0" err="1"/>
              <a:t>misrank</a:t>
            </a:r>
            <a:r>
              <a:rPr lang="en-US" sz="2000" dirty="0"/>
              <a:t> candidates who use different but equivalent terminology</a:t>
            </a:r>
          </a:p>
          <a:p>
            <a:pPr marL="342900" indent="-342900" algn="just">
              <a:lnSpc>
                <a:spcPct val="150000"/>
              </a:lnSpc>
              <a:buFont typeface="Arial" panose="020B0604020202020204" pitchFamily="34" charset="0"/>
              <a:buChar char="•"/>
            </a:pPr>
            <a:r>
              <a:rPr lang="en-US" sz="2000" dirty="0"/>
              <a:t>Context-aware evaluation improves identification of relevant skills and reduces false rejections</a:t>
            </a:r>
          </a:p>
          <a:p>
            <a:pPr marL="342900" indent="-342900" algn="just">
              <a:lnSpc>
                <a:spcPct val="150000"/>
              </a:lnSpc>
              <a:buFont typeface="Arial" panose="020B0604020202020204" pitchFamily="34" charset="0"/>
              <a:buChar char="•"/>
            </a:pPr>
            <a:r>
              <a:rPr lang="en-US" sz="2000" dirty="0"/>
              <a:t>Higher scores compared to existing tools (e.g., 79 vs 52 vs 44; 78 vs 38) demonstrate better recognition of equivalent and transferable skills</a:t>
            </a:r>
          </a:p>
          <a:p>
            <a:pPr marL="342900" indent="-342900" algn="just">
              <a:lnSpc>
                <a:spcPct val="150000"/>
              </a:lnSpc>
              <a:buFont typeface="Arial" panose="020B0604020202020204" pitchFamily="34" charset="0"/>
              <a:buChar char="•"/>
            </a:pPr>
            <a:r>
              <a:rPr lang="en-US" sz="2000" dirty="0"/>
              <a:t>Combining semantic matching with structured scoring produces more accurate and nuanced candidate rankings</a:t>
            </a:r>
          </a:p>
          <a:p>
            <a:pPr marL="342900" indent="-342900" algn="just">
              <a:lnSpc>
                <a:spcPct val="150000"/>
              </a:lnSpc>
              <a:buFont typeface="Arial" panose="020B0604020202020204" pitchFamily="34" charset="0"/>
              <a:buChar char="•"/>
            </a:pPr>
            <a:r>
              <a:rPr lang="en-US" sz="2000" dirty="0"/>
              <a:t>Performance is limited by lack of domain adaptation, static skill mapping, and restricted evidence aggregation</a:t>
            </a:r>
          </a:p>
        </p:txBody>
      </p:sp>
    </p:spTree>
    <p:extLst>
      <p:ext uri="{BB962C8B-B14F-4D97-AF65-F5344CB8AC3E}">
        <p14:creationId xmlns:p14="http://schemas.microsoft.com/office/powerpoint/2010/main" val="25074509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53B17-1F7D-1F76-C249-F747556ED3FF}"/>
            </a:ext>
          </a:extLst>
        </p:cNvPr>
        <p:cNvGrpSpPr/>
        <p:nvPr/>
      </p:nvGrpSpPr>
      <p:grpSpPr>
        <a:xfrm>
          <a:off x="0" y="0"/>
          <a:ext cx="0" cy="0"/>
          <a:chOff x="0" y="0"/>
          <a:chExt cx="0" cy="0"/>
        </a:xfrm>
      </p:grpSpPr>
      <p:sp>
        <p:nvSpPr>
          <p:cNvPr id="3" name="Google Shape;412;g3a981422744_2_163">
            <a:extLst>
              <a:ext uri="{FF2B5EF4-FFF2-40B4-BE49-F238E27FC236}">
                <a16:creationId xmlns:a16="http://schemas.microsoft.com/office/drawing/2014/main" id="{8049DCF4-811C-3D01-1831-9253B1A54D53}"/>
              </a:ext>
            </a:extLst>
          </p:cNvPr>
          <p:cNvSpPr txBox="1"/>
          <p:nvPr/>
        </p:nvSpPr>
        <p:spPr>
          <a:xfrm>
            <a:off x="-1" y="156950"/>
            <a:ext cx="8303244" cy="627834"/>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PH" sz="3200" b="1" dirty="0">
                <a:solidFill>
                  <a:schemeClr val="dk1"/>
                </a:solidFill>
                <a:latin typeface="Calibri"/>
                <a:ea typeface="Calibri"/>
                <a:cs typeface="Calibri"/>
                <a:sym typeface="Calibri"/>
              </a:rPr>
              <a:t>RECOMMENDATION </a:t>
            </a:r>
            <a:endParaRPr sz="3200" b="1" i="0" u="none" strike="noStrike" cap="none" dirty="0">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49DE057A-BA36-40A7-8117-876E4E4F00C7}"/>
              </a:ext>
            </a:extLst>
          </p:cNvPr>
          <p:cNvSpPr txBox="1"/>
          <p:nvPr/>
        </p:nvSpPr>
        <p:spPr>
          <a:xfrm>
            <a:off x="357051" y="1068778"/>
            <a:ext cx="7141028" cy="39018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Fine-tune S-BERT on domain-specific data</a:t>
            </a:r>
          </a:p>
          <a:p>
            <a:pPr marL="342900" indent="-342900">
              <a:lnSpc>
                <a:spcPct val="150000"/>
              </a:lnSpc>
              <a:buFont typeface="Arial" panose="020B0604020202020204" pitchFamily="34" charset="0"/>
              <a:buChar char="•"/>
            </a:pPr>
            <a:r>
              <a:rPr lang="en-US" sz="2400" dirty="0"/>
              <a:t>Use ontology-based skills (ESCO / O*NET)</a:t>
            </a:r>
          </a:p>
          <a:p>
            <a:pPr marL="342900" indent="-342900">
              <a:lnSpc>
                <a:spcPct val="150000"/>
              </a:lnSpc>
              <a:buFont typeface="Arial" panose="020B0604020202020204" pitchFamily="34" charset="0"/>
              <a:buChar char="•"/>
            </a:pPr>
            <a:r>
              <a:rPr lang="en-US" sz="2400" dirty="0"/>
              <a:t>Replace Top-K with dynamic or attention-based scoring</a:t>
            </a:r>
          </a:p>
          <a:p>
            <a:pPr marL="342900" indent="-342900">
              <a:lnSpc>
                <a:spcPct val="150000"/>
              </a:lnSpc>
              <a:buFont typeface="Arial" panose="020B0604020202020204" pitchFamily="34" charset="0"/>
              <a:buChar char="•"/>
            </a:pPr>
            <a:r>
              <a:rPr lang="en-US" sz="2400" dirty="0"/>
              <a:t>Support multilingual models (</a:t>
            </a:r>
            <a:r>
              <a:rPr lang="en-US" sz="2400" dirty="0" err="1"/>
              <a:t>LaBSE</a:t>
            </a:r>
            <a:r>
              <a:rPr lang="en-US" sz="2400" dirty="0"/>
              <a:t> / </a:t>
            </a:r>
            <a:r>
              <a:rPr lang="en-US" sz="2400" dirty="0" err="1"/>
              <a:t>mSBERT</a:t>
            </a:r>
            <a:r>
              <a:rPr lang="en-US" sz="2400" dirty="0"/>
              <a:t>)</a:t>
            </a:r>
          </a:p>
          <a:p>
            <a:pPr marL="342900" indent="-342900">
              <a:lnSpc>
                <a:spcPct val="150000"/>
              </a:lnSpc>
              <a:buFont typeface="Arial" panose="020B0604020202020204" pitchFamily="34" charset="0"/>
              <a:buChar char="•"/>
            </a:pPr>
            <a:r>
              <a:rPr lang="en-US" sz="2400" dirty="0"/>
              <a:t>Expand beyond IT to other industries</a:t>
            </a:r>
          </a:p>
          <a:p>
            <a:pPr marL="342900" indent="-342900">
              <a:lnSpc>
                <a:spcPct val="150000"/>
              </a:lnSpc>
              <a:buFont typeface="Arial" panose="020B0604020202020204" pitchFamily="34" charset="0"/>
              <a:buChar char="•"/>
            </a:pPr>
            <a:r>
              <a:rPr lang="en-US" sz="2400" dirty="0"/>
              <a:t>Validate via real-world deployment</a:t>
            </a:r>
          </a:p>
        </p:txBody>
      </p:sp>
    </p:spTree>
    <p:extLst>
      <p:ext uri="{BB962C8B-B14F-4D97-AF65-F5344CB8AC3E}">
        <p14:creationId xmlns:p14="http://schemas.microsoft.com/office/powerpoint/2010/main" val="29836713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3620040F-89DB-A7B2-E569-7E209B212DD7}"/>
            </a:ext>
          </a:extLst>
        </p:cNvPr>
        <p:cNvGrpSpPr/>
        <p:nvPr/>
      </p:nvGrpSpPr>
      <p:grpSpPr>
        <a:xfrm>
          <a:off x="0" y="0"/>
          <a:ext cx="0" cy="0"/>
          <a:chOff x="0" y="0"/>
          <a:chExt cx="0" cy="0"/>
        </a:xfrm>
      </p:grpSpPr>
      <p:sp>
        <p:nvSpPr>
          <p:cNvPr id="339" name="Google Shape;339;p2">
            <a:extLst>
              <a:ext uri="{FF2B5EF4-FFF2-40B4-BE49-F238E27FC236}">
                <a16:creationId xmlns:a16="http://schemas.microsoft.com/office/drawing/2014/main" id="{387CCB2F-E182-7B72-76C1-425165D4AAB2}"/>
              </a:ext>
            </a:extLst>
          </p:cNvPr>
          <p:cNvSpPr txBox="1">
            <a:spLocks noGrp="1"/>
          </p:cNvSpPr>
          <p:nvPr>
            <p:ph type="ctrTitle"/>
          </p:nvPr>
        </p:nvSpPr>
        <p:spPr>
          <a:xfrm>
            <a:off x="463982" y="1679083"/>
            <a:ext cx="8515895" cy="2059193"/>
          </a:xfrm>
          <a:prstGeom prst="rect">
            <a:avLst/>
          </a:prstGeom>
          <a:noFill/>
          <a:ln>
            <a:noFill/>
          </a:ln>
        </p:spPr>
        <p:txBody>
          <a:bodyPr spcFirstLastPara="1" wrap="square" lIns="91425" tIns="45700" rIns="91425" bIns="45700" anchor="b" anchorCtr="0">
            <a:noAutofit/>
          </a:bodyPr>
          <a:lstStyle/>
          <a:p>
            <a:r>
              <a:rPr lang="en-GB" sz="4500" dirty="0"/>
              <a:t>LITERATURE CITED </a:t>
            </a:r>
          </a:p>
        </p:txBody>
      </p:sp>
    </p:spTree>
    <p:extLst>
      <p:ext uri="{BB962C8B-B14F-4D97-AF65-F5344CB8AC3E}">
        <p14:creationId xmlns:p14="http://schemas.microsoft.com/office/powerpoint/2010/main" val="3777028663"/>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3620040F-89DB-A7B2-E569-7E209B212DD7}"/>
            </a:ext>
          </a:extLst>
        </p:cNvPr>
        <p:cNvGrpSpPr/>
        <p:nvPr/>
      </p:nvGrpSpPr>
      <p:grpSpPr>
        <a:xfrm>
          <a:off x="0" y="0"/>
          <a:ext cx="0" cy="0"/>
          <a:chOff x="0" y="0"/>
          <a:chExt cx="0" cy="0"/>
        </a:xfrm>
      </p:grpSpPr>
      <p:pic>
        <p:nvPicPr>
          <p:cNvPr id="5" name="Google Shape;420;p33">
            <a:extLst>
              <a:ext uri="{FF2B5EF4-FFF2-40B4-BE49-F238E27FC236}">
                <a16:creationId xmlns:a16="http://schemas.microsoft.com/office/drawing/2014/main" id="{D97EFA59-0BBE-4040-8F32-5DDD7A7B3222}"/>
              </a:ext>
            </a:extLst>
          </p:cNvPr>
          <p:cNvPicPr preferRelativeResize="0"/>
          <p:nvPr/>
        </p:nvPicPr>
        <p:blipFill>
          <a:blip r:embed="rId3">
            <a:alphaModFix/>
          </a:blip>
          <a:stretch>
            <a:fillRect/>
          </a:stretch>
        </p:blipFill>
        <p:spPr>
          <a:xfrm>
            <a:off x="821268" y="1306445"/>
            <a:ext cx="8499716" cy="3680421"/>
          </a:xfrm>
          <a:prstGeom prst="rect">
            <a:avLst/>
          </a:prstGeom>
          <a:noFill/>
          <a:ln>
            <a:noFill/>
          </a:ln>
        </p:spPr>
      </p:pic>
    </p:spTree>
    <p:extLst>
      <p:ext uri="{BB962C8B-B14F-4D97-AF65-F5344CB8AC3E}">
        <p14:creationId xmlns:p14="http://schemas.microsoft.com/office/powerpoint/2010/main" val="2924765913"/>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3620040F-89DB-A7B2-E569-7E209B212DD7}"/>
            </a:ext>
          </a:extLst>
        </p:cNvPr>
        <p:cNvGrpSpPr/>
        <p:nvPr/>
      </p:nvGrpSpPr>
      <p:grpSpPr>
        <a:xfrm>
          <a:off x="0" y="0"/>
          <a:ext cx="0" cy="0"/>
          <a:chOff x="0" y="0"/>
          <a:chExt cx="0" cy="0"/>
        </a:xfrm>
      </p:grpSpPr>
      <p:pic>
        <p:nvPicPr>
          <p:cNvPr id="3" name="Google Shape;428;p34">
            <a:extLst>
              <a:ext uri="{FF2B5EF4-FFF2-40B4-BE49-F238E27FC236}">
                <a16:creationId xmlns:a16="http://schemas.microsoft.com/office/drawing/2014/main" id="{807FFDF6-D30A-4F9A-8B77-258137AA4A5D}"/>
              </a:ext>
            </a:extLst>
          </p:cNvPr>
          <p:cNvPicPr preferRelativeResize="0"/>
          <p:nvPr/>
        </p:nvPicPr>
        <p:blipFill>
          <a:blip r:embed="rId3">
            <a:alphaModFix/>
          </a:blip>
          <a:stretch>
            <a:fillRect/>
          </a:stretch>
        </p:blipFill>
        <p:spPr>
          <a:xfrm>
            <a:off x="314317" y="1323383"/>
            <a:ext cx="9126016" cy="3629617"/>
          </a:xfrm>
          <a:prstGeom prst="rect">
            <a:avLst/>
          </a:prstGeom>
          <a:noFill/>
          <a:ln>
            <a:noFill/>
          </a:ln>
        </p:spPr>
      </p:pic>
    </p:spTree>
    <p:extLst>
      <p:ext uri="{BB962C8B-B14F-4D97-AF65-F5344CB8AC3E}">
        <p14:creationId xmlns:p14="http://schemas.microsoft.com/office/powerpoint/2010/main" val="2706528331"/>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3620040F-89DB-A7B2-E569-7E209B212DD7}"/>
            </a:ext>
          </a:extLst>
        </p:cNvPr>
        <p:cNvGrpSpPr/>
        <p:nvPr/>
      </p:nvGrpSpPr>
      <p:grpSpPr>
        <a:xfrm>
          <a:off x="0" y="0"/>
          <a:ext cx="0" cy="0"/>
          <a:chOff x="0" y="0"/>
          <a:chExt cx="0" cy="0"/>
        </a:xfrm>
      </p:grpSpPr>
      <p:pic>
        <p:nvPicPr>
          <p:cNvPr id="4" name="Google Shape;436;p35">
            <a:extLst>
              <a:ext uri="{FF2B5EF4-FFF2-40B4-BE49-F238E27FC236}">
                <a16:creationId xmlns:a16="http://schemas.microsoft.com/office/drawing/2014/main" id="{8761B009-24DF-43E6-A900-E18C80DC6B03}"/>
              </a:ext>
            </a:extLst>
          </p:cNvPr>
          <p:cNvPicPr preferRelativeResize="0"/>
          <p:nvPr/>
        </p:nvPicPr>
        <p:blipFill>
          <a:blip r:embed="rId3">
            <a:alphaModFix/>
          </a:blip>
          <a:stretch>
            <a:fillRect/>
          </a:stretch>
        </p:blipFill>
        <p:spPr>
          <a:xfrm>
            <a:off x="331250" y="1238716"/>
            <a:ext cx="9100617" cy="3663483"/>
          </a:xfrm>
          <a:prstGeom prst="rect">
            <a:avLst/>
          </a:prstGeom>
          <a:noFill/>
          <a:ln>
            <a:noFill/>
          </a:ln>
        </p:spPr>
      </p:pic>
      <p:pic>
        <p:nvPicPr>
          <p:cNvPr id="5" name="Google Shape;436;p35">
            <a:extLst>
              <a:ext uri="{FF2B5EF4-FFF2-40B4-BE49-F238E27FC236}">
                <a16:creationId xmlns:a16="http://schemas.microsoft.com/office/drawing/2014/main" id="{18DFC02E-D415-42D4-87E5-3711B7513C31}"/>
              </a:ext>
            </a:extLst>
          </p:cNvPr>
          <p:cNvPicPr preferRelativeResize="0"/>
          <p:nvPr/>
        </p:nvPicPr>
        <p:blipFill>
          <a:blip r:embed="rId3">
            <a:alphaModFix/>
          </a:blip>
          <a:stretch>
            <a:fillRect/>
          </a:stretch>
        </p:blipFill>
        <p:spPr>
          <a:xfrm>
            <a:off x="483650" y="1391116"/>
            <a:ext cx="9100617" cy="3663483"/>
          </a:xfrm>
          <a:prstGeom prst="rect">
            <a:avLst/>
          </a:prstGeom>
          <a:noFill/>
          <a:ln>
            <a:noFill/>
          </a:ln>
        </p:spPr>
      </p:pic>
    </p:spTree>
    <p:extLst>
      <p:ext uri="{BB962C8B-B14F-4D97-AF65-F5344CB8AC3E}">
        <p14:creationId xmlns:p14="http://schemas.microsoft.com/office/powerpoint/2010/main" val="1051292546"/>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3620040F-89DB-A7B2-E569-7E209B212DD7}"/>
            </a:ext>
          </a:extLst>
        </p:cNvPr>
        <p:cNvGrpSpPr/>
        <p:nvPr/>
      </p:nvGrpSpPr>
      <p:grpSpPr>
        <a:xfrm>
          <a:off x="0" y="0"/>
          <a:ext cx="0" cy="0"/>
          <a:chOff x="0" y="0"/>
          <a:chExt cx="0" cy="0"/>
        </a:xfrm>
      </p:grpSpPr>
      <p:pic>
        <p:nvPicPr>
          <p:cNvPr id="6" name="Google Shape;444;p36">
            <a:extLst>
              <a:ext uri="{FF2B5EF4-FFF2-40B4-BE49-F238E27FC236}">
                <a16:creationId xmlns:a16="http://schemas.microsoft.com/office/drawing/2014/main" id="{3531E54F-978A-4786-9DB6-ABCEECF1C580}"/>
              </a:ext>
            </a:extLst>
          </p:cNvPr>
          <p:cNvPicPr preferRelativeResize="0"/>
          <p:nvPr/>
        </p:nvPicPr>
        <p:blipFill>
          <a:blip r:embed="rId3">
            <a:alphaModFix/>
          </a:blip>
          <a:stretch>
            <a:fillRect/>
          </a:stretch>
        </p:blipFill>
        <p:spPr>
          <a:xfrm>
            <a:off x="339718" y="1433450"/>
            <a:ext cx="8999016" cy="2418883"/>
          </a:xfrm>
          <a:prstGeom prst="rect">
            <a:avLst/>
          </a:prstGeom>
          <a:noFill/>
          <a:ln>
            <a:noFill/>
          </a:ln>
        </p:spPr>
      </p:pic>
      <p:pic>
        <p:nvPicPr>
          <p:cNvPr id="7" name="Google Shape;444;p36">
            <a:extLst>
              <a:ext uri="{FF2B5EF4-FFF2-40B4-BE49-F238E27FC236}">
                <a16:creationId xmlns:a16="http://schemas.microsoft.com/office/drawing/2014/main" id="{753A8216-4589-4BEC-8968-EE575C46006E}"/>
              </a:ext>
            </a:extLst>
          </p:cNvPr>
          <p:cNvPicPr preferRelativeResize="0"/>
          <p:nvPr/>
        </p:nvPicPr>
        <p:blipFill>
          <a:blip r:embed="rId3">
            <a:alphaModFix/>
          </a:blip>
          <a:stretch>
            <a:fillRect/>
          </a:stretch>
        </p:blipFill>
        <p:spPr>
          <a:xfrm>
            <a:off x="492118" y="1585850"/>
            <a:ext cx="8999016" cy="2418883"/>
          </a:xfrm>
          <a:prstGeom prst="rect">
            <a:avLst/>
          </a:prstGeom>
          <a:noFill/>
          <a:ln>
            <a:noFill/>
          </a:ln>
        </p:spPr>
      </p:pic>
    </p:spTree>
    <p:extLst>
      <p:ext uri="{BB962C8B-B14F-4D97-AF65-F5344CB8AC3E}">
        <p14:creationId xmlns:p14="http://schemas.microsoft.com/office/powerpoint/2010/main" val="1646442268"/>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3620040F-89DB-A7B2-E569-7E209B212DD7}"/>
            </a:ext>
          </a:extLst>
        </p:cNvPr>
        <p:cNvGrpSpPr/>
        <p:nvPr/>
      </p:nvGrpSpPr>
      <p:grpSpPr>
        <a:xfrm>
          <a:off x="0" y="0"/>
          <a:ext cx="0" cy="0"/>
          <a:chOff x="0" y="0"/>
          <a:chExt cx="0" cy="0"/>
        </a:xfrm>
      </p:grpSpPr>
      <p:pic>
        <p:nvPicPr>
          <p:cNvPr id="4" name="Google Shape;451;p37">
            <a:extLst>
              <a:ext uri="{FF2B5EF4-FFF2-40B4-BE49-F238E27FC236}">
                <a16:creationId xmlns:a16="http://schemas.microsoft.com/office/drawing/2014/main" id="{4B99FC21-FC2B-4907-963F-A143827AA2DF}"/>
              </a:ext>
            </a:extLst>
          </p:cNvPr>
          <p:cNvPicPr preferRelativeResize="0"/>
          <p:nvPr/>
        </p:nvPicPr>
        <p:blipFill>
          <a:blip r:embed="rId3">
            <a:alphaModFix/>
          </a:blip>
          <a:stretch>
            <a:fillRect/>
          </a:stretch>
        </p:blipFill>
        <p:spPr>
          <a:xfrm>
            <a:off x="491545" y="1146125"/>
            <a:ext cx="8999588" cy="3277900"/>
          </a:xfrm>
          <a:prstGeom prst="rect">
            <a:avLst/>
          </a:prstGeom>
          <a:noFill/>
          <a:ln>
            <a:noFill/>
          </a:ln>
        </p:spPr>
      </p:pic>
    </p:spTree>
    <p:extLst>
      <p:ext uri="{BB962C8B-B14F-4D97-AF65-F5344CB8AC3E}">
        <p14:creationId xmlns:p14="http://schemas.microsoft.com/office/powerpoint/2010/main" val="2268314003"/>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4CC033DD-0BD7-2FFC-C7AE-99B80D2AC98C}"/>
            </a:ext>
          </a:extLst>
        </p:cNvPr>
        <p:cNvGrpSpPr/>
        <p:nvPr/>
      </p:nvGrpSpPr>
      <p:grpSpPr>
        <a:xfrm>
          <a:off x="0" y="0"/>
          <a:ext cx="0" cy="0"/>
          <a:chOff x="0" y="0"/>
          <a:chExt cx="0" cy="0"/>
        </a:xfrm>
      </p:grpSpPr>
      <p:sp>
        <p:nvSpPr>
          <p:cNvPr id="339" name="Google Shape;339;p2">
            <a:extLst>
              <a:ext uri="{FF2B5EF4-FFF2-40B4-BE49-F238E27FC236}">
                <a16:creationId xmlns:a16="http://schemas.microsoft.com/office/drawing/2014/main" id="{93941F79-876A-4BC8-B8AC-0FD5E00F81B1}"/>
              </a:ext>
            </a:extLst>
          </p:cNvPr>
          <p:cNvSpPr txBox="1">
            <a:spLocks noGrp="1"/>
          </p:cNvSpPr>
          <p:nvPr>
            <p:ph type="ctrTitle"/>
          </p:nvPr>
        </p:nvSpPr>
        <p:spPr>
          <a:xfrm>
            <a:off x="463982" y="1679083"/>
            <a:ext cx="8515895" cy="2059193"/>
          </a:xfrm>
          <a:prstGeom prst="rect">
            <a:avLst/>
          </a:prstGeom>
          <a:noFill/>
          <a:ln>
            <a:noFill/>
          </a:ln>
        </p:spPr>
        <p:txBody>
          <a:bodyPr spcFirstLastPara="1" wrap="square" lIns="91425" tIns="45700" rIns="91425" bIns="45700" anchor="b" anchorCtr="0">
            <a:noAutofit/>
          </a:bodyPr>
          <a:lstStyle/>
          <a:p>
            <a:r>
              <a:rPr lang="en-GB" sz="4500" dirty="0"/>
              <a:t>APPENDICES </a:t>
            </a:r>
          </a:p>
        </p:txBody>
      </p:sp>
    </p:spTree>
    <p:extLst>
      <p:ext uri="{BB962C8B-B14F-4D97-AF65-F5344CB8AC3E}">
        <p14:creationId xmlns:p14="http://schemas.microsoft.com/office/powerpoint/2010/main" val="3173974467"/>
      </p:ext>
    </p:extLst>
  </p:cSld>
  <p:clrMapOvr>
    <a:masterClrMapping/>
  </p:clrMapOvr>
  <mc:AlternateContent xmlns:mc="http://schemas.openxmlformats.org/markup-compatibility/2006" xmlns:p14="http://schemas.microsoft.com/office/powerpoint/2010/main">
    <mc:Choice Requires="p14">
      <p:transition spd="slow" p14:dur="1250">
        <p:comb/>
      </p:transition>
    </mc:Choice>
    <mc:Fallback xmlns="">
      <p:transition spd="slow">
        <p:comb/>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846</TotalTime>
  <Words>2931</Words>
  <Application>Microsoft Office PowerPoint</Application>
  <PresentationFormat>Widescreen</PresentationFormat>
  <Paragraphs>455</Paragraphs>
  <Slides>73</Slides>
  <Notes>53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73</vt:i4>
      </vt:variant>
    </vt:vector>
  </HeadingPairs>
  <TitlesOfParts>
    <vt:vector size="83" baseType="lpstr">
      <vt:lpstr>Arial</vt:lpstr>
      <vt:lpstr>Times New Roman</vt:lpstr>
      <vt:lpstr>Lato Light</vt:lpstr>
      <vt:lpstr>League Spartan</vt:lpstr>
      <vt:lpstr>Poppins</vt:lpstr>
      <vt:lpstr>Garamond</vt:lpstr>
      <vt:lpstr>Symbol</vt:lpstr>
      <vt:lpstr>Calibri</vt:lpstr>
      <vt:lpstr>Office Theme</vt:lpstr>
      <vt:lpstr>Office Theme</vt:lpstr>
      <vt:lpstr>PowerPoint Presentation</vt:lpstr>
      <vt:lpstr>SKILLSENSE: SEMANTIC DRIVEN RESUME SCREENING SYSTEM</vt:lpstr>
      <vt:lpstr>INTRODUCTION</vt:lpstr>
      <vt:lpstr>BACKGROUND OF THE STUDY</vt:lpstr>
      <vt:lpstr>ISHIKAWA DIAGRAM</vt:lpstr>
      <vt:lpstr>OBJECTIVES OF THE STUDY</vt:lpstr>
      <vt:lpstr>OBJECTIVES OF THE STUDY</vt:lpstr>
      <vt:lpstr>SIGNIFICANCE OF THE STUDY</vt:lpstr>
      <vt:lpstr>PowerPoint Presentation</vt:lpstr>
      <vt:lpstr>PowerPoint Presentation</vt:lpstr>
      <vt:lpstr>REVIEW OF LITERATURE </vt:lpstr>
      <vt:lpstr>PowerPoint Presentation</vt:lpstr>
      <vt:lpstr>PowerPoint Presentation</vt:lpstr>
      <vt:lpstr>PowerPoint Presentation</vt:lpstr>
      <vt:lpstr>METHODOLOGY</vt:lpstr>
      <vt:lpstr>PowerPoint Presentation</vt:lpstr>
      <vt:lpstr>PowerPoint Presentation</vt:lpstr>
      <vt:lpstr>RESULTS</vt:lpstr>
      <vt:lpstr>USE CASE DIAGRAM</vt:lpstr>
      <vt:lpstr>USE CASE DIAGRAM</vt:lpstr>
      <vt:lpstr>USE CASE DIAGRAM</vt:lpstr>
      <vt:lpstr>USE CASE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 AND RECOMMENDATIONS</vt:lpstr>
      <vt:lpstr>PowerPoint Presentation</vt:lpstr>
      <vt:lpstr>PowerPoint Presentation</vt:lpstr>
      <vt:lpstr>LITERATURE CITED </vt:lpstr>
      <vt:lpstr>PowerPoint Presentation</vt:lpstr>
      <vt:lpstr>PowerPoint Presentation</vt:lpstr>
      <vt:lpstr>PowerPoint Presentation</vt:lpstr>
      <vt:lpstr>PowerPoint Presentation</vt:lpstr>
      <vt:lpstr>PowerPoint Presentation</vt:lpstr>
      <vt:lpstr>APPENDICES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ROI B. DOMINGO</dc:creator>
  <cp:lastModifiedBy>Lucky Acidera</cp:lastModifiedBy>
  <cp:revision>171</cp:revision>
  <dcterms:created xsi:type="dcterms:W3CDTF">2020-06-20T03:52:00Z</dcterms:created>
  <dcterms:modified xsi:type="dcterms:W3CDTF">2026-04-22T22:36:41Z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92F3C40C048148F39678F082A481BF8B_12</vt:lpwstr>
  </property>
  <property fmtid="{D5CDD505-2E9C-101B-9397-08002B2CF9AE}" pid="3" name="KSOProductBuildVer">
    <vt:lpwstr>2057-12.2.0.22556</vt:lpwstr>
  </property>
</Properties>
</file>